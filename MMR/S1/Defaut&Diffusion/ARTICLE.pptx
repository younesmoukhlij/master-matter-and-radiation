
<file path=[Content_Types].xml><?xml version="1.0" encoding="utf-8"?>
<Types xmlns="http://schemas.openxmlformats.org/package/2006/content-types">
  <Default Extension="png" ContentType="image/png"/>
  <Default Extension="jfif"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5" r:id="rId1"/>
  </p:sldMasterIdLst>
  <p:notesMasterIdLst>
    <p:notesMasterId r:id="rId15"/>
  </p:notesMasterIdLst>
  <p:sldIdLst>
    <p:sldId id="256" r:id="rId2"/>
    <p:sldId id="273" r:id="rId3"/>
    <p:sldId id="305" r:id="rId4"/>
    <p:sldId id="263" r:id="rId5"/>
    <p:sldId id="264" r:id="rId6"/>
    <p:sldId id="265" r:id="rId7"/>
    <p:sldId id="266" r:id="rId8"/>
    <p:sldId id="268" r:id="rId9"/>
    <p:sldId id="269" r:id="rId10"/>
    <p:sldId id="306" r:id="rId11"/>
    <p:sldId id="275" r:id="rId12"/>
    <p:sldId id="283" r:id="rId13"/>
    <p:sldId id="307" r:id="rId14"/>
  </p:sldIdLst>
  <p:sldSz cx="9144000" cy="5143500" type="screen16x9"/>
  <p:notesSz cx="6858000" cy="9144000"/>
  <p:embeddedFontLst>
    <p:embeddedFont>
      <p:font typeface="Didact Gothic" panose="020B0604020202020204" charset="0"/>
      <p:regular r:id="rId16"/>
    </p:embeddedFont>
    <p:embeddedFont>
      <p:font typeface="Cambria Math" panose="02040503050406030204" pitchFamily="18" charset="0"/>
      <p:regular r:id="rId17"/>
    </p:embeddedFont>
    <p:embeddedFont>
      <p:font typeface="Old Standard TT" panose="020B0604020202020204" charset="0"/>
      <p:regular r:id="rId18"/>
      <p:bold r:id="rId19"/>
      <p:italic r:id="rId20"/>
    </p:embeddedFont>
    <p:embeddedFont>
      <p:font typeface="Tahoma" panose="020B0604030504040204" pitchFamily="34" charset="0"/>
      <p:regular r:id="rId21"/>
      <p:bold r:id="rId22"/>
    </p:embeddedFont>
    <p:embeddedFont>
      <p:font typeface="Yu Gothic" panose="020B0400000000000000" pitchFamily="34" charset="-128"/>
      <p:regular r:id="rId23"/>
      <p:bold r:id="rId24"/>
    </p:embeddedFont>
    <p:embeddedFont>
      <p:font typeface="Montserrat ExtraBold" panose="020B0604020202020204" charset="0"/>
      <p:bold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unes M" initials="YM" lastIdx="1" clrIdx="0">
    <p:extLst>
      <p:ext uri="{19B8F6BF-5375-455C-9EA6-DF929625EA0E}">
        <p15:presenceInfo xmlns:p15="http://schemas.microsoft.com/office/powerpoint/2012/main" userId="0073ec2d0e98b48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AC83DC-26DF-449D-B926-9B56C66074ED}">
  <a:tblStyle styleId="{B2AC83DC-26DF-449D-B926-9B56C66074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120" y="2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commentAuthors" Target="commentAuthors.xml"/><Relationship Id="rId30" Type="http://schemas.openxmlformats.org/officeDocument/2006/relationships/theme" Target="theme/theme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2-16T12:47:28.143" idx="1">
    <p:pos x="10" y="10"/>
    <p:text>les atomes participants dans le  mmecanisme d'anneau migre en tournant autour lui pour trouver une lacune pour la remplir</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11dd3286a66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11dd3286a66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05189d2428_0_19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105189d2428_0_19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6169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12df404932a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12df404932a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05189d2428_0_194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05189d2428_0_19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11dd3286a66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11dd3286a6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bd6c00e730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bd6c00e73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1dd3286a66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1dd3286a66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11dd3286a66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11dd3286a66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096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99f2f57a71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99f2f57a71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1dd3286a66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1dd3286a66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bd6c00e730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bd6c00e730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31363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484100" y="1479650"/>
            <a:ext cx="6175800" cy="1640400"/>
          </a:xfrm>
          <a:prstGeom prst="rect">
            <a:avLst/>
          </a:prstGeom>
        </p:spPr>
        <p:txBody>
          <a:bodyPr spcFirstLastPara="1" wrap="square" lIns="0" tIns="91425" rIns="91425" bIns="91425" anchor="b" anchorCtr="0">
            <a:noAutofit/>
          </a:bodyPr>
          <a:lstStyle>
            <a:lvl1pPr lvl="0" algn="ctr" rtl="0">
              <a:lnSpc>
                <a:spcPct val="90000"/>
              </a:lnSpc>
              <a:spcBef>
                <a:spcPts val="0"/>
              </a:spcBef>
              <a:spcAft>
                <a:spcPts val="0"/>
              </a:spcAft>
              <a:buClr>
                <a:srgbClr val="191919"/>
              </a:buClr>
              <a:buSzPts val="5200"/>
              <a:buNone/>
              <a:defRPr sz="5500"/>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724250" y="3265350"/>
            <a:ext cx="5695500" cy="393600"/>
          </a:xfrm>
          <a:prstGeom prst="rect">
            <a:avLst/>
          </a:prstGeom>
          <a:ln>
            <a:noFill/>
          </a:ln>
        </p:spPr>
        <p:txBody>
          <a:bodyPr spcFirstLastPara="1" wrap="square" lIns="0"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35700" y="-30000"/>
            <a:ext cx="9215400" cy="5203500"/>
            <a:chOff x="-35700" y="-30000"/>
            <a:chExt cx="9215400" cy="5203500"/>
          </a:xfrm>
        </p:grpSpPr>
        <p:cxnSp>
          <p:nvCxnSpPr>
            <p:cNvPr id="12" name="Google Shape;12;p2"/>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3" name="Google Shape;13;p2"/>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4" name="Google Shape;14;p2"/>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15" name="Google Shape;15;p2"/>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16" name="Google Shape;16;p2"/>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17" name="Google Shape;17;p2"/>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18" name="Google Shape;18;p2"/>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33"/>
        <p:cNvGrpSpPr/>
        <p:nvPr/>
      </p:nvGrpSpPr>
      <p:grpSpPr>
        <a:xfrm>
          <a:off x="0" y="0"/>
          <a:ext cx="0" cy="0"/>
          <a:chOff x="0" y="0"/>
          <a:chExt cx="0" cy="0"/>
        </a:xfrm>
      </p:grpSpPr>
      <p:sp>
        <p:nvSpPr>
          <p:cNvPr id="34" name="Google Shape;34;p4"/>
          <p:cNvSpPr txBox="1">
            <a:spLocks noGrp="1"/>
          </p:cNvSpPr>
          <p:nvPr>
            <p:ph type="body" idx="1"/>
          </p:nvPr>
        </p:nvSpPr>
        <p:spPr>
          <a:xfrm>
            <a:off x="720000" y="1265775"/>
            <a:ext cx="7704000" cy="3339900"/>
          </a:xfrm>
          <a:prstGeom prst="rect">
            <a:avLst/>
          </a:prstGeom>
        </p:spPr>
        <p:txBody>
          <a:bodyPr spcFirstLastPara="1" wrap="square" lIns="0" tIns="91425" rIns="91425" bIns="91425" anchor="t" anchorCtr="0">
            <a:noAutofit/>
          </a:bodyPr>
          <a:lstStyle>
            <a:lvl1pPr marL="457200" lvl="0" indent="-304800" rtl="0">
              <a:lnSpc>
                <a:spcPct val="100000"/>
              </a:lnSpc>
              <a:spcBef>
                <a:spcPts val="0"/>
              </a:spcBef>
              <a:spcAft>
                <a:spcPts val="0"/>
              </a:spcAft>
              <a:buSzPts val="1200"/>
              <a:buFont typeface="Anaheim"/>
              <a:buChar char="●"/>
              <a:defRPr b="1">
                <a:latin typeface="Old Standard TT"/>
                <a:ea typeface="Old Standard TT"/>
                <a:cs typeface="Old Standard TT"/>
                <a:sym typeface="Old Standard TT"/>
              </a:defRPr>
            </a:lvl1pPr>
            <a:lvl2pPr marL="914400" lvl="1" indent="-304800" rtl="0">
              <a:lnSpc>
                <a:spcPct val="100000"/>
              </a:lnSpc>
              <a:spcBef>
                <a:spcPts val="0"/>
              </a:spcBef>
              <a:spcAft>
                <a:spcPts val="0"/>
              </a:spcAft>
              <a:buSzPts val="1200"/>
              <a:buChar char="○"/>
              <a:defRPr/>
            </a:lvl2pPr>
            <a:lvl3pPr marL="1371600" lvl="2" indent="-304800" rtl="0">
              <a:lnSpc>
                <a:spcPct val="115000"/>
              </a:lnSpc>
              <a:spcBef>
                <a:spcPts val="0"/>
              </a:spcBef>
              <a:spcAft>
                <a:spcPts val="0"/>
              </a:spcAft>
              <a:buClr>
                <a:srgbClr val="434343"/>
              </a:buClr>
              <a:buSzPts val="1200"/>
              <a:buFont typeface="Roboto Condensed Light"/>
              <a:buChar char="■"/>
              <a:defRPr/>
            </a:lvl3pPr>
            <a:lvl4pPr marL="1828800" lvl="3" indent="-304800" rtl="0">
              <a:lnSpc>
                <a:spcPct val="115000"/>
              </a:lnSpc>
              <a:spcBef>
                <a:spcPts val="1600"/>
              </a:spcBef>
              <a:spcAft>
                <a:spcPts val="0"/>
              </a:spcAft>
              <a:buClr>
                <a:srgbClr val="434343"/>
              </a:buClr>
              <a:buSzPts val="1200"/>
              <a:buFont typeface="Roboto Condensed Light"/>
              <a:buChar char="●"/>
              <a:defRPr/>
            </a:lvl4pPr>
            <a:lvl5pPr marL="2286000" lvl="4" indent="-304800" rtl="0">
              <a:lnSpc>
                <a:spcPct val="115000"/>
              </a:lnSpc>
              <a:spcBef>
                <a:spcPts val="1600"/>
              </a:spcBef>
              <a:spcAft>
                <a:spcPts val="0"/>
              </a:spcAft>
              <a:buClr>
                <a:srgbClr val="434343"/>
              </a:buClr>
              <a:buSzPts val="1200"/>
              <a:buFont typeface="Roboto Condensed Light"/>
              <a:buChar char="○"/>
              <a:defRPr/>
            </a:lvl5pPr>
            <a:lvl6pPr marL="2743200" lvl="5" indent="-304800" rtl="0">
              <a:lnSpc>
                <a:spcPct val="115000"/>
              </a:lnSpc>
              <a:spcBef>
                <a:spcPts val="1600"/>
              </a:spcBef>
              <a:spcAft>
                <a:spcPts val="0"/>
              </a:spcAft>
              <a:buClr>
                <a:srgbClr val="434343"/>
              </a:buClr>
              <a:buSzPts val="1200"/>
              <a:buFont typeface="Roboto Condensed Light"/>
              <a:buChar char="■"/>
              <a:defRPr/>
            </a:lvl6pPr>
            <a:lvl7pPr marL="3200400" lvl="6" indent="-304800" rtl="0">
              <a:lnSpc>
                <a:spcPct val="115000"/>
              </a:lnSpc>
              <a:spcBef>
                <a:spcPts val="1600"/>
              </a:spcBef>
              <a:spcAft>
                <a:spcPts val="0"/>
              </a:spcAft>
              <a:buClr>
                <a:srgbClr val="434343"/>
              </a:buClr>
              <a:buSzPts val="1200"/>
              <a:buFont typeface="Roboto Condensed Light"/>
              <a:buChar char="●"/>
              <a:defRPr/>
            </a:lvl7pPr>
            <a:lvl8pPr marL="3657600" lvl="7" indent="-304800" rtl="0">
              <a:lnSpc>
                <a:spcPct val="115000"/>
              </a:lnSpc>
              <a:spcBef>
                <a:spcPts val="1600"/>
              </a:spcBef>
              <a:spcAft>
                <a:spcPts val="0"/>
              </a:spcAft>
              <a:buClr>
                <a:srgbClr val="434343"/>
              </a:buClr>
              <a:buSzPts val="1200"/>
              <a:buFont typeface="Roboto Condensed Light"/>
              <a:buChar char="○"/>
              <a:defRPr/>
            </a:lvl8pPr>
            <a:lvl9pPr marL="4114800" lvl="8" indent="-304800" rtl="0">
              <a:lnSpc>
                <a:spcPct val="115000"/>
              </a:lnSpc>
              <a:spcBef>
                <a:spcPts val="1600"/>
              </a:spcBef>
              <a:spcAft>
                <a:spcPts val="1600"/>
              </a:spcAft>
              <a:buClr>
                <a:srgbClr val="434343"/>
              </a:buClr>
              <a:buSzPts val="1200"/>
              <a:buFont typeface="Roboto Condensed Light"/>
              <a:buChar char="■"/>
              <a:defRPr/>
            </a:lvl9pPr>
          </a:lstStyle>
          <a:p>
            <a:endParaRPr/>
          </a:p>
        </p:txBody>
      </p:sp>
      <p:sp>
        <p:nvSpPr>
          <p:cNvPr id="35" name="Google Shape;35;p4"/>
          <p:cNvSpPr txBox="1">
            <a:spLocks noGrp="1"/>
          </p:cNvSpPr>
          <p:nvPr>
            <p:ph type="title"/>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6" name="Google Shape;36;p4"/>
          <p:cNvGrpSpPr/>
          <p:nvPr/>
        </p:nvGrpSpPr>
        <p:grpSpPr>
          <a:xfrm>
            <a:off x="-35700" y="-30000"/>
            <a:ext cx="9215400" cy="5203500"/>
            <a:chOff x="-35700" y="-30000"/>
            <a:chExt cx="9215400" cy="5203500"/>
          </a:xfrm>
        </p:grpSpPr>
        <p:cxnSp>
          <p:nvCxnSpPr>
            <p:cNvPr id="37" name="Google Shape;37;p4"/>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38" name="Google Shape;38;p4"/>
            <p:cNvCxnSpPr/>
            <p:nvPr/>
          </p:nvCxnSpPr>
          <p:spPr>
            <a:xfrm>
              <a:off x="8509900" y="2571750"/>
              <a:ext cx="636900" cy="0"/>
            </a:xfrm>
            <a:prstGeom prst="straightConnector1">
              <a:avLst/>
            </a:prstGeom>
            <a:noFill/>
            <a:ln w="9525" cap="flat" cmpd="sng">
              <a:solidFill>
                <a:schemeClr val="dk1"/>
              </a:solidFill>
              <a:prstDash val="solid"/>
              <a:round/>
              <a:headEnd type="none" w="med" len="med"/>
              <a:tailEnd type="none" w="med" len="med"/>
            </a:ln>
          </p:spPr>
        </p:cxnSp>
        <p:cxnSp>
          <p:nvCxnSpPr>
            <p:cNvPr id="39" name="Google Shape;39;p4"/>
            <p:cNvCxnSpPr/>
            <p:nvPr/>
          </p:nvCxnSpPr>
          <p:spPr>
            <a:xfrm rot="5400000">
              <a:off x="5912100"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40" name="Google Shape;40;p4"/>
          <p:cNvSpPr/>
          <p:nvPr/>
        </p:nvSpPr>
        <p:spPr>
          <a:xfrm>
            <a:off x="8712900" y="124175"/>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41"/>
        <p:cNvGrpSpPr/>
        <p:nvPr/>
      </p:nvGrpSpPr>
      <p:grpSpPr>
        <a:xfrm>
          <a:off x="0" y="0"/>
          <a:ext cx="0" cy="0"/>
          <a:chOff x="0" y="0"/>
          <a:chExt cx="0" cy="0"/>
        </a:xfrm>
      </p:grpSpPr>
      <p:grpSp>
        <p:nvGrpSpPr>
          <p:cNvPr id="42" name="Google Shape;42;p5"/>
          <p:cNvGrpSpPr/>
          <p:nvPr/>
        </p:nvGrpSpPr>
        <p:grpSpPr>
          <a:xfrm>
            <a:off x="-35700" y="-30000"/>
            <a:ext cx="9215400" cy="5203500"/>
            <a:chOff x="-35700" y="-30000"/>
            <a:chExt cx="9215400" cy="5203500"/>
          </a:xfrm>
        </p:grpSpPr>
        <p:cxnSp>
          <p:nvCxnSpPr>
            <p:cNvPr id="43" name="Google Shape;43;p5"/>
            <p:cNvCxnSpPr/>
            <p:nvPr/>
          </p:nvCxnSpPr>
          <p:spPr>
            <a:xfrm>
              <a:off x="8509900" y="2571750"/>
              <a:ext cx="636900" cy="0"/>
            </a:xfrm>
            <a:prstGeom prst="straightConnector1">
              <a:avLst/>
            </a:prstGeom>
            <a:noFill/>
            <a:ln w="9525" cap="flat" cmpd="sng">
              <a:solidFill>
                <a:schemeClr val="dk1"/>
              </a:solidFill>
              <a:prstDash val="solid"/>
              <a:round/>
              <a:headEnd type="none" w="med" len="med"/>
              <a:tailEnd type="none" w="med" len="med"/>
            </a:ln>
          </p:spPr>
        </p:cxnSp>
        <p:cxnSp>
          <p:nvCxnSpPr>
            <p:cNvPr id="44" name="Google Shape;44;p5"/>
            <p:cNvCxnSpPr/>
            <p:nvPr/>
          </p:nvCxnSpPr>
          <p:spPr>
            <a:xfrm>
              <a:off x="-35700" y="4623597"/>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45" name="Google Shape;45;p5"/>
            <p:cNvCxnSpPr/>
            <p:nvPr/>
          </p:nvCxnSpPr>
          <p:spPr>
            <a:xfrm rot="5400000">
              <a:off x="5912100"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46" name="Google Shape;46;p5"/>
          <p:cNvSpPr/>
          <p:nvPr/>
        </p:nvSpPr>
        <p:spPr>
          <a:xfrm>
            <a:off x="8712900" y="4751950"/>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txBox="1">
            <a:spLocks noGrp="1"/>
          </p:cNvSpPr>
          <p:nvPr>
            <p:ph type="subTitle" idx="1"/>
          </p:nvPr>
        </p:nvSpPr>
        <p:spPr>
          <a:xfrm>
            <a:off x="2138887" y="1854447"/>
            <a:ext cx="2752200" cy="539400"/>
          </a:xfrm>
          <a:prstGeom prst="rect">
            <a:avLst/>
          </a:prstGeom>
        </p:spPr>
        <p:txBody>
          <a:bodyPr spcFirstLastPara="1" wrap="square" lIns="0" tIns="91425" rIns="91425" bIns="91425" anchor="ctr" anchorCtr="0">
            <a:noAutofit/>
          </a:bodyPr>
          <a:lstStyle>
            <a:lvl1pPr lvl="0" algn="ctr" rtl="0">
              <a:lnSpc>
                <a:spcPct val="100000"/>
              </a:lnSpc>
              <a:spcBef>
                <a:spcPts val="0"/>
              </a:spcBef>
              <a:spcAft>
                <a:spcPts val="0"/>
              </a:spcAft>
              <a:buSzPts val="2500"/>
              <a:buFont typeface="Montserrat ExtraBold"/>
              <a:buNone/>
              <a:defRPr sz="2200" b="1">
                <a:latin typeface="Old Standard TT"/>
                <a:ea typeface="Old Standard TT"/>
                <a:cs typeface="Old Standard TT"/>
                <a:sym typeface="Old Standard TT"/>
              </a:defRPr>
            </a:lvl1pPr>
            <a:lvl2pPr lvl="1"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2pPr>
            <a:lvl3pPr lvl="2"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3pPr>
            <a:lvl4pPr lvl="3"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4pPr>
            <a:lvl5pPr lvl="4"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5pPr>
            <a:lvl6pPr lvl="5"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6pPr>
            <a:lvl7pPr lvl="6"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7pPr>
            <a:lvl8pPr lvl="7"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8pPr>
            <a:lvl9pPr lvl="8"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9pPr>
          </a:lstStyle>
          <a:p>
            <a:endParaRPr/>
          </a:p>
        </p:txBody>
      </p:sp>
      <p:sp>
        <p:nvSpPr>
          <p:cNvPr id="48" name="Google Shape;48;p5"/>
          <p:cNvSpPr txBox="1">
            <a:spLocks noGrp="1"/>
          </p:cNvSpPr>
          <p:nvPr>
            <p:ph type="subTitle" idx="2"/>
          </p:nvPr>
        </p:nvSpPr>
        <p:spPr>
          <a:xfrm>
            <a:off x="4267224" y="3232125"/>
            <a:ext cx="2752200" cy="539400"/>
          </a:xfrm>
          <a:prstGeom prst="rect">
            <a:avLst/>
          </a:prstGeom>
        </p:spPr>
        <p:txBody>
          <a:bodyPr spcFirstLastPara="1" wrap="square" lIns="0" tIns="91425" rIns="91425" bIns="91425" anchor="ctr" anchorCtr="0">
            <a:noAutofit/>
          </a:bodyPr>
          <a:lstStyle>
            <a:lvl1pPr lvl="0" algn="ctr" rtl="0">
              <a:lnSpc>
                <a:spcPct val="100000"/>
              </a:lnSpc>
              <a:spcBef>
                <a:spcPts val="0"/>
              </a:spcBef>
              <a:spcAft>
                <a:spcPts val="0"/>
              </a:spcAft>
              <a:buSzPts val="2500"/>
              <a:buFont typeface="Montserrat ExtraBold"/>
              <a:buNone/>
              <a:defRPr sz="2200" b="1">
                <a:latin typeface="Old Standard TT"/>
                <a:ea typeface="Old Standard TT"/>
                <a:cs typeface="Old Standard TT"/>
                <a:sym typeface="Old Standard TT"/>
              </a:defRPr>
            </a:lvl1pPr>
            <a:lvl2pPr lvl="1"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2pPr>
            <a:lvl3pPr lvl="2"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3pPr>
            <a:lvl4pPr lvl="3"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4pPr>
            <a:lvl5pPr lvl="4"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5pPr>
            <a:lvl6pPr lvl="5"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6pPr>
            <a:lvl7pPr lvl="6"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7pPr>
            <a:lvl8pPr lvl="7"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8pPr>
            <a:lvl9pPr lvl="8" algn="ctr" rtl="0">
              <a:lnSpc>
                <a:spcPct val="100000"/>
              </a:lnSpc>
              <a:spcBef>
                <a:spcPts val="0"/>
              </a:spcBef>
              <a:spcAft>
                <a:spcPts val="0"/>
              </a:spcAft>
              <a:buSzPts val="2500"/>
              <a:buFont typeface="Montserrat ExtraBold"/>
              <a:buNone/>
              <a:defRPr sz="2500" b="0">
                <a:latin typeface="Montserrat ExtraBold"/>
                <a:ea typeface="Montserrat ExtraBold"/>
                <a:cs typeface="Montserrat ExtraBold"/>
                <a:sym typeface="Montserrat ExtraBold"/>
              </a:defRPr>
            </a:lvl9pPr>
          </a:lstStyle>
          <a:p>
            <a:endParaRPr/>
          </a:p>
        </p:txBody>
      </p:sp>
      <p:sp>
        <p:nvSpPr>
          <p:cNvPr id="49" name="Google Shape;49;p5"/>
          <p:cNvSpPr txBox="1">
            <a:spLocks noGrp="1"/>
          </p:cNvSpPr>
          <p:nvPr>
            <p:ph type="subTitle" idx="3"/>
          </p:nvPr>
        </p:nvSpPr>
        <p:spPr>
          <a:xfrm>
            <a:off x="5103324" y="1626300"/>
            <a:ext cx="3320700" cy="995700"/>
          </a:xfrm>
          <a:prstGeom prst="rect">
            <a:avLst/>
          </a:prstGeom>
        </p:spPr>
        <p:txBody>
          <a:bodyPr spcFirstLastPara="1" wrap="square" lIns="0"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 name="Google Shape;50;p5"/>
          <p:cNvSpPr txBox="1">
            <a:spLocks noGrp="1"/>
          </p:cNvSpPr>
          <p:nvPr>
            <p:ph type="subTitle" idx="4"/>
          </p:nvPr>
        </p:nvSpPr>
        <p:spPr>
          <a:xfrm>
            <a:off x="719976" y="3003975"/>
            <a:ext cx="3269100" cy="995700"/>
          </a:xfrm>
          <a:prstGeom prst="rect">
            <a:avLst/>
          </a:prstGeom>
        </p:spPr>
        <p:txBody>
          <a:bodyPr spcFirstLastPara="1" wrap="square" lIns="0"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1" name="Google Shape;51;p5"/>
          <p:cNvSpPr txBox="1">
            <a:spLocks noGrp="1"/>
          </p:cNvSpPr>
          <p:nvPr>
            <p:ph type="title"/>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6"/>
          <p:cNvSpPr txBox="1">
            <a:spLocks noGrp="1"/>
          </p:cNvSpPr>
          <p:nvPr>
            <p:ph type="title"/>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4" name="Google Shape;54;p6"/>
          <p:cNvSpPr/>
          <p:nvPr/>
        </p:nvSpPr>
        <p:spPr>
          <a:xfrm>
            <a:off x="8712900" y="124175"/>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6"/>
          <p:cNvGrpSpPr/>
          <p:nvPr/>
        </p:nvGrpSpPr>
        <p:grpSpPr>
          <a:xfrm>
            <a:off x="-35700" y="-30000"/>
            <a:ext cx="9215400" cy="5203500"/>
            <a:chOff x="-35700" y="-30000"/>
            <a:chExt cx="9215400" cy="5203500"/>
          </a:xfrm>
        </p:grpSpPr>
        <p:cxnSp>
          <p:nvCxnSpPr>
            <p:cNvPr id="56" name="Google Shape;56;p6"/>
            <p:cNvCxnSpPr/>
            <p:nvPr/>
          </p:nvCxnSpPr>
          <p:spPr>
            <a:xfrm>
              <a:off x="8509900" y="2571750"/>
              <a:ext cx="6369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6"/>
            <p:cNvCxnSpPr/>
            <p:nvPr/>
          </p:nvCxnSpPr>
          <p:spPr>
            <a:xfrm rot="5400000">
              <a:off x="-1965275" y="2571750"/>
              <a:ext cx="5203500" cy="0"/>
            </a:xfrm>
            <a:prstGeom prst="straightConnector1">
              <a:avLst/>
            </a:prstGeom>
            <a:noFill/>
            <a:ln w="9525" cap="flat" cmpd="sng">
              <a:solidFill>
                <a:schemeClr val="dk1"/>
              </a:solidFill>
              <a:prstDash val="solid"/>
              <a:round/>
              <a:headEnd type="none" w="med" len="med"/>
              <a:tailEnd type="none" w="med" len="med"/>
            </a:ln>
          </p:spPr>
        </p:cxnSp>
        <p:cxnSp>
          <p:nvCxnSpPr>
            <p:cNvPr id="58" name="Google Shape;58;p6"/>
            <p:cNvCxnSpPr/>
            <p:nvPr/>
          </p:nvCxnSpPr>
          <p:spPr>
            <a:xfrm rot="5400000">
              <a:off x="5912100" y="2571750"/>
              <a:ext cx="5203500" cy="0"/>
            </a:xfrm>
            <a:prstGeom prst="straightConnector1">
              <a:avLst/>
            </a:prstGeom>
            <a:noFill/>
            <a:ln w="9525" cap="flat" cmpd="sng">
              <a:solidFill>
                <a:schemeClr val="dk1"/>
              </a:solidFill>
              <a:prstDash val="solid"/>
              <a:round/>
              <a:headEnd type="none" w="med" len="med"/>
              <a:tailEnd type="none" w="med" len="med"/>
            </a:ln>
          </p:spPr>
        </p:cxnSp>
        <p:cxnSp>
          <p:nvCxnSpPr>
            <p:cNvPr id="59" name="Google Shape;59;p6"/>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8"/>
          <p:cNvSpPr txBox="1">
            <a:spLocks noGrp="1"/>
          </p:cNvSpPr>
          <p:nvPr>
            <p:ph type="title"/>
          </p:nvPr>
        </p:nvSpPr>
        <p:spPr>
          <a:xfrm>
            <a:off x="1546625" y="1307100"/>
            <a:ext cx="6050700" cy="2529300"/>
          </a:xfrm>
          <a:prstGeom prst="rect">
            <a:avLst/>
          </a:prstGeom>
        </p:spPr>
        <p:txBody>
          <a:bodyPr spcFirstLastPara="1" wrap="square" lIns="0" tIns="91425" rIns="91425" bIns="91425" anchor="ctr" anchorCtr="0">
            <a:noAutofit/>
          </a:bodyPr>
          <a:lstStyle>
            <a:lvl1pPr lvl="0" algn="ctr">
              <a:lnSpc>
                <a:spcPct val="80000"/>
              </a:lnSpc>
              <a:spcBef>
                <a:spcPts val="0"/>
              </a:spcBef>
              <a:spcAft>
                <a:spcPts val="0"/>
              </a:spcAft>
              <a:buSzPts val="4800"/>
              <a:buNone/>
              <a:defRPr sz="7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70" name="Google Shape;70;p8"/>
          <p:cNvGrpSpPr/>
          <p:nvPr/>
        </p:nvGrpSpPr>
        <p:grpSpPr>
          <a:xfrm>
            <a:off x="-35700" y="-30000"/>
            <a:ext cx="9215400" cy="5203500"/>
            <a:chOff x="-35700" y="-30000"/>
            <a:chExt cx="9215400" cy="5203500"/>
          </a:xfrm>
        </p:grpSpPr>
        <p:cxnSp>
          <p:nvCxnSpPr>
            <p:cNvPr id="71" name="Google Shape;71;p8"/>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72" name="Google Shape;72;p8"/>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73" name="Google Shape;73;p8"/>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74" name="Google Shape;74;p8"/>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75" name="Google Shape;75;p8"/>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76" name="Google Shape;76;p8"/>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77" name="Google Shape;77;p8"/>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9"/>
          <p:cNvSpPr txBox="1">
            <a:spLocks noGrp="1"/>
          </p:cNvSpPr>
          <p:nvPr>
            <p:ph type="title"/>
          </p:nvPr>
        </p:nvSpPr>
        <p:spPr>
          <a:xfrm>
            <a:off x="2298750" y="1249600"/>
            <a:ext cx="4546500" cy="9933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9"/>
          <p:cNvSpPr txBox="1">
            <a:spLocks noGrp="1"/>
          </p:cNvSpPr>
          <p:nvPr>
            <p:ph type="subTitle" idx="1"/>
          </p:nvPr>
        </p:nvSpPr>
        <p:spPr>
          <a:xfrm>
            <a:off x="2298750" y="2412263"/>
            <a:ext cx="4546500" cy="1352700"/>
          </a:xfrm>
          <a:prstGeom prst="rect">
            <a:avLst/>
          </a:prstGeom>
        </p:spPr>
        <p:txBody>
          <a:bodyPr spcFirstLastPara="1" wrap="square" lIns="0"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82" name="Google Shape;82;p9"/>
          <p:cNvGrpSpPr/>
          <p:nvPr/>
        </p:nvGrpSpPr>
        <p:grpSpPr>
          <a:xfrm>
            <a:off x="-35700" y="-30000"/>
            <a:ext cx="9215400" cy="5203500"/>
            <a:chOff x="-35700" y="-30000"/>
            <a:chExt cx="9215400" cy="5203500"/>
          </a:xfrm>
        </p:grpSpPr>
        <p:cxnSp>
          <p:nvCxnSpPr>
            <p:cNvPr id="83" name="Google Shape;83;p9"/>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84" name="Google Shape;84;p9"/>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85" name="Google Shape;85;p9"/>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86" name="Google Shape;86;p9"/>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87" name="Google Shape;87;p9"/>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88" name="Google Shape;88;p9"/>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89" name="Google Shape;89;p9"/>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4"/>
        <p:cNvGrpSpPr/>
        <p:nvPr/>
      </p:nvGrpSpPr>
      <p:grpSpPr>
        <a:xfrm>
          <a:off x="0" y="0"/>
          <a:ext cx="0" cy="0"/>
          <a:chOff x="0" y="0"/>
          <a:chExt cx="0" cy="0"/>
        </a:xfrm>
      </p:grpSpPr>
      <p:sp>
        <p:nvSpPr>
          <p:cNvPr id="105" name="Google Shape;105;p11"/>
          <p:cNvSpPr txBox="1">
            <a:spLocks noGrp="1"/>
          </p:cNvSpPr>
          <p:nvPr>
            <p:ph type="title" hasCustomPrompt="1"/>
          </p:nvPr>
        </p:nvSpPr>
        <p:spPr>
          <a:xfrm>
            <a:off x="713100" y="1249247"/>
            <a:ext cx="7717800" cy="2100300"/>
          </a:xfrm>
          <a:prstGeom prst="rect">
            <a:avLst/>
          </a:prstGeom>
        </p:spPr>
        <p:txBody>
          <a:bodyPr spcFirstLastPara="1" wrap="square" lIns="0" tIns="91425" rIns="91425" bIns="91425" anchor="b" anchorCtr="0">
            <a:noAutofit/>
          </a:bodyPr>
          <a:lstStyle>
            <a:lvl1pPr lvl="0" algn="ctr" rtl="0">
              <a:spcBef>
                <a:spcPts val="0"/>
              </a:spcBef>
              <a:spcAft>
                <a:spcPts val="0"/>
              </a:spcAft>
              <a:buSzPts val="9600"/>
              <a:buNone/>
              <a:defRPr sz="112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106" name="Google Shape;106;p11"/>
          <p:cNvSpPr txBox="1">
            <a:spLocks noGrp="1"/>
          </p:cNvSpPr>
          <p:nvPr>
            <p:ph type="subTitle" idx="1"/>
          </p:nvPr>
        </p:nvSpPr>
        <p:spPr>
          <a:xfrm>
            <a:off x="2453425" y="3349547"/>
            <a:ext cx="4237200" cy="535800"/>
          </a:xfrm>
          <a:prstGeom prst="rect">
            <a:avLst/>
          </a:prstGeom>
        </p:spPr>
        <p:txBody>
          <a:bodyPr spcFirstLastPara="1" wrap="square" lIns="0"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grpSp>
        <p:nvGrpSpPr>
          <p:cNvPr id="107" name="Google Shape;107;p11"/>
          <p:cNvGrpSpPr/>
          <p:nvPr/>
        </p:nvGrpSpPr>
        <p:grpSpPr>
          <a:xfrm>
            <a:off x="-35700" y="-30000"/>
            <a:ext cx="9215400" cy="5203500"/>
            <a:chOff x="-35700" y="-30000"/>
            <a:chExt cx="9215400" cy="5203500"/>
          </a:xfrm>
        </p:grpSpPr>
        <p:cxnSp>
          <p:nvCxnSpPr>
            <p:cNvPr id="108" name="Google Shape;108;p11"/>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09" name="Google Shape;109;p11"/>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10" name="Google Shape;110;p11"/>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111" name="Google Shape;111;p11"/>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112" name="Google Shape;112;p11"/>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113" name="Google Shape;113;p11"/>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114" name="Google Shape;114;p11"/>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6"/>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BLANK_1_1">
    <p:bg>
      <p:bgPr>
        <a:blipFill>
          <a:blip r:embed="rId2">
            <a:alphaModFix/>
          </a:blip>
          <a:stretch>
            <a:fillRect/>
          </a:stretch>
        </a:blipFill>
        <a:effectLst/>
      </p:bgPr>
    </p:bg>
    <p:spTree>
      <p:nvGrpSpPr>
        <p:cNvPr id="1" name="Shape 154"/>
        <p:cNvGrpSpPr/>
        <p:nvPr/>
      </p:nvGrpSpPr>
      <p:grpSpPr>
        <a:xfrm>
          <a:off x="0" y="0"/>
          <a:ext cx="0" cy="0"/>
          <a:chOff x="0" y="0"/>
          <a:chExt cx="0" cy="0"/>
        </a:xfrm>
      </p:grpSpPr>
      <p:sp>
        <p:nvSpPr>
          <p:cNvPr id="155" name="Google Shape;155;p15"/>
          <p:cNvSpPr txBox="1">
            <a:spLocks noGrp="1"/>
          </p:cNvSpPr>
          <p:nvPr>
            <p:ph type="title"/>
          </p:nvPr>
        </p:nvSpPr>
        <p:spPr>
          <a:xfrm>
            <a:off x="2642550" y="2977131"/>
            <a:ext cx="3858900" cy="531900"/>
          </a:xfrm>
          <a:prstGeom prst="rect">
            <a:avLst/>
          </a:prstGeom>
        </p:spPr>
        <p:txBody>
          <a:bodyPr spcFirstLastPara="1" wrap="square" lIns="0" tIns="91425" rIns="91425" bIns="91425" anchor="t" anchorCtr="0">
            <a:noAutofit/>
          </a:bodyPr>
          <a:lstStyle>
            <a:lvl1pPr lvl="0" algn="ctr" rtl="0">
              <a:spcBef>
                <a:spcPts val="0"/>
              </a:spcBef>
              <a:spcAft>
                <a:spcPts val="0"/>
              </a:spcAft>
              <a:buSzPts val="3000"/>
              <a:buNone/>
              <a:defRPr sz="22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56" name="Google Shape;156;p15"/>
          <p:cNvSpPr txBox="1">
            <a:spLocks noGrp="1"/>
          </p:cNvSpPr>
          <p:nvPr>
            <p:ph type="subTitle" idx="1"/>
          </p:nvPr>
        </p:nvSpPr>
        <p:spPr>
          <a:xfrm>
            <a:off x="1714500" y="1634469"/>
            <a:ext cx="5715000" cy="1203000"/>
          </a:xfrm>
          <a:prstGeom prst="rect">
            <a:avLst/>
          </a:prstGeom>
        </p:spPr>
        <p:txBody>
          <a:bodyPr spcFirstLastPara="1" wrap="square" lIns="0" tIns="91425" rIns="91425" bIns="91425" anchor="b" anchorCtr="0">
            <a:noAutofit/>
          </a:bodyPr>
          <a:lstStyle>
            <a:lvl1pPr lvl="0" algn="ctr" rtl="0">
              <a:lnSpc>
                <a:spcPct val="100000"/>
              </a:lnSpc>
              <a:spcBef>
                <a:spcPts val="0"/>
              </a:spcBef>
              <a:spcAft>
                <a:spcPts val="0"/>
              </a:spcAft>
              <a:buSzPts val="3000"/>
              <a:buNone/>
              <a:defRPr sz="2200"/>
            </a:lvl1pPr>
            <a:lvl2pPr lvl="1" algn="ctr" rtl="0">
              <a:lnSpc>
                <a:spcPct val="100000"/>
              </a:lnSpc>
              <a:spcBef>
                <a:spcPts val="0"/>
              </a:spcBef>
              <a:spcAft>
                <a:spcPts val="0"/>
              </a:spcAft>
              <a:buSzPts val="3000"/>
              <a:buNone/>
              <a:defRPr sz="3000"/>
            </a:lvl2pPr>
            <a:lvl3pPr lvl="2" algn="ctr" rtl="0">
              <a:lnSpc>
                <a:spcPct val="100000"/>
              </a:lnSpc>
              <a:spcBef>
                <a:spcPts val="1600"/>
              </a:spcBef>
              <a:spcAft>
                <a:spcPts val="0"/>
              </a:spcAft>
              <a:buSzPts val="3000"/>
              <a:buNone/>
              <a:defRPr sz="3000"/>
            </a:lvl3pPr>
            <a:lvl4pPr lvl="3" algn="ctr" rtl="0">
              <a:lnSpc>
                <a:spcPct val="100000"/>
              </a:lnSpc>
              <a:spcBef>
                <a:spcPts val="1600"/>
              </a:spcBef>
              <a:spcAft>
                <a:spcPts val="0"/>
              </a:spcAft>
              <a:buSzPts val="3000"/>
              <a:buNone/>
              <a:defRPr sz="3000"/>
            </a:lvl4pPr>
            <a:lvl5pPr lvl="4" algn="ctr" rtl="0">
              <a:lnSpc>
                <a:spcPct val="100000"/>
              </a:lnSpc>
              <a:spcBef>
                <a:spcPts val="1600"/>
              </a:spcBef>
              <a:spcAft>
                <a:spcPts val="0"/>
              </a:spcAft>
              <a:buSzPts val="3000"/>
              <a:buNone/>
              <a:defRPr sz="3000"/>
            </a:lvl5pPr>
            <a:lvl6pPr lvl="5" algn="ctr" rtl="0">
              <a:lnSpc>
                <a:spcPct val="100000"/>
              </a:lnSpc>
              <a:spcBef>
                <a:spcPts val="1600"/>
              </a:spcBef>
              <a:spcAft>
                <a:spcPts val="0"/>
              </a:spcAft>
              <a:buSzPts val="3000"/>
              <a:buNone/>
              <a:defRPr sz="3000"/>
            </a:lvl6pPr>
            <a:lvl7pPr lvl="6" algn="ctr" rtl="0">
              <a:lnSpc>
                <a:spcPct val="100000"/>
              </a:lnSpc>
              <a:spcBef>
                <a:spcPts val="1600"/>
              </a:spcBef>
              <a:spcAft>
                <a:spcPts val="0"/>
              </a:spcAft>
              <a:buSzPts val="3000"/>
              <a:buNone/>
              <a:defRPr sz="3000"/>
            </a:lvl7pPr>
            <a:lvl8pPr lvl="7" algn="ctr" rtl="0">
              <a:lnSpc>
                <a:spcPct val="100000"/>
              </a:lnSpc>
              <a:spcBef>
                <a:spcPts val="1600"/>
              </a:spcBef>
              <a:spcAft>
                <a:spcPts val="0"/>
              </a:spcAft>
              <a:buSzPts val="3000"/>
              <a:buNone/>
              <a:defRPr sz="3000"/>
            </a:lvl8pPr>
            <a:lvl9pPr lvl="8" algn="ctr" rtl="0">
              <a:lnSpc>
                <a:spcPct val="100000"/>
              </a:lnSpc>
              <a:spcBef>
                <a:spcPts val="1600"/>
              </a:spcBef>
              <a:spcAft>
                <a:spcPts val="1600"/>
              </a:spcAft>
              <a:buSzPts val="3000"/>
              <a:buNone/>
              <a:defRPr sz="3000"/>
            </a:lvl9pPr>
          </a:lstStyle>
          <a:p>
            <a:endParaRPr/>
          </a:p>
        </p:txBody>
      </p:sp>
      <p:grpSp>
        <p:nvGrpSpPr>
          <p:cNvPr id="157" name="Google Shape;157;p15"/>
          <p:cNvGrpSpPr/>
          <p:nvPr/>
        </p:nvGrpSpPr>
        <p:grpSpPr>
          <a:xfrm>
            <a:off x="-35700" y="-30000"/>
            <a:ext cx="9215400" cy="5203500"/>
            <a:chOff x="-35700" y="-30000"/>
            <a:chExt cx="9215400" cy="5203500"/>
          </a:xfrm>
        </p:grpSpPr>
        <p:cxnSp>
          <p:nvCxnSpPr>
            <p:cNvPr id="158" name="Google Shape;158;p15"/>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59" name="Google Shape;159;p15"/>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60" name="Google Shape;160;p15"/>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161" name="Google Shape;161;p15"/>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162" name="Google Shape;162;p15"/>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163" name="Google Shape;163;p15"/>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164" name="Google Shape;164;p15"/>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2">
  <p:cSld name="CUSTOM_4_1">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17"/>
          <p:cNvSpPr txBox="1">
            <a:spLocks noGrp="1"/>
          </p:cNvSpPr>
          <p:nvPr>
            <p:ph type="title"/>
          </p:nvPr>
        </p:nvSpPr>
        <p:spPr>
          <a:xfrm>
            <a:off x="880000" y="1353625"/>
            <a:ext cx="3571200" cy="1198800"/>
          </a:xfrm>
          <a:prstGeom prst="rect">
            <a:avLst/>
          </a:prstGeom>
        </p:spPr>
        <p:txBody>
          <a:bodyPr spcFirstLastPara="1" wrap="square" lIns="0"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5" name="Google Shape;175;p17"/>
          <p:cNvSpPr txBox="1">
            <a:spLocks noGrp="1"/>
          </p:cNvSpPr>
          <p:nvPr>
            <p:ph type="subTitle" idx="1"/>
          </p:nvPr>
        </p:nvSpPr>
        <p:spPr>
          <a:xfrm>
            <a:off x="879825" y="2709575"/>
            <a:ext cx="3353700" cy="1080300"/>
          </a:xfrm>
          <a:prstGeom prst="rect">
            <a:avLst/>
          </a:prstGeom>
        </p:spPr>
        <p:txBody>
          <a:bodyPr spcFirstLastPara="1" wrap="square" lIns="0"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grpSp>
        <p:nvGrpSpPr>
          <p:cNvPr id="176" name="Google Shape;176;p17"/>
          <p:cNvGrpSpPr/>
          <p:nvPr/>
        </p:nvGrpSpPr>
        <p:grpSpPr>
          <a:xfrm>
            <a:off x="-35700" y="-30000"/>
            <a:ext cx="9215400" cy="5203500"/>
            <a:chOff x="-35700" y="-30000"/>
            <a:chExt cx="9215400" cy="5203500"/>
          </a:xfrm>
        </p:grpSpPr>
        <p:cxnSp>
          <p:nvCxnSpPr>
            <p:cNvPr id="177" name="Google Shape;177;p17"/>
            <p:cNvCxnSpPr/>
            <p:nvPr/>
          </p:nvCxnSpPr>
          <p:spPr>
            <a:xfrm rot="5400000">
              <a:off x="-1965275"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78" name="Google Shape;178;p17"/>
            <p:cNvCxnSpPr/>
            <p:nvPr/>
          </p:nvCxnSpPr>
          <p:spPr>
            <a:xfrm rot="5400000">
              <a:off x="5912100" y="2571750"/>
              <a:ext cx="5203500" cy="0"/>
            </a:xfrm>
            <a:prstGeom prst="straightConnector1">
              <a:avLst/>
            </a:prstGeom>
            <a:noFill/>
            <a:ln w="9525" cap="flat" cmpd="sng">
              <a:solidFill>
                <a:srgbClr val="191919"/>
              </a:solidFill>
              <a:prstDash val="solid"/>
              <a:round/>
              <a:headEnd type="none" w="med" len="med"/>
              <a:tailEnd type="none" w="med" len="med"/>
            </a:ln>
          </p:spPr>
        </p:cxnSp>
        <p:cxnSp>
          <p:nvCxnSpPr>
            <p:cNvPr id="179" name="Google Shape;179;p17"/>
            <p:cNvCxnSpPr/>
            <p:nvPr/>
          </p:nvCxnSpPr>
          <p:spPr>
            <a:xfrm>
              <a:off x="-35700" y="529972"/>
              <a:ext cx="9215400" cy="0"/>
            </a:xfrm>
            <a:prstGeom prst="straightConnector1">
              <a:avLst/>
            </a:prstGeom>
            <a:noFill/>
            <a:ln w="9525" cap="flat" cmpd="sng">
              <a:solidFill>
                <a:srgbClr val="191919"/>
              </a:solidFill>
              <a:prstDash val="solid"/>
              <a:round/>
              <a:headEnd type="none" w="med" len="med"/>
              <a:tailEnd type="none" w="med" len="med"/>
            </a:ln>
          </p:spPr>
        </p:cxnSp>
        <p:cxnSp>
          <p:nvCxnSpPr>
            <p:cNvPr id="180" name="Google Shape;180;p17"/>
            <p:cNvCxnSpPr/>
            <p:nvPr/>
          </p:nvCxnSpPr>
          <p:spPr>
            <a:xfrm>
              <a:off x="-21425" y="2571750"/>
              <a:ext cx="653400" cy="0"/>
            </a:xfrm>
            <a:prstGeom prst="straightConnector1">
              <a:avLst/>
            </a:prstGeom>
            <a:noFill/>
            <a:ln w="9525" cap="flat" cmpd="sng">
              <a:solidFill>
                <a:srgbClr val="191919"/>
              </a:solidFill>
              <a:prstDash val="solid"/>
              <a:round/>
              <a:headEnd type="none" w="med" len="med"/>
              <a:tailEnd type="none" w="med" len="med"/>
            </a:ln>
          </p:spPr>
        </p:cxnSp>
        <p:cxnSp>
          <p:nvCxnSpPr>
            <p:cNvPr id="181" name="Google Shape;181;p17"/>
            <p:cNvCxnSpPr/>
            <p:nvPr/>
          </p:nvCxnSpPr>
          <p:spPr>
            <a:xfrm>
              <a:off x="8509900" y="2571750"/>
              <a:ext cx="636900" cy="0"/>
            </a:xfrm>
            <a:prstGeom prst="straightConnector1">
              <a:avLst/>
            </a:prstGeom>
            <a:noFill/>
            <a:ln w="9525" cap="flat" cmpd="sng">
              <a:solidFill>
                <a:srgbClr val="191919"/>
              </a:solidFill>
              <a:prstDash val="solid"/>
              <a:round/>
              <a:headEnd type="none" w="med" len="med"/>
              <a:tailEnd type="none" w="med" len="med"/>
            </a:ln>
          </p:spPr>
        </p:cxnSp>
        <p:cxnSp>
          <p:nvCxnSpPr>
            <p:cNvPr id="182" name="Google Shape;182;p17"/>
            <p:cNvCxnSpPr/>
            <p:nvPr/>
          </p:nvCxnSpPr>
          <p:spPr>
            <a:xfrm>
              <a:off x="-35700" y="4623597"/>
              <a:ext cx="9215400" cy="0"/>
            </a:xfrm>
            <a:prstGeom prst="straightConnector1">
              <a:avLst/>
            </a:prstGeom>
            <a:noFill/>
            <a:ln w="9525" cap="flat" cmpd="sng">
              <a:solidFill>
                <a:srgbClr val="191919"/>
              </a:solidFill>
              <a:prstDash val="solid"/>
              <a:round/>
              <a:headEnd type="none" w="med" len="med"/>
              <a:tailEnd type="none" w="med" len="med"/>
            </a:ln>
          </p:spPr>
        </p:cxnSp>
      </p:grpSp>
      <p:sp>
        <p:nvSpPr>
          <p:cNvPr id="183" name="Google Shape;183;p17"/>
          <p:cNvSpPr/>
          <p:nvPr/>
        </p:nvSpPr>
        <p:spPr>
          <a:xfrm>
            <a:off x="8712900" y="124175"/>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7"/>
          <p:cNvSpPr/>
          <p:nvPr/>
        </p:nvSpPr>
        <p:spPr>
          <a:xfrm>
            <a:off x="181925" y="4751950"/>
            <a:ext cx="273300" cy="273300"/>
          </a:xfrm>
          <a:prstGeom prst="star4">
            <a:avLst>
              <a:gd name="adj" fmla="val 12500"/>
            </a:avLst>
          </a:pr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bg>
      <p:bgPr>
        <a:blipFill>
          <a:blip r:embed="rId2">
            <a:alphaModFix/>
          </a:blip>
          <a:stretch>
            <a:fillRect/>
          </a:stretch>
        </a:blipFill>
        <a:effectLst/>
      </p:bgPr>
    </p:bg>
    <p:spTree>
      <p:nvGrpSpPr>
        <p:cNvPr id="1" name="Shape 185"/>
        <p:cNvGrpSpPr/>
        <p:nvPr/>
      </p:nvGrpSpPr>
      <p:grpSpPr>
        <a:xfrm>
          <a:off x="0" y="0"/>
          <a:ext cx="0" cy="0"/>
          <a:chOff x="0" y="0"/>
          <a:chExt cx="0" cy="0"/>
        </a:xfrm>
      </p:grpSpPr>
      <p:grpSp>
        <p:nvGrpSpPr>
          <p:cNvPr id="186" name="Google Shape;186;p18"/>
          <p:cNvGrpSpPr/>
          <p:nvPr/>
        </p:nvGrpSpPr>
        <p:grpSpPr>
          <a:xfrm>
            <a:off x="-35700" y="-30000"/>
            <a:ext cx="9215400" cy="5203500"/>
            <a:chOff x="-35700" y="-30000"/>
            <a:chExt cx="9215400" cy="5203500"/>
          </a:xfrm>
        </p:grpSpPr>
        <p:cxnSp>
          <p:nvCxnSpPr>
            <p:cNvPr id="187" name="Google Shape;187;p18"/>
            <p:cNvCxnSpPr/>
            <p:nvPr/>
          </p:nvCxnSpPr>
          <p:spPr>
            <a:xfrm>
              <a:off x="-21425" y="2571750"/>
              <a:ext cx="653400" cy="0"/>
            </a:xfrm>
            <a:prstGeom prst="straightConnector1">
              <a:avLst/>
            </a:prstGeom>
            <a:noFill/>
            <a:ln w="9525" cap="flat" cmpd="sng">
              <a:solidFill>
                <a:schemeClr val="dk1"/>
              </a:solidFill>
              <a:prstDash val="solid"/>
              <a:round/>
              <a:headEnd type="none" w="med" len="med"/>
              <a:tailEnd type="none" w="med" len="med"/>
            </a:ln>
          </p:spPr>
        </p:cxnSp>
        <p:cxnSp>
          <p:nvCxnSpPr>
            <p:cNvPr id="188" name="Google Shape;188;p18"/>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189" name="Google Shape;189;p18"/>
            <p:cNvCxnSpPr/>
            <p:nvPr/>
          </p:nvCxnSpPr>
          <p:spPr>
            <a:xfrm rot="5400000">
              <a:off x="-1965275"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190" name="Google Shape;190;p18"/>
          <p:cNvSpPr/>
          <p:nvPr/>
        </p:nvSpPr>
        <p:spPr>
          <a:xfrm>
            <a:off x="181925" y="124175"/>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8"/>
          <p:cNvSpPr txBox="1">
            <a:spLocks noGrp="1"/>
          </p:cNvSpPr>
          <p:nvPr>
            <p:ph type="title"/>
          </p:nvPr>
        </p:nvSpPr>
        <p:spPr>
          <a:xfrm>
            <a:off x="1094861" y="1101325"/>
            <a:ext cx="6954300" cy="527700"/>
          </a:xfrm>
          <a:prstGeom prst="rect">
            <a:avLst/>
          </a:prstGeom>
        </p:spPr>
        <p:txBody>
          <a:bodyPr spcFirstLastPara="1" wrap="square" lIns="0"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2" name="Google Shape;192;p18"/>
          <p:cNvSpPr txBox="1">
            <a:spLocks noGrp="1"/>
          </p:cNvSpPr>
          <p:nvPr>
            <p:ph type="subTitle" idx="1"/>
          </p:nvPr>
        </p:nvSpPr>
        <p:spPr>
          <a:xfrm>
            <a:off x="1094861" y="1506475"/>
            <a:ext cx="6954300" cy="776400"/>
          </a:xfrm>
          <a:prstGeom prst="rect">
            <a:avLst/>
          </a:prstGeom>
        </p:spPr>
        <p:txBody>
          <a:bodyPr spcFirstLastPara="1" wrap="square" lIns="0"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3" name="Google Shape;193;p18"/>
          <p:cNvSpPr txBox="1">
            <a:spLocks noGrp="1"/>
          </p:cNvSpPr>
          <p:nvPr>
            <p:ph type="title" idx="2"/>
          </p:nvPr>
        </p:nvSpPr>
        <p:spPr>
          <a:xfrm>
            <a:off x="1094861" y="2282875"/>
            <a:ext cx="6954300" cy="527700"/>
          </a:xfrm>
          <a:prstGeom prst="rect">
            <a:avLst/>
          </a:prstGeom>
        </p:spPr>
        <p:txBody>
          <a:bodyPr spcFirstLastPara="1" wrap="square" lIns="0"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4" name="Google Shape;194;p18"/>
          <p:cNvSpPr txBox="1">
            <a:spLocks noGrp="1"/>
          </p:cNvSpPr>
          <p:nvPr>
            <p:ph type="subTitle" idx="3"/>
          </p:nvPr>
        </p:nvSpPr>
        <p:spPr>
          <a:xfrm>
            <a:off x="1094861" y="2688025"/>
            <a:ext cx="6954300" cy="776400"/>
          </a:xfrm>
          <a:prstGeom prst="rect">
            <a:avLst/>
          </a:prstGeom>
        </p:spPr>
        <p:txBody>
          <a:bodyPr spcFirstLastPara="1" wrap="square" lIns="0"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5" name="Google Shape;195;p18"/>
          <p:cNvSpPr txBox="1">
            <a:spLocks noGrp="1"/>
          </p:cNvSpPr>
          <p:nvPr>
            <p:ph type="title" idx="4"/>
          </p:nvPr>
        </p:nvSpPr>
        <p:spPr>
          <a:xfrm>
            <a:off x="1094861" y="3464425"/>
            <a:ext cx="6954300" cy="527700"/>
          </a:xfrm>
          <a:prstGeom prst="rect">
            <a:avLst/>
          </a:prstGeom>
        </p:spPr>
        <p:txBody>
          <a:bodyPr spcFirstLastPara="1" wrap="square" lIns="0" tIns="91425" rIns="91425" bIns="91425" anchor="b" anchorCtr="0">
            <a:noAutofit/>
          </a:bodyPr>
          <a:lstStyle>
            <a:lvl1pPr lvl="0" rtl="0">
              <a:spcBef>
                <a:spcPts val="0"/>
              </a:spcBef>
              <a:spcAft>
                <a:spcPts val="0"/>
              </a:spcAft>
              <a:buSzPts val="2500"/>
              <a:buNone/>
              <a:defRPr sz="22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 name="Google Shape;196;p18"/>
          <p:cNvSpPr txBox="1">
            <a:spLocks noGrp="1"/>
          </p:cNvSpPr>
          <p:nvPr>
            <p:ph type="subTitle" idx="5"/>
          </p:nvPr>
        </p:nvSpPr>
        <p:spPr>
          <a:xfrm>
            <a:off x="1094861" y="3869575"/>
            <a:ext cx="6954300" cy="776400"/>
          </a:xfrm>
          <a:prstGeom prst="rect">
            <a:avLst/>
          </a:prstGeom>
        </p:spPr>
        <p:txBody>
          <a:bodyPr spcFirstLastPara="1" wrap="square" lIns="0"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7" name="Google Shape;197;p18"/>
          <p:cNvSpPr txBox="1">
            <a:spLocks noGrp="1"/>
          </p:cNvSpPr>
          <p:nvPr>
            <p:ph type="title" idx="6"/>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CUSTOM_5_1">
    <p:bg>
      <p:bgPr>
        <a:blipFill>
          <a:blip r:embed="rId2">
            <a:alphaModFix/>
          </a:blip>
          <a:stretch>
            <a:fillRect/>
          </a:stretch>
        </a:blipFill>
        <a:effectLst/>
      </p:bgPr>
    </p:bg>
    <p:spTree>
      <p:nvGrpSpPr>
        <p:cNvPr id="1" name="Shape 208"/>
        <p:cNvGrpSpPr/>
        <p:nvPr/>
      </p:nvGrpSpPr>
      <p:grpSpPr>
        <a:xfrm>
          <a:off x="0" y="0"/>
          <a:ext cx="0" cy="0"/>
          <a:chOff x="0" y="0"/>
          <a:chExt cx="0" cy="0"/>
        </a:xfrm>
      </p:grpSpPr>
      <p:sp>
        <p:nvSpPr>
          <p:cNvPr id="209" name="Google Shape;209;p20"/>
          <p:cNvSpPr txBox="1">
            <a:spLocks noGrp="1"/>
          </p:cNvSpPr>
          <p:nvPr>
            <p:ph type="title"/>
          </p:nvPr>
        </p:nvSpPr>
        <p:spPr>
          <a:xfrm flipH="1">
            <a:off x="1071619" y="1652134"/>
            <a:ext cx="2120700" cy="393600"/>
          </a:xfrm>
          <a:prstGeom prst="rect">
            <a:avLst/>
          </a:prstGeom>
          <a:ln>
            <a:noFill/>
          </a:ln>
        </p:spPr>
        <p:txBody>
          <a:bodyPr spcFirstLastPara="1" wrap="square" lIns="0" tIns="91425" rIns="91425" bIns="91425" anchor="b" anchorCtr="0">
            <a:noAutofit/>
          </a:bodyPr>
          <a:lstStyle>
            <a:lvl1pPr lvl="0" algn="r" rtl="0">
              <a:spcBef>
                <a:spcPts val="0"/>
              </a:spcBef>
              <a:spcAft>
                <a:spcPts val="0"/>
              </a:spcAft>
              <a:buSzPts val="3500"/>
              <a:buNone/>
              <a:defRPr sz="2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0" name="Google Shape;210;p20"/>
          <p:cNvSpPr txBox="1">
            <a:spLocks noGrp="1"/>
          </p:cNvSpPr>
          <p:nvPr>
            <p:ph type="subTitle" idx="1"/>
          </p:nvPr>
        </p:nvSpPr>
        <p:spPr>
          <a:xfrm flipH="1">
            <a:off x="1071619" y="1934000"/>
            <a:ext cx="2120700" cy="572700"/>
          </a:xfrm>
          <a:prstGeom prst="rect">
            <a:avLst/>
          </a:prstGeom>
          <a:ln>
            <a:noFill/>
          </a:ln>
        </p:spPr>
        <p:txBody>
          <a:bodyPr spcFirstLastPara="1" wrap="square" lIns="0"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11" name="Google Shape;211;p20"/>
          <p:cNvSpPr txBox="1">
            <a:spLocks noGrp="1"/>
          </p:cNvSpPr>
          <p:nvPr>
            <p:ph type="title" idx="2"/>
          </p:nvPr>
        </p:nvSpPr>
        <p:spPr>
          <a:xfrm flipH="1">
            <a:off x="1071619" y="3284934"/>
            <a:ext cx="2120700" cy="393600"/>
          </a:xfrm>
          <a:prstGeom prst="rect">
            <a:avLst/>
          </a:prstGeom>
          <a:ln>
            <a:noFill/>
          </a:ln>
        </p:spPr>
        <p:txBody>
          <a:bodyPr spcFirstLastPara="1" wrap="square" lIns="0" tIns="91425" rIns="91425" bIns="91425" anchor="b" anchorCtr="0">
            <a:noAutofit/>
          </a:bodyPr>
          <a:lstStyle>
            <a:lvl1pPr lvl="0" algn="r" rtl="0">
              <a:spcBef>
                <a:spcPts val="0"/>
              </a:spcBef>
              <a:spcAft>
                <a:spcPts val="0"/>
              </a:spcAft>
              <a:buSzPts val="3500"/>
              <a:buNone/>
              <a:defRPr sz="2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2" name="Google Shape;212;p20"/>
          <p:cNvSpPr txBox="1">
            <a:spLocks noGrp="1"/>
          </p:cNvSpPr>
          <p:nvPr>
            <p:ph type="subTitle" idx="3"/>
          </p:nvPr>
        </p:nvSpPr>
        <p:spPr>
          <a:xfrm flipH="1">
            <a:off x="1071619" y="3566800"/>
            <a:ext cx="2120700" cy="572700"/>
          </a:xfrm>
          <a:prstGeom prst="rect">
            <a:avLst/>
          </a:prstGeom>
          <a:ln>
            <a:noFill/>
          </a:ln>
        </p:spPr>
        <p:txBody>
          <a:bodyPr spcFirstLastPara="1" wrap="square" lIns="0"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13" name="Google Shape;213;p20"/>
          <p:cNvSpPr txBox="1">
            <a:spLocks noGrp="1"/>
          </p:cNvSpPr>
          <p:nvPr>
            <p:ph type="title" idx="4"/>
          </p:nvPr>
        </p:nvSpPr>
        <p:spPr>
          <a:xfrm>
            <a:off x="5951681" y="1652134"/>
            <a:ext cx="2120700" cy="393600"/>
          </a:xfrm>
          <a:prstGeom prst="rect">
            <a:avLst/>
          </a:prstGeom>
          <a:ln>
            <a:noFill/>
          </a:ln>
        </p:spPr>
        <p:txBody>
          <a:bodyPr spcFirstLastPara="1" wrap="square" lIns="0" tIns="91425" rIns="91425" bIns="91425" anchor="b" anchorCtr="0">
            <a:noAutofit/>
          </a:bodyPr>
          <a:lstStyle>
            <a:lvl1pPr lvl="0" rtl="0">
              <a:spcBef>
                <a:spcPts val="0"/>
              </a:spcBef>
              <a:spcAft>
                <a:spcPts val="0"/>
              </a:spcAft>
              <a:buSzPts val="3500"/>
              <a:buNone/>
              <a:defRPr sz="2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4" name="Google Shape;214;p20"/>
          <p:cNvSpPr txBox="1">
            <a:spLocks noGrp="1"/>
          </p:cNvSpPr>
          <p:nvPr>
            <p:ph type="subTitle" idx="5"/>
          </p:nvPr>
        </p:nvSpPr>
        <p:spPr>
          <a:xfrm>
            <a:off x="5951681" y="1934000"/>
            <a:ext cx="2120700" cy="572700"/>
          </a:xfrm>
          <a:prstGeom prst="rect">
            <a:avLst/>
          </a:prstGeom>
          <a:ln>
            <a:noFill/>
          </a:ln>
        </p:spPr>
        <p:txBody>
          <a:bodyPr spcFirstLastPara="1" wrap="square" lIns="0"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15" name="Google Shape;215;p20"/>
          <p:cNvSpPr txBox="1">
            <a:spLocks noGrp="1"/>
          </p:cNvSpPr>
          <p:nvPr>
            <p:ph type="title" idx="6"/>
          </p:nvPr>
        </p:nvSpPr>
        <p:spPr>
          <a:xfrm>
            <a:off x="5951681" y="3284934"/>
            <a:ext cx="2120700" cy="393600"/>
          </a:xfrm>
          <a:prstGeom prst="rect">
            <a:avLst/>
          </a:prstGeom>
          <a:ln>
            <a:noFill/>
          </a:ln>
        </p:spPr>
        <p:txBody>
          <a:bodyPr spcFirstLastPara="1" wrap="square" lIns="0" tIns="91425" rIns="91425" bIns="91425" anchor="b" anchorCtr="0">
            <a:noAutofit/>
          </a:bodyPr>
          <a:lstStyle>
            <a:lvl1pPr lvl="0" rtl="0">
              <a:spcBef>
                <a:spcPts val="0"/>
              </a:spcBef>
              <a:spcAft>
                <a:spcPts val="0"/>
              </a:spcAft>
              <a:buSzPts val="3500"/>
              <a:buNone/>
              <a:defRPr sz="2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16" name="Google Shape;216;p20"/>
          <p:cNvSpPr txBox="1">
            <a:spLocks noGrp="1"/>
          </p:cNvSpPr>
          <p:nvPr>
            <p:ph type="subTitle" idx="7"/>
          </p:nvPr>
        </p:nvSpPr>
        <p:spPr>
          <a:xfrm>
            <a:off x="5951681" y="3566800"/>
            <a:ext cx="2120700" cy="572700"/>
          </a:xfrm>
          <a:prstGeom prst="rect">
            <a:avLst/>
          </a:prstGeom>
          <a:ln>
            <a:noFill/>
          </a:ln>
        </p:spPr>
        <p:txBody>
          <a:bodyPr spcFirstLastPara="1" wrap="square" lIns="0"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1600"/>
              </a:spcBef>
              <a:spcAft>
                <a:spcPts val="0"/>
              </a:spcAft>
              <a:buSzPts val="1400"/>
              <a:buNone/>
              <a:defRPr/>
            </a:lvl3pPr>
            <a:lvl4pPr lvl="3" algn="ctr" rtl="0">
              <a:spcBef>
                <a:spcPts val="1600"/>
              </a:spcBef>
              <a:spcAft>
                <a:spcPts val="0"/>
              </a:spcAft>
              <a:buSzPts val="1400"/>
              <a:buNone/>
              <a:defRPr/>
            </a:lvl4pPr>
            <a:lvl5pPr lvl="4" algn="ctr" rtl="0">
              <a:spcBef>
                <a:spcPts val="1600"/>
              </a:spcBef>
              <a:spcAft>
                <a:spcPts val="0"/>
              </a:spcAft>
              <a:buSzPts val="1400"/>
              <a:buNone/>
              <a:defRPr/>
            </a:lvl5pPr>
            <a:lvl6pPr lvl="5" algn="ctr" rtl="0">
              <a:spcBef>
                <a:spcPts val="1600"/>
              </a:spcBef>
              <a:spcAft>
                <a:spcPts val="0"/>
              </a:spcAft>
              <a:buSzPts val="1400"/>
              <a:buNone/>
              <a:defRPr/>
            </a:lvl6pPr>
            <a:lvl7pPr lvl="6" algn="ctr" rtl="0">
              <a:spcBef>
                <a:spcPts val="1600"/>
              </a:spcBef>
              <a:spcAft>
                <a:spcPts val="0"/>
              </a:spcAft>
              <a:buSzPts val="1400"/>
              <a:buNone/>
              <a:defRPr/>
            </a:lvl7pPr>
            <a:lvl8pPr lvl="7" algn="ctr" rtl="0">
              <a:spcBef>
                <a:spcPts val="1600"/>
              </a:spcBef>
              <a:spcAft>
                <a:spcPts val="0"/>
              </a:spcAft>
              <a:buSzPts val="1400"/>
              <a:buNone/>
              <a:defRPr/>
            </a:lvl8pPr>
            <a:lvl9pPr lvl="8" algn="ctr" rtl="0">
              <a:spcBef>
                <a:spcPts val="1600"/>
              </a:spcBef>
              <a:spcAft>
                <a:spcPts val="1600"/>
              </a:spcAft>
              <a:buSzPts val="1400"/>
              <a:buNone/>
              <a:defRPr/>
            </a:lvl9pPr>
          </a:lstStyle>
          <a:p>
            <a:endParaRPr/>
          </a:p>
        </p:txBody>
      </p:sp>
      <p:sp>
        <p:nvSpPr>
          <p:cNvPr id="217" name="Google Shape;217;p20"/>
          <p:cNvSpPr txBox="1">
            <a:spLocks noGrp="1"/>
          </p:cNvSpPr>
          <p:nvPr>
            <p:ph type="title" idx="8"/>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18" name="Google Shape;218;p20"/>
          <p:cNvGrpSpPr/>
          <p:nvPr/>
        </p:nvGrpSpPr>
        <p:grpSpPr>
          <a:xfrm>
            <a:off x="-35700" y="-30000"/>
            <a:ext cx="9215400" cy="5203500"/>
            <a:chOff x="-35700" y="-30000"/>
            <a:chExt cx="9215400" cy="5203500"/>
          </a:xfrm>
        </p:grpSpPr>
        <p:cxnSp>
          <p:nvCxnSpPr>
            <p:cNvPr id="219" name="Google Shape;219;p20"/>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220" name="Google Shape;220;p20"/>
            <p:cNvCxnSpPr/>
            <p:nvPr/>
          </p:nvCxnSpPr>
          <p:spPr>
            <a:xfrm>
              <a:off x="-35700" y="4623597"/>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221" name="Google Shape;221;p20"/>
            <p:cNvCxnSpPr/>
            <p:nvPr/>
          </p:nvCxnSpPr>
          <p:spPr>
            <a:xfrm>
              <a:off x="8509900" y="2571750"/>
              <a:ext cx="636900" cy="0"/>
            </a:xfrm>
            <a:prstGeom prst="straightConnector1">
              <a:avLst/>
            </a:prstGeom>
            <a:noFill/>
            <a:ln w="9525" cap="flat" cmpd="sng">
              <a:solidFill>
                <a:schemeClr val="dk1"/>
              </a:solidFill>
              <a:prstDash val="solid"/>
              <a:round/>
              <a:headEnd type="none" w="med" len="med"/>
              <a:tailEnd type="none" w="med" len="med"/>
            </a:ln>
          </p:spPr>
        </p:cxnSp>
        <p:cxnSp>
          <p:nvCxnSpPr>
            <p:cNvPr id="222" name="Google Shape;222;p20"/>
            <p:cNvCxnSpPr/>
            <p:nvPr/>
          </p:nvCxnSpPr>
          <p:spPr>
            <a:xfrm rot="5400000">
              <a:off x="5912100"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223" name="Google Shape;223;p20"/>
          <p:cNvSpPr/>
          <p:nvPr/>
        </p:nvSpPr>
        <p:spPr>
          <a:xfrm>
            <a:off x="8712900" y="4751950"/>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_ONLY_2">
    <p:bg>
      <p:bgPr>
        <a:blipFill>
          <a:blip r:embed="rId2">
            <a:alphaModFix/>
          </a:blip>
          <a:stretch>
            <a:fillRect/>
          </a:stretch>
        </a:blipFill>
        <a:effectLst/>
      </p:bgPr>
    </p:bg>
    <p:spTree>
      <p:nvGrpSpPr>
        <p:cNvPr id="1" name="Shape 259"/>
        <p:cNvGrpSpPr/>
        <p:nvPr/>
      </p:nvGrpSpPr>
      <p:grpSpPr>
        <a:xfrm>
          <a:off x="0" y="0"/>
          <a:ext cx="0" cy="0"/>
          <a:chOff x="0" y="0"/>
          <a:chExt cx="0" cy="0"/>
        </a:xfrm>
      </p:grpSpPr>
      <p:sp>
        <p:nvSpPr>
          <p:cNvPr id="260" name="Google Shape;260;p23"/>
          <p:cNvSpPr txBox="1">
            <a:spLocks noGrp="1"/>
          </p:cNvSpPr>
          <p:nvPr>
            <p:ph type="title"/>
          </p:nvPr>
        </p:nvSpPr>
        <p:spPr>
          <a:xfrm>
            <a:off x="720000" y="527825"/>
            <a:ext cx="7704000" cy="622800"/>
          </a:xfrm>
          <a:prstGeom prst="rect">
            <a:avLst/>
          </a:prstGeom>
          <a:ln>
            <a:noFill/>
          </a:ln>
        </p:spPr>
        <p:txBody>
          <a:bodyPr spcFirstLastPara="1" wrap="square" lIns="0" tIns="91425" rIns="91425" bIns="91425" anchor="b" anchorCtr="0">
            <a:noAutofit/>
          </a:bodyPr>
          <a:lstStyle>
            <a:lvl1pPr lvl="0" algn="ctr" rtl="0">
              <a:spcBef>
                <a:spcPts val="0"/>
              </a:spcBef>
              <a:spcAft>
                <a:spcPts val="0"/>
              </a:spcAft>
              <a:buSzPts val="3500"/>
              <a:buNone/>
              <a:defRPr sz="3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61" name="Google Shape;261;p23"/>
          <p:cNvGrpSpPr/>
          <p:nvPr/>
        </p:nvGrpSpPr>
        <p:grpSpPr>
          <a:xfrm>
            <a:off x="-35700" y="-30000"/>
            <a:ext cx="9215400" cy="5203500"/>
            <a:chOff x="-35700" y="-30000"/>
            <a:chExt cx="9215400" cy="5203500"/>
          </a:xfrm>
        </p:grpSpPr>
        <p:cxnSp>
          <p:nvCxnSpPr>
            <p:cNvPr id="262" name="Google Shape;262;p23"/>
            <p:cNvCxnSpPr/>
            <p:nvPr/>
          </p:nvCxnSpPr>
          <p:spPr>
            <a:xfrm>
              <a:off x="-21425" y="2571750"/>
              <a:ext cx="6471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23"/>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264" name="Google Shape;264;p23"/>
            <p:cNvCxnSpPr/>
            <p:nvPr/>
          </p:nvCxnSpPr>
          <p:spPr>
            <a:xfrm rot="5400000">
              <a:off x="-1965275"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265" name="Google Shape;265;p23"/>
          <p:cNvSpPr/>
          <p:nvPr/>
        </p:nvSpPr>
        <p:spPr>
          <a:xfrm>
            <a:off x="181925" y="124175"/>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bg>
      <p:bgPr>
        <a:blipFill>
          <a:blip r:embed="rId2">
            <a:alphaModFix/>
          </a:blip>
          <a:stretch>
            <a:fillRect/>
          </a:stretch>
        </a:blipFill>
        <a:effectLst/>
      </p:bgPr>
    </p:bg>
    <p:spTree>
      <p:nvGrpSpPr>
        <p:cNvPr id="1" name="Shape 279"/>
        <p:cNvGrpSpPr/>
        <p:nvPr/>
      </p:nvGrpSpPr>
      <p:grpSpPr>
        <a:xfrm>
          <a:off x="0" y="0"/>
          <a:ext cx="0" cy="0"/>
          <a:chOff x="0" y="0"/>
          <a:chExt cx="0" cy="0"/>
        </a:xfrm>
      </p:grpSpPr>
      <p:grpSp>
        <p:nvGrpSpPr>
          <p:cNvPr id="280" name="Google Shape;280;p25"/>
          <p:cNvGrpSpPr/>
          <p:nvPr/>
        </p:nvGrpSpPr>
        <p:grpSpPr>
          <a:xfrm>
            <a:off x="-35700" y="-30000"/>
            <a:ext cx="9215400" cy="5203500"/>
            <a:chOff x="-35700" y="-30000"/>
            <a:chExt cx="9215400" cy="5203500"/>
          </a:xfrm>
        </p:grpSpPr>
        <p:cxnSp>
          <p:nvCxnSpPr>
            <p:cNvPr id="281" name="Google Shape;281;p25"/>
            <p:cNvCxnSpPr/>
            <p:nvPr/>
          </p:nvCxnSpPr>
          <p:spPr>
            <a:xfrm>
              <a:off x="-35700" y="4623597"/>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282" name="Google Shape;282;p25"/>
            <p:cNvCxnSpPr/>
            <p:nvPr/>
          </p:nvCxnSpPr>
          <p:spPr>
            <a:xfrm>
              <a:off x="8509900" y="2571750"/>
              <a:ext cx="636900" cy="0"/>
            </a:xfrm>
            <a:prstGeom prst="straightConnector1">
              <a:avLst/>
            </a:prstGeom>
            <a:noFill/>
            <a:ln w="9525" cap="flat" cmpd="sng">
              <a:solidFill>
                <a:schemeClr val="dk1"/>
              </a:solidFill>
              <a:prstDash val="solid"/>
              <a:round/>
              <a:headEnd type="none" w="med" len="med"/>
              <a:tailEnd type="none" w="med" len="med"/>
            </a:ln>
          </p:spPr>
        </p:cxnSp>
        <p:cxnSp>
          <p:nvCxnSpPr>
            <p:cNvPr id="283" name="Google Shape;283;p25"/>
            <p:cNvCxnSpPr/>
            <p:nvPr/>
          </p:nvCxnSpPr>
          <p:spPr>
            <a:xfrm rot="5400000">
              <a:off x="5912100"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284" name="Google Shape;284;p25"/>
          <p:cNvSpPr/>
          <p:nvPr/>
        </p:nvSpPr>
        <p:spPr>
          <a:xfrm>
            <a:off x="8712900" y="4751950"/>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bg>
      <p:bgPr>
        <a:blipFill>
          <a:blip r:embed="rId2">
            <a:alphaModFix/>
          </a:blip>
          <a:stretch>
            <a:fillRect/>
          </a:stretch>
        </a:blipFill>
        <a:effectLst/>
      </p:bgPr>
    </p:bg>
    <p:spTree>
      <p:nvGrpSpPr>
        <p:cNvPr id="1" name="Shape 285"/>
        <p:cNvGrpSpPr/>
        <p:nvPr/>
      </p:nvGrpSpPr>
      <p:grpSpPr>
        <a:xfrm>
          <a:off x="0" y="0"/>
          <a:ext cx="0" cy="0"/>
          <a:chOff x="0" y="0"/>
          <a:chExt cx="0" cy="0"/>
        </a:xfrm>
      </p:grpSpPr>
      <p:grpSp>
        <p:nvGrpSpPr>
          <p:cNvPr id="286" name="Google Shape;286;p26"/>
          <p:cNvGrpSpPr/>
          <p:nvPr/>
        </p:nvGrpSpPr>
        <p:grpSpPr>
          <a:xfrm>
            <a:off x="-35700" y="-30000"/>
            <a:ext cx="9215400" cy="5203500"/>
            <a:chOff x="-35700" y="-30000"/>
            <a:chExt cx="9215400" cy="5203500"/>
          </a:xfrm>
        </p:grpSpPr>
        <p:cxnSp>
          <p:nvCxnSpPr>
            <p:cNvPr id="287" name="Google Shape;287;p26"/>
            <p:cNvCxnSpPr/>
            <p:nvPr/>
          </p:nvCxnSpPr>
          <p:spPr>
            <a:xfrm>
              <a:off x="-21425" y="2571750"/>
              <a:ext cx="653400" cy="0"/>
            </a:xfrm>
            <a:prstGeom prst="straightConnector1">
              <a:avLst/>
            </a:prstGeom>
            <a:noFill/>
            <a:ln w="9525" cap="flat" cmpd="sng">
              <a:solidFill>
                <a:schemeClr val="dk1"/>
              </a:solidFill>
              <a:prstDash val="solid"/>
              <a:round/>
              <a:headEnd type="none" w="med" len="med"/>
              <a:tailEnd type="none" w="med" len="med"/>
            </a:ln>
          </p:spPr>
        </p:cxnSp>
        <p:cxnSp>
          <p:nvCxnSpPr>
            <p:cNvPr id="288" name="Google Shape;288;p26"/>
            <p:cNvCxnSpPr/>
            <p:nvPr/>
          </p:nvCxnSpPr>
          <p:spPr>
            <a:xfrm>
              <a:off x="-35700" y="529972"/>
              <a:ext cx="9215400" cy="0"/>
            </a:xfrm>
            <a:prstGeom prst="straightConnector1">
              <a:avLst/>
            </a:prstGeom>
            <a:noFill/>
            <a:ln w="9525" cap="flat" cmpd="sng">
              <a:solidFill>
                <a:schemeClr val="dk1"/>
              </a:solidFill>
              <a:prstDash val="solid"/>
              <a:round/>
              <a:headEnd type="none" w="med" len="med"/>
              <a:tailEnd type="none" w="med" len="med"/>
            </a:ln>
          </p:spPr>
        </p:cxnSp>
        <p:cxnSp>
          <p:nvCxnSpPr>
            <p:cNvPr id="289" name="Google Shape;289;p26"/>
            <p:cNvCxnSpPr/>
            <p:nvPr/>
          </p:nvCxnSpPr>
          <p:spPr>
            <a:xfrm rot="5400000">
              <a:off x="-1965275" y="2571750"/>
              <a:ext cx="5203500" cy="0"/>
            </a:xfrm>
            <a:prstGeom prst="straightConnector1">
              <a:avLst/>
            </a:prstGeom>
            <a:noFill/>
            <a:ln w="9525" cap="flat" cmpd="sng">
              <a:solidFill>
                <a:schemeClr val="dk1"/>
              </a:solidFill>
              <a:prstDash val="solid"/>
              <a:round/>
              <a:headEnd type="none" w="med" len="med"/>
              <a:tailEnd type="none" w="med" len="med"/>
            </a:ln>
          </p:spPr>
        </p:cxnSp>
      </p:grpSp>
      <p:sp>
        <p:nvSpPr>
          <p:cNvPr id="290" name="Google Shape;290;p26"/>
          <p:cNvSpPr/>
          <p:nvPr/>
        </p:nvSpPr>
        <p:spPr>
          <a:xfrm>
            <a:off x="181925" y="124175"/>
            <a:ext cx="273300" cy="273300"/>
          </a:xfrm>
          <a:prstGeom prst="star4">
            <a:avLst>
              <a:gd name="adj" fmla="val 125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0" tIns="91425" rIns="91425" bIns="91425" anchor="t" anchorCtr="0">
            <a:noAutofit/>
          </a:bodyPr>
          <a:lstStyle>
            <a:lvl1pPr lvl="0"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1pPr>
            <a:lvl2pPr lvl="1"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2pPr>
            <a:lvl3pPr lvl="2"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3pPr>
            <a:lvl4pPr lvl="3"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4pPr>
            <a:lvl5pPr lvl="4"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5pPr>
            <a:lvl6pPr lvl="5"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6pPr>
            <a:lvl7pPr lvl="6"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7pPr>
            <a:lvl8pPr lvl="7"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8pPr>
            <a:lvl9pPr lvl="8" rtl="0">
              <a:spcBef>
                <a:spcPts val="0"/>
              </a:spcBef>
              <a:spcAft>
                <a:spcPts val="0"/>
              </a:spcAft>
              <a:buClr>
                <a:schemeClr val="dk1"/>
              </a:buClr>
              <a:buSzPts val="3500"/>
              <a:buFont typeface="Old Standard TT"/>
              <a:buNone/>
              <a:defRPr sz="3500" b="1">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0" tIns="91425" rIns="91425" bIns="91425" anchor="t" anchorCtr="0">
            <a:noAutofit/>
          </a:bodyPr>
          <a:lstStyle>
            <a:lvl1pPr marL="457200" lvl="0" indent="-317500">
              <a:lnSpc>
                <a:spcPct val="115000"/>
              </a:lnSpc>
              <a:spcBef>
                <a:spcPts val="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1pPr>
            <a:lvl2pPr marL="914400" lvl="1"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2pPr>
            <a:lvl3pPr marL="1371600" lvl="2"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3pPr>
            <a:lvl4pPr marL="1828800" lvl="3"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4pPr>
            <a:lvl5pPr marL="2286000" lvl="4"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5pPr>
            <a:lvl6pPr marL="2743200" lvl="5"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6pPr>
            <a:lvl7pPr marL="3200400" lvl="6"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7pPr>
            <a:lvl8pPr marL="3657600" lvl="7" indent="-317500">
              <a:lnSpc>
                <a:spcPct val="115000"/>
              </a:lnSpc>
              <a:spcBef>
                <a:spcPts val="1600"/>
              </a:spcBef>
              <a:spcAft>
                <a:spcPts val="0"/>
              </a:spcAft>
              <a:buClr>
                <a:schemeClr val="dk1"/>
              </a:buClr>
              <a:buSzPts val="1400"/>
              <a:buFont typeface="Didact Gothic"/>
              <a:buChar char="○"/>
              <a:defRPr>
                <a:solidFill>
                  <a:schemeClr val="dk1"/>
                </a:solidFill>
                <a:latin typeface="Didact Gothic"/>
                <a:ea typeface="Didact Gothic"/>
                <a:cs typeface="Didact Gothic"/>
                <a:sym typeface="Didact Gothic"/>
              </a:defRPr>
            </a:lvl8pPr>
            <a:lvl9pPr marL="4114800" lvl="8" indent="-317500">
              <a:lnSpc>
                <a:spcPct val="115000"/>
              </a:lnSpc>
              <a:spcBef>
                <a:spcPts val="1600"/>
              </a:spcBef>
              <a:spcAft>
                <a:spcPts val="1600"/>
              </a:spcAft>
              <a:buClr>
                <a:schemeClr val="dk1"/>
              </a:buClr>
              <a:buSzPts val="1400"/>
              <a:buFont typeface="Didact Gothic"/>
              <a:buChar char="■"/>
              <a:defRPr>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4" r:id="rId5"/>
    <p:sldLayoutId id="2147483655" r:id="rId6"/>
    <p:sldLayoutId id="2147483657" r:id="rId7"/>
    <p:sldLayoutId id="2147483658" r:id="rId8"/>
    <p:sldLayoutId id="2147483661" r:id="rId9"/>
    <p:sldLayoutId id="2147483663" r:id="rId10"/>
    <p:sldLayoutId id="2147483664" r:id="rId11"/>
    <p:sldLayoutId id="2147483666" r:id="rId12"/>
    <p:sldLayoutId id="2147483669" r:id="rId13"/>
    <p:sldLayoutId id="2147483671" r:id="rId14"/>
    <p:sldLayoutId id="2147483672" r:id="rId1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4.jfif"/></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notesSlide" Target="../notesSlides/notesSlide6.xml"/><Relationship Id="rId16"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0.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comments" Target="../comments/comment1.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0"/>
        <p:cNvGrpSpPr/>
        <p:nvPr/>
      </p:nvGrpSpPr>
      <p:grpSpPr>
        <a:xfrm>
          <a:off x="0" y="0"/>
          <a:ext cx="0" cy="0"/>
          <a:chOff x="0" y="0"/>
          <a:chExt cx="0" cy="0"/>
        </a:xfrm>
      </p:grpSpPr>
      <p:sp>
        <p:nvSpPr>
          <p:cNvPr id="301" name="Google Shape;301;p30"/>
          <p:cNvSpPr txBox="1">
            <a:spLocks noGrp="1"/>
          </p:cNvSpPr>
          <p:nvPr>
            <p:ph type="ctrTitle"/>
          </p:nvPr>
        </p:nvSpPr>
        <p:spPr>
          <a:xfrm>
            <a:off x="1484100" y="1431600"/>
            <a:ext cx="6175800" cy="1640400"/>
          </a:xfrm>
          <a:prstGeom prst="rect">
            <a:avLst/>
          </a:prstGeom>
        </p:spPr>
        <p:txBody>
          <a:bodyPr spcFirstLastPara="1" wrap="square" lIns="0" tIns="91425" rIns="91425" bIns="91425" anchor="b" anchorCtr="0">
            <a:noAutofit/>
          </a:bodyPr>
          <a:lstStyle/>
          <a:p>
            <a:pPr lvl="0"/>
            <a:r>
              <a:rPr lang="fr-FR" sz="2400" dirty="0" smtClean="0">
                <a:latin typeface="Hotel De Paris" pitchFamily="50" charset="0"/>
                <a:cs typeface="Times New Roman" panose="02020603050405020304" pitchFamily="18" charset="0"/>
              </a:rPr>
              <a:t>Le </a:t>
            </a:r>
            <a:r>
              <a:rPr lang="fr-FR" sz="2400" dirty="0">
                <a:latin typeface="Hotel De Paris" pitchFamily="50" charset="0"/>
                <a:cs typeface="Times New Roman" panose="02020603050405020304" pitchFamily="18" charset="0"/>
              </a:rPr>
              <a:t>mécanisme </a:t>
            </a:r>
            <a:r>
              <a:rPr lang="fr-FR" sz="2400" dirty="0" smtClean="0">
                <a:latin typeface="Hotel De Paris" pitchFamily="50" charset="0"/>
                <a:cs typeface="Times New Roman" panose="02020603050405020304" pitchFamily="18" charset="0"/>
              </a:rPr>
              <a:t>d'anneau et lacunaire d’anneau dans les</a:t>
            </a:r>
            <a:r>
              <a:rPr lang="fr-FR" sz="2400" dirty="0">
                <a:latin typeface="Hotel De Paris" pitchFamily="50" charset="0"/>
                <a:cs typeface="Times New Roman" panose="02020603050405020304" pitchFamily="18" charset="0"/>
              </a:rPr>
              <a:t/>
            </a:r>
            <a:br>
              <a:rPr lang="fr-FR" sz="2400" dirty="0">
                <a:latin typeface="Hotel De Paris" pitchFamily="50" charset="0"/>
                <a:cs typeface="Times New Roman" panose="02020603050405020304" pitchFamily="18" charset="0"/>
              </a:rPr>
            </a:br>
            <a:r>
              <a:rPr lang="fr-FR" sz="2400" dirty="0">
                <a:latin typeface="Hotel De Paris" pitchFamily="50" charset="0"/>
                <a:cs typeface="Times New Roman" panose="02020603050405020304" pitchFamily="18" charset="0"/>
              </a:rPr>
              <a:t>Métaux purs</a:t>
            </a:r>
            <a:endParaRPr sz="2400" dirty="0">
              <a:solidFill>
                <a:schemeClr val="dk1"/>
              </a:solidFill>
              <a:latin typeface="Hotel De Paris" pitchFamily="50" charset="0"/>
              <a:cs typeface="Times New Roman" panose="02020603050405020304" pitchFamily="18" charset="0"/>
            </a:endParaRPr>
          </a:p>
        </p:txBody>
      </p:sp>
      <p:sp>
        <p:nvSpPr>
          <p:cNvPr id="302" name="Google Shape;302;p30"/>
          <p:cNvSpPr txBox="1">
            <a:spLocks noGrp="1"/>
          </p:cNvSpPr>
          <p:nvPr>
            <p:ph type="subTitle" idx="1"/>
          </p:nvPr>
        </p:nvSpPr>
        <p:spPr>
          <a:xfrm>
            <a:off x="472278" y="4225075"/>
            <a:ext cx="3009476" cy="393600"/>
          </a:xfrm>
          <a:prstGeom prst="rect">
            <a:avLst/>
          </a:prstGeom>
        </p:spPr>
        <p:txBody>
          <a:bodyPr spcFirstLastPara="1" wrap="square" lIns="0" tIns="91425" rIns="91425" bIns="91425" anchor="t" anchorCtr="0">
            <a:noAutofit/>
          </a:bodyPr>
          <a:lstStyle/>
          <a:p>
            <a:pPr marL="0" lvl="0" indent="0" algn="ctr">
              <a:spcBef>
                <a:spcPts val="0"/>
              </a:spcBef>
              <a:spcAft>
                <a:spcPts val="0"/>
              </a:spcAft>
              <a:buNone/>
            </a:pPr>
            <a:r>
              <a:rPr lang="fr-FR" sz="1200" u="sng" dirty="0" smtClean="0">
                <a:latin typeface="Times New Roman" panose="02020603050405020304" pitchFamily="18" charset="0"/>
                <a:ea typeface="Yu Gothic" panose="020B0400000000000000" pitchFamily="34" charset="-128"/>
                <a:cs typeface="Times New Roman" panose="02020603050405020304" pitchFamily="18" charset="0"/>
              </a:rPr>
              <a:t>R</a:t>
            </a:r>
            <a:r>
              <a:rPr lang="en" sz="1200" u="sng" dirty="0">
                <a:latin typeface="Times New Roman" panose="02020603050405020304" pitchFamily="18" charset="0"/>
                <a:ea typeface="Yu Gothic" panose="020B0400000000000000" pitchFamily="34" charset="-128"/>
                <a:cs typeface="Times New Roman" panose="02020603050405020304" pitchFamily="18" charset="0"/>
              </a:rPr>
              <a:t>é</a:t>
            </a:r>
            <a:r>
              <a:rPr lang="en" sz="1200" u="sng" dirty="0" smtClean="0">
                <a:latin typeface="Times New Roman" panose="02020603050405020304" pitchFamily="18" charset="0"/>
                <a:ea typeface="Yu Gothic" panose="020B0400000000000000" pitchFamily="34" charset="-128"/>
                <a:cs typeface="Times New Roman" panose="02020603050405020304" pitchFamily="18" charset="0"/>
              </a:rPr>
              <a:t>alisé par</a:t>
            </a:r>
            <a:r>
              <a:rPr lang="en" sz="1200" dirty="0" smtClean="0">
                <a:latin typeface="Times New Roman" panose="02020603050405020304" pitchFamily="18" charset="0"/>
                <a:ea typeface="Yu Gothic" panose="020B0400000000000000" pitchFamily="34" charset="-128"/>
                <a:cs typeface="Times New Roman" panose="02020603050405020304" pitchFamily="18" charset="0"/>
              </a:rPr>
              <a:t> </a:t>
            </a:r>
            <a:r>
              <a:rPr lang="en" sz="1200" dirty="0" smtClean="0">
                <a:latin typeface="Times New Roman" panose="02020603050405020304" pitchFamily="18" charset="0"/>
                <a:ea typeface="Yu Gothic" panose="020B0400000000000000" pitchFamily="34" charset="-128"/>
                <a:cs typeface="Times New Roman" panose="02020603050405020304" pitchFamily="18" charset="0"/>
              </a:rPr>
              <a:t>: </a:t>
            </a:r>
            <a:r>
              <a:rPr lang="en" sz="1200" dirty="0" smtClean="0">
                <a:effectLst>
                  <a:outerShdw blurRad="38100" dist="38100" dir="2700000" algn="tl">
                    <a:srgbClr val="000000">
                      <a:alpha val="43137"/>
                    </a:srgbClr>
                  </a:outerShdw>
                </a:effectLst>
                <a:latin typeface="Times New Roman" panose="02020603050405020304" pitchFamily="18" charset="0"/>
                <a:ea typeface="Yu Gothic" panose="020B0400000000000000" pitchFamily="34" charset="-128"/>
                <a:cs typeface="Times New Roman" panose="02020603050405020304" pitchFamily="18" charset="0"/>
              </a:rPr>
              <a:t>Younes MOUKHLIJ</a:t>
            </a:r>
            <a:endParaRPr sz="1200" dirty="0">
              <a:effectLst>
                <a:outerShdw blurRad="38100" dist="38100" dir="2700000" algn="tl">
                  <a:srgbClr val="000000">
                    <a:alpha val="43137"/>
                  </a:srgbClr>
                </a:outerShdw>
              </a:effectLst>
              <a:latin typeface="Times New Roman" panose="02020603050405020304" pitchFamily="18" charset="0"/>
              <a:ea typeface="Yu Gothic" panose="020B0400000000000000" pitchFamily="34" charset="-128"/>
              <a:cs typeface="Times New Roman" panose="02020603050405020304" pitchFamily="18" charset="0"/>
            </a:endParaRPr>
          </a:p>
        </p:txBody>
      </p:sp>
      <p:sp>
        <p:nvSpPr>
          <p:cNvPr id="303" name="Google Shape;303;p30"/>
          <p:cNvSpPr txBox="1">
            <a:spLocks noGrp="1"/>
          </p:cNvSpPr>
          <p:nvPr>
            <p:ph type="subTitle" idx="1"/>
          </p:nvPr>
        </p:nvSpPr>
        <p:spPr>
          <a:xfrm>
            <a:off x="1724250" y="-7954"/>
            <a:ext cx="5695500" cy="53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00" i="1" dirty="0" smtClean="0">
                <a:solidFill>
                  <a:schemeClr val="tx1"/>
                </a:solidFill>
                <a:latin typeface="Times New Roman" panose="02020603050405020304" pitchFamily="18" charset="0"/>
                <a:ea typeface="Old Standard TT"/>
                <a:cs typeface="Times New Roman" panose="02020603050405020304" pitchFamily="18" charset="0"/>
                <a:sym typeface="Old Standard TT"/>
              </a:rPr>
              <a:t>Universite Soultane Moulay Slimane</a:t>
            </a:r>
          </a:p>
          <a:p>
            <a:pPr marL="0" lvl="0" indent="0" algn="ctr" rtl="0">
              <a:spcBef>
                <a:spcPts val="0"/>
              </a:spcBef>
              <a:spcAft>
                <a:spcPts val="0"/>
              </a:spcAft>
              <a:buNone/>
            </a:pPr>
            <a:r>
              <a:rPr lang="en" sz="1100" i="1" dirty="0" smtClean="0">
                <a:solidFill>
                  <a:schemeClr val="tx1"/>
                </a:solidFill>
                <a:latin typeface="Times New Roman" panose="02020603050405020304" pitchFamily="18" charset="0"/>
                <a:ea typeface="Old Standard TT"/>
                <a:cs typeface="Times New Roman" panose="02020603050405020304" pitchFamily="18" charset="0"/>
                <a:sym typeface="Old Standard TT"/>
              </a:rPr>
              <a:t>Faculté Polydisciplinaire de Khouribga</a:t>
            </a:r>
            <a:endParaRPr sz="1100" i="1" dirty="0">
              <a:solidFill>
                <a:schemeClr val="tx1"/>
              </a:solidFill>
              <a:latin typeface="Times New Roman" panose="02020603050405020304" pitchFamily="18" charset="0"/>
              <a:ea typeface="Old Standard TT"/>
              <a:cs typeface="Times New Roman" panose="02020603050405020304" pitchFamily="18" charset="0"/>
              <a:sym typeface="Old Standard TT"/>
            </a:endParaRPr>
          </a:p>
        </p:txBody>
      </p:sp>
      <p:sp>
        <p:nvSpPr>
          <p:cNvPr id="304" name="Google Shape;304;p30"/>
          <p:cNvSpPr txBox="1">
            <a:spLocks noGrp="1"/>
          </p:cNvSpPr>
          <p:nvPr>
            <p:ph type="subTitle" idx="1"/>
          </p:nvPr>
        </p:nvSpPr>
        <p:spPr>
          <a:xfrm>
            <a:off x="0" y="-7950"/>
            <a:ext cx="622500" cy="53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1400" dirty="0" smtClean="0">
                <a:latin typeface="Old Standard TT"/>
                <a:ea typeface="Old Standard TT"/>
                <a:cs typeface="Old Standard TT"/>
                <a:sym typeface="Old Standard TT"/>
              </a:rPr>
              <a:t>20</a:t>
            </a:r>
          </a:p>
          <a:p>
            <a:pPr marL="0" lvl="0" indent="0" algn="ctr" rtl="0">
              <a:spcBef>
                <a:spcPts val="0"/>
              </a:spcBef>
              <a:spcAft>
                <a:spcPts val="0"/>
              </a:spcAft>
              <a:buNone/>
            </a:pPr>
            <a:r>
              <a:rPr lang="fr-FR" sz="1400" dirty="0" smtClean="0">
                <a:latin typeface="Old Standard TT"/>
                <a:ea typeface="Old Standard TT"/>
                <a:cs typeface="Old Standard TT"/>
                <a:sym typeface="Old Standard TT"/>
              </a:rPr>
              <a:t>22</a:t>
            </a:r>
            <a:endParaRPr sz="1400" dirty="0">
              <a:latin typeface="Old Standard TT"/>
              <a:ea typeface="Old Standard TT"/>
              <a:cs typeface="Old Standard TT"/>
              <a:sym typeface="Old Standard TT"/>
            </a:endParaRPr>
          </a:p>
        </p:txBody>
      </p:sp>
      <p:sp>
        <p:nvSpPr>
          <p:cNvPr id="305" name="Google Shape;305;p30"/>
          <p:cNvSpPr txBox="1">
            <a:spLocks noGrp="1"/>
          </p:cNvSpPr>
          <p:nvPr>
            <p:ph type="subTitle" idx="1"/>
          </p:nvPr>
        </p:nvSpPr>
        <p:spPr>
          <a:xfrm>
            <a:off x="1724250" y="4697047"/>
            <a:ext cx="5695500" cy="53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1200" b="1" i="1" dirty="0" smtClean="0">
                <a:latin typeface="Times New Roman" panose="02020603050405020304" pitchFamily="18" charset="0"/>
                <a:ea typeface="Old Standard TT"/>
                <a:cs typeface="Times New Roman" panose="02020603050405020304" pitchFamily="18" charset="0"/>
                <a:sym typeface="Old Standard TT"/>
              </a:rPr>
              <a:t>Master Matière et Rayonnement</a:t>
            </a:r>
            <a:endParaRPr sz="1200" b="1" i="1" dirty="0">
              <a:latin typeface="Times New Roman" panose="02020603050405020304" pitchFamily="18" charset="0"/>
              <a:ea typeface="Old Standard TT"/>
              <a:cs typeface="Times New Roman" panose="02020603050405020304" pitchFamily="18" charset="0"/>
              <a:sym typeface="Old Standard TT"/>
            </a:endParaRPr>
          </a:p>
        </p:txBody>
      </p:sp>
      <p:sp>
        <p:nvSpPr>
          <p:cNvPr id="306" name="Google Shape;306;p30"/>
          <p:cNvSpPr txBox="1">
            <a:spLocks noGrp="1"/>
          </p:cNvSpPr>
          <p:nvPr>
            <p:ph type="subTitle" idx="1"/>
          </p:nvPr>
        </p:nvSpPr>
        <p:spPr>
          <a:xfrm>
            <a:off x="8521600" y="4618675"/>
            <a:ext cx="622500" cy="53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latin typeface="Old Standard TT"/>
                <a:ea typeface="Old Standard TT"/>
                <a:cs typeface="Old Standard TT"/>
                <a:sym typeface="Old Standard TT"/>
              </a:rPr>
              <a:t>20</a:t>
            </a:r>
            <a:endParaRPr sz="1400">
              <a:latin typeface="Old Standard TT"/>
              <a:ea typeface="Old Standard TT"/>
              <a:cs typeface="Old Standard TT"/>
              <a:sym typeface="Old Standard TT"/>
            </a:endParaRPr>
          </a:p>
          <a:p>
            <a:pPr marL="0" lvl="0" indent="0" algn="ctr" rtl="0">
              <a:spcBef>
                <a:spcPts val="0"/>
              </a:spcBef>
              <a:spcAft>
                <a:spcPts val="0"/>
              </a:spcAft>
              <a:buNone/>
            </a:pPr>
            <a:r>
              <a:rPr lang="en" sz="1400">
                <a:latin typeface="Old Standard TT"/>
                <a:ea typeface="Old Standard TT"/>
                <a:cs typeface="Old Standard TT"/>
                <a:sym typeface="Old Standard TT"/>
              </a:rPr>
              <a:t>22</a:t>
            </a:r>
            <a:endParaRPr sz="1400" dirty="0">
              <a:latin typeface="Old Standard TT"/>
              <a:ea typeface="Old Standard TT"/>
              <a:cs typeface="Old Standard TT"/>
              <a:sym typeface="Old Standard TT"/>
            </a:endParaRPr>
          </a:p>
        </p:txBody>
      </p:sp>
      <p:sp>
        <p:nvSpPr>
          <p:cNvPr id="2" name="Rectangle 1"/>
          <p:cNvSpPr/>
          <p:nvPr/>
        </p:nvSpPr>
        <p:spPr>
          <a:xfrm>
            <a:off x="5763314" y="4283375"/>
            <a:ext cx="2783134" cy="276999"/>
          </a:xfrm>
          <a:prstGeom prst="rect">
            <a:avLst/>
          </a:prstGeom>
        </p:spPr>
        <p:txBody>
          <a:bodyPr wrap="none">
            <a:spAutoFit/>
          </a:bodyPr>
          <a:lstStyle/>
          <a:p>
            <a:pPr lvl="0" algn="ctr"/>
            <a:r>
              <a:rPr lang="fr-FR" sz="1200" u="sng" dirty="0" smtClean="0">
                <a:latin typeface="Times New Roman" panose="02020603050405020304" pitchFamily="18" charset="0"/>
                <a:ea typeface="Yu Gothic" panose="020B0400000000000000" pitchFamily="34" charset="-128"/>
                <a:cs typeface="Times New Roman" panose="02020603050405020304" pitchFamily="18" charset="0"/>
              </a:rPr>
              <a:t>Supervisé</a:t>
            </a:r>
            <a:r>
              <a:rPr lang="fr-FR" sz="1200" u="sng" dirty="0" smtClean="0">
                <a:latin typeface="Times New Roman" panose="02020603050405020304" pitchFamily="18" charset="0"/>
                <a:ea typeface="Yu Gothic" panose="020B0400000000000000" pitchFamily="34" charset="-128"/>
                <a:cs typeface="Times New Roman" panose="02020603050405020304" pitchFamily="18" charset="0"/>
              </a:rPr>
              <a:t> </a:t>
            </a:r>
            <a:r>
              <a:rPr lang="fr-FR" sz="1200" u="sng" dirty="0">
                <a:latin typeface="Times New Roman" panose="02020603050405020304" pitchFamily="18" charset="0"/>
                <a:ea typeface="Yu Gothic" panose="020B0400000000000000" pitchFamily="34" charset="-128"/>
                <a:cs typeface="Times New Roman" panose="02020603050405020304" pitchFamily="18" charset="0"/>
              </a:rPr>
              <a:t>par </a:t>
            </a:r>
            <a:r>
              <a:rPr lang="fr-FR" sz="1200" dirty="0" smtClean="0">
                <a:latin typeface="Times New Roman" panose="02020603050405020304" pitchFamily="18" charset="0"/>
                <a:ea typeface="Yu Gothic" panose="020B0400000000000000" pitchFamily="34" charset="-128"/>
                <a:cs typeface="Times New Roman" panose="02020603050405020304" pitchFamily="18" charset="0"/>
              </a:rPr>
              <a:t>: </a:t>
            </a:r>
            <a:r>
              <a:rPr lang="fr-FR" sz="1200" dirty="0" smtClean="0">
                <a:effectLst>
                  <a:outerShdw blurRad="38100" dist="38100" dir="2700000" algn="tl">
                    <a:srgbClr val="000000">
                      <a:alpha val="43137"/>
                    </a:srgbClr>
                  </a:outerShdw>
                </a:effectLst>
                <a:latin typeface="Times New Roman" panose="02020603050405020304" pitchFamily="18" charset="0"/>
                <a:ea typeface="Yu Gothic" panose="020B0400000000000000" pitchFamily="34" charset="-128"/>
                <a:cs typeface="Times New Roman" panose="02020603050405020304" pitchFamily="18" charset="0"/>
              </a:rPr>
              <a:t>Pr. Abdelatif HASNAOUI</a:t>
            </a:r>
            <a:endParaRPr lang="fr-FR" sz="1200" dirty="0">
              <a:effectLst>
                <a:outerShdw blurRad="38100" dist="38100" dir="2700000" algn="tl">
                  <a:srgbClr val="000000">
                    <a:alpha val="43137"/>
                  </a:srgbClr>
                </a:outerShdw>
              </a:effectLst>
              <a:latin typeface="Times New Roman" panose="02020603050405020304" pitchFamily="18" charset="0"/>
              <a:ea typeface="Yu Gothic" panose="020B0400000000000000" pitchFamily="34" charset="-128"/>
              <a:cs typeface="Times New Roman" panose="02020603050405020304" pitchFamily="18" charset="0"/>
            </a:endParaRPr>
          </a:p>
        </p:txBody>
      </p:sp>
      <p:pic>
        <p:nvPicPr>
          <p:cNvPr id="3" name="Picture 2"/>
          <p:cNvPicPr>
            <a:picLocks noChangeAspect="1"/>
          </p:cNvPicPr>
          <p:nvPr/>
        </p:nvPicPr>
        <p:blipFill>
          <a:blip r:embed="rId4">
            <a:extLst>
              <a:ext uri="{BEBA8EAE-BF5A-486C-A8C5-ECC9F3942E4B}">
                <a14:imgProps xmlns:a14="http://schemas.microsoft.com/office/drawing/2010/main">
                  <a14:imgLayer r:embed="rId5">
                    <a14:imgEffect>
                      <a14:backgroundRemoval t="7071" b="89899" l="5512" r="92520">
                        <a14:foregroundMark x1="82677" y1="66162" x2="82677" y2="66162"/>
                        <a14:foregroundMark x1="8268" y1="74242" x2="8268" y2="74242"/>
                        <a14:foregroundMark x1="5512" y1="77273" x2="5512" y2="77273"/>
                        <a14:foregroundMark x1="48819" y1="7071" x2="48819" y2="7071"/>
                        <a14:foregroundMark x1="92520" y1="79293" x2="92520" y2="79293"/>
                        <a14:foregroundMark x1="77165" y1="66667" x2="77165" y2="66667"/>
                        <a14:foregroundMark x1="73622" y1="63131" x2="73622" y2="63131"/>
                        <a14:foregroundMark x1="81496" y1="72222" x2="81496" y2="72222"/>
                        <a14:foregroundMark x1="82677" y1="74747" x2="82677" y2="74747"/>
                        <a14:foregroundMark x1="83071" y1="77273" x2="83071" y2="77273"/>
                        <a14:foregroundMark x1="87402" y1="79293" x2="87402" y2="79293"/>
                        <a14:foregroundMark x1="84646" y1="80303" x2="84646" y2="80303"/>
                        <a14:foregroundMark x1="13780" y1="80808" x2="13780" y2="80808"/>
                        <a14:foregroundMark x1="71260" y1="41414" x2="71260" y2="41414"/>
                        <a14:foregroundMark x1="69291" y1="38384" x2="69291" y2="38384"/>
                        <a14:foregroundMark x1="64173" y1="33333" x2="64173" y2="33333"/>
                      </a14:backgroundRemoval>
                    </a14:imgEffect>
                  </a14:imgLayer>
                </a14:imgProps>
              </a:ext>
              <a:ext uri="{28A0092B-C50C-407E-A947-70E740481C1C}">
                <a14:useLocalDpi xmlns:a14="http://schemas.microsoft.com/office/drawing/2010/main" val="0"/>
              </a:ext>
            </a:extLst>
          </a:blip>
          <a:stretch>
            <a:fillRect/>
          </a:stretch>
        </p:blipFill>
        <p:spPr>
          <a:xfrm>
            <a:off x="7708383" y="79586"/>
            <a:ext cx="632252" cy="492858"/>
          </a:xfrm>
          <a:prstGeom prst="rect">
            <a:avLst/>
          </a:prstGeom>
        </p:spPr>
      </p:pic>
      <p:pic>
        <p:nvPicPr>
          <p:cNvPr id="4" name="Picture 3"/>
          <p:cNvPicPr>
            <a:picLocks noChangeAspect="1"/>
          </p:cNvPicPr>
          <p:nvPr/>
        </p:nvPicPr>
        <p:blipFill>
          <a:blip r:embed="rId6">
            <a:extLst>
              <a:ext uri="{BEBA8EAE-BF5A-486C-A8C5-ECC9F3942E4B}">
                <a14:imgProps xmlns:a14="http://schemas.microsoft.com/office/drawing/2010/main">
                  <a14:imgLayer r:embed="rId7">
                    <a14:imgEffect>
                      <a14:backgroundRemoval t="0" b="77273" l="10044" r="89520">
                        <a14:foregroundMark x1="26201" y1="5909" x2="26201" y2="5909"/>
                        <a14:foregroundMark x1="33624" y1="6818" x2="33624" y2="6818"/>
                        <a14:foregroundMark x1="39738" y1="8182" x2="39738" y2="8182"/>
                        <a14:foregroundMark x1="32314" y1="12727" x2="32314" y2="12727"/>
                        <a14:foregroundMark x1="26201" y1="15000" x2="26201" y2="15000"/>
                        <a14:foregroundMark x1="31878" y1="23636" x2="31878" y2="23636"/>
                        <a14:foregroundMark x1="42795" y1="1818" x2="42795" y2="1818"/>
                        <a14:foregroundMark x1="48908" y1="12727" x2="48908" y2="12727"/>
                        <a14:foregroundMark x1="44541" y1="19545" x2="44541" y2="19545"/>
                        <a14:foregroundMark x1="36245" y1="14091" x2="36245" y2="14091"/>
                        <a14:backgroundMark x1="45415" y1="18636" x2="45415" y2="18636"/>
                        <a14:backgroundMark x1="48472" y1="13182" x2="48472" y2="13182"/>
                        <a14:backgroundMark x1="44541" y1="19091" x2="44541" y2="19091"/>
                        <a14:backgroundMark x1="42358" y1="23636" x2="42358" y2="23636"/>
                        <a14:backgroundMark x1="38428" y1="26364" x2="38428" y2="26364"/>
                      </a14:backgroundRemoval>
                    </a14:imgEffect>
                  </a14:imgLayer>
                </a14:imgProps>
              </a:ext>
              <a:ext uri="{28A0092B-C50C-407E-A947-70E740481C1C}">
                <a14:useLocalDpi xmlns:a14="http://schemas.microsoft.com/office/drawing/2010/main" val="0"/>
              </a:ext>
            </a:extLst>
          </a:blip>
          <a:stretch>
            <a:fillRect/>
          </a:stretch>
        </p:blipFill>
        <p:spPr>
          <a:xfrm>
            <a:off x="622500" y="29677"/>
            <a:ext cx="614933" cy="590766"/>
          </a:xfrm>
          <a:prstGeom prst="rect">
            <a:avLst/>
          </a:prstGeom>
        </p:spPr>
      </p:pic>
      <p:sp>
        <p:nvSpPr>
          <p:cNvPr id="5" name="Rectangle 4"/>
          <p:cNvSpPr/>
          <p:nvPr/>
        </p:nvSpPr>
        <p:spPr>
          <a:xfrm>
            <a:off x="3428219" y="3309847"/>
            <a:ext cx="2359940" cy="307777"/>
          </a:xfrm>
          <a:prstGeom prst="rect">
            <a:avLst/>
          </a:prstGeom>
        </p:spPr>
        <p:txBody>
          <a:bodyPr wrap="none">
            <a:spAutoFit/>
          </a:bodyPr>
          <a:lstStyle/>
          <a:p>
            <a:pPr lvl="0" algn="ctr"/>
            <a:r>
              <a:rPr lang="fr-FR" dirty="0" smtClean="0">
                <a:latin typeface="Times New Roman" panose="02020603050405020304" pitchFamily="18" charset="0"/>
                <a:ea typeface="Yu Gothic" panose="020B0400000000000000" pitchFamily="34" charset="-128"/>
                <a:cs typeface="Times New Roman" panose="02020603050405020304" pitchFamily="18" charset="0"/>
              </a:rPr>
              <a:t>Module : Défauts &amp; Diffusion</a:t>
            </a:r>
            <a:endParaRPr lang="fr-FR" dirty="0">
              <a:latin typeface="Times New Roman" panose="02020603050405020304" pitchFamily="18" charset="0"/>
              <a:ea typeface="Yu Gothic" panose="020B0400000000000000" pitchFamily="34" charset="-128"/>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2" name="Google Shape;320;p32"/>
          <p:cNvSpPr txBox="1">
            <a:spLocks noGrp="1"/>
          </p:cNvSpPr>
          <p:nvPr>
            <p:ph type="title"/>
          </p:nvPr>
        </p:nvSpPr>
        <p:spPr>
          <a:xfrm>
            <a:off x="1084025" y="1181160"/>
            <a:ext cx="2803200" cy="527700"/>
          </a:xfrm>
          <a:prstGeom prst="rect">
            <a:avLst/>
          </a:prstGeom>
        </p:spPr>
        <p:txBody>
          <a:bodyPr spcFirstLastPara="1" wrap="square" lIns="0" tIns="91425" rIns="91425" bIns="91425" anchor="b" anchorCtr="0">
            <a:noAutofit/>
          </a:bodyPr>
          <a:lstStyle/>
          <a:p>
            <a:pPr lvl="0">
              <a:buClr>
                <a:srgbClr val="000000"/>
              </a:buClr>
              <a:buFont typeface="Arial"/>
            </a:pPr>
            <a:r>
              <a:rPr lang="fr-FR" sz="1600" dirty="0" smtClean="0">
                <a:latin typeface="Old Standard TT" panose="020B0604020202020204" charset="0"/>
                <a:sym typeface="Arial"/>
              </a:rPr>
              <a:t>- Introduction.</a:t>
            </a:r>
            <a:endParaRPr sz="1600" dirty="0">
              <a:latin typeface="Old Standard TT" panose="020B0604020202020204" charset="0"/>
              <a:sym typeface="Arial"/>
            </a:endParaRPr>
          </a:p>
        </p:txBody>
      </p:sp>
      <p:sp>
        <p:nvSpPr>
          <p:cNvPr id="33" name="Google Shape;321;p32"/>
          <p:cNvSpPr txBox="1">
            <a:spLocks/>
          </p:cNvSpPr>
          <p:nvPr/>
        </p:nvSpPr>
        <p:spPr>
          <a:xfrm>
            <a:off x="5204313" y="2932154"/>
            <a:ext cx="535200"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b="1" dirty="0">
                <a:solidFill>
                  <a:schemeClr val="dk1"/>
                </a:solidFill>
                <a:latin typeface="Old Standard TT" panose="020B0604020202020204" charset="0"/>
                <a:ea typeface="Old Standard TT"/>
                <a:cs typeface="Old Standard TT"/>
              </a:rPr>
              <a:t>05</a:t>
            </a:r>
          </a:p>
        </p:txBody>
      </p:sp>
      <p:sp>
        <p:nvSpPr>
          <p:cNvPr id="34" name="Google Shape;322;p32"/>
          <p:cNvSpPr txBox="1">
            <a:spLocks noGrp="1"/>
          </p:cNvSpPr>
          <p:nvPr>
            <p:ph type="subTitle" idx="1"/>
          </p:nvPr>
        </p:nvSpPr>
        <p:spPr>
          <a:xfrm>
            <a:off x="1506402" y="1649160"/>
            <a:ext cx="2805600" cy="527700"/>
          </a:xfrm>
          <a:prstGeom prst="rect">
            <a:avLst/>
          </a:prstGeom>
        </p:spPr>
        <p:txBody>
          <a:bodyPr spcFirstLastPara="1" wrap="square" lIns="0" tIns="91425" rIns="91425" bIns="91425" anchor="t" anchorCtr="0">
            <a:noAutofit/>
          </a:bodyPr>
          <a:lstStyle/>
          <a:p>
            <a:pPr marL="285750" lvl="0" indent="-285750" algn="l" rtl="0">
              <a:spcBef>
                <a:spcPts val="0"/>
              </a:spcBef>
              <a:spcAft>
                <a:spcPts val="0"/>
              </a:spcAft>
              <a:buFont typeface="Arial" panose="020B0604020202020204" pitchFamily="34" charset="0"/>
              <a:buChar char="•"/>
            </a:pPr>
            <a:r>
              <a:rPr lang="fr-FR" dirty="0">
                <a:latin typeface="Old Standard TT" panose="020B0604020202020204" charset="0"/>
              </a:rPr>
              <a:t>G</a:t>
            </a:r>
            <a:r>
              <a:rPr lang="fr-FR" dirty="0" smtClean="0">
                <a:latin typeface="Old Standard TT" panose="020B0604020202020204" charset="0"/>
              </a:rPr>
              <a:t>énéralités</a:t>
            </a:r>
            <a:endParaRPr dirty="0">
              <a:latin typeface="Old Standard TT" panose="020B0604020202020204" charset="0"/>
            </a:endParaRPr>
          </a:p>
        </p:txBody>
      </p:sp>
      <p:sp>
        <p:nvSpPr>
          <p:cNvPr id="35" name="Google Shape;323;p32"/>
          <p:cNvSpPr txBox="1">
            <a:spLocks/>
          </p:cNvSpPr>
          <p:nvPr/>
        </p:nvSpPr>
        <p:spPr>
          <a:xfrm>
            <a:off x="1078671" y="1998725"/>
            <a:ext cx="3481135"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1600" b="1" dirty="0" smtClean="0">
                <a:solidFill>
                  <a:schemeClr val="dk1"/>
                </a:solidFill>
                <a:latin typeface="Old Standard TT" panose="020B0604020202020204" charset="0"/>
                <a:ea typeface="Old Standard TT"/>
                <a:cs typeface="Old Standard TT"/>
                <a:sym typeface="Old Standard TT"/>
              </a:rPr>
              <a:t>- Le </a:t>
            </a:r>
            <a:r>
              <a:rPr lang="fr-FR" sz="1600" b="1" dirty="0">
                <a:solidFill>
                  <a:schemeClr val="dk1"/>
                </a:solidFill>
                <a:latin typeface="Old Standard TT" panose="020B0604020202020204" charset="0"/>
                <a:ea typeface="Old Standard TT"/>
                <a:cs typeface="Old Standard TT"/>
                <a:sym typeface="Old Standard TT"/>
              </a:rPr>
              <a:t>mécanisme </a:t>
            </a:r>
            <a:r>
              <a:rPr lang="fr-FR" sz="1600" b="1" dirty="0" smtClean="0">
                <a:solidFill>
                  <a:schemeClr val="dk1"/>
                </a:solidFill>
                <a:latin typeface="Old Standard TT" panose="020B0604020202020204" charset="0"/>
                <a:ea typeface="Old Standard TT"/>
                <a:cs typeface="Old Standard TT"/>
                <a:sym typeface="Old Standard TT"/>
              </a:rPr>
              <a:t>d'anneau.</a:t>
            </a:r>
            <a:endParaRPr lang="fr-FR" sz="1600" b="1" dirty="0">
              <a:solidFill>
                <a:schemeClr val="dk1"/>
              </a:solidFill>
              <a:latin typeface="Old Standard TT" panose="020B0604020202020204" charset="0"/>
              <a:ea typeface="Old Standard TT"/>
              <a:cs typeface="Old Standard TT"/>
              <a:sym typeface="Old Standard TT"/>
            </a:endParaRPr>
          </a:p>
        </p:txBody>
      </p:sp>
      <p:sp>
        <p:nvSpPr>
          <p:cNvPr id="36" name="Google Shape;324;p32"/>
          <p:cNvSpPr txBox="1">
            <a:spLocks/>
          </p:cNvSpPr>
          <p:nvPr/>
        </p:nvSpPr>
        <p:spPr>
          <a:xfrm>
            <a:off x="815258" y="2003595"/>
            <a:ext cx="537300"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b="1" dirty="0">
                <a:solidFill>
                  <a:schemeClr val="dk1"/>
                </a:solidFill>
                <a:latin typeface="Old Standard TT" panose="020B0604020202020204" charset="0"/>
                <a:ea typeface="Old Standard TT"/>
                <a:cs typeface="Old Standard TT"/>
              </a:rPr>
              <a:t>02</a:t>
            </a:r>
          </a:p>
        </p:txBody>
      </p:sp>
      <p:sp>
        <p:nvSpPr>
          <p:cNvPr id="37" name="Google Shape;325;p32"/>
          <p:cNvSpPr txBox="1">
            <a:spLocks/>
          </p:cNvSpPr>
          <p:nvPr/>
        </p:nvSpPr>
        <p:spPr>
          <a:xfrm>
            <a:off x="1470233" y="2396752"/>
            <a:ext cx="2805600" cy="527700"/>
          </a:xfrm>
          <a:prstGeom prst="rect">
            <a:avLst/>
          </a:prstGeom>
        </p:spPr>
        <p:txBody>
          <a:bodyPr spcFirstLastPara="1" wrap="square" lIns="0"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fr-FR" dirty="0" smtClean="0">
                <a:latin typeface="Old Standard TT" panose="020B0604020202020204" charset="0"/>
                <a:cs typeface="Times New Roman" panose="02020603050405020304" pitchFamily="18" charset="0"/>
              </a:rPr>
              <a:t>Présentation du mécanisme.</a:t>
            </a:r>
          </a:p>
          <a:p>
            <a:pPr marL="285750" indent="-285750">
              <a:buFont typeface="Arial" panose="020B0604020202020204" pitchFamily="34" charset="0"/>
              <a:buChar char="•"/>
            </a:pPr>
            <a:r>
              <a:rPr lang="fr-FR" dirty="0" smtClean="0">
                <a:latin typeface="Old Standard TT" panose="020B0604020202020204" charset="0"/>
                <a:cs typeface="Times New Roman" panose="02020603050405020304" pitchFamily="18" charset="0"/>
              </a:rPr>
              <a:t>Modèle mathématique.</a:t>
            </a:r>
            <a:endParaRPr lang="fr-FR" dirty="0">
              <a:latin typeface="Old Standard TT" panose="020B0604020202020204" charset="0"/>
              <a:cs typeface="Times New Roman" panose="02020603050405020304" pitchFamily="18" charset="0"/>
            </a:endParaRPr>
          </a:p>
        </p:txBody>
      </p:sp>
      <p:sp>
        <p:nvSpPr>
          <p:cNvPr id="38" name="Google Shape;326;p32"/>
          <p:cNvSpPr txBox="1">
            <a:spLocks/>
          </p:cNvSpPr>
          <p:nvPr/>
        </p:nvSpPr>
        <p:spPr>
          <a:xfrm>
            <a:off x="1058500" y="3181345"/>
            <a:ext cx="4551336" cy="306408"/>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3500"/>
            </a:pPr>
            <a:r>
              <a:rPr lang="fr-FR" sz="1600" b="1" dirty="0" smtClean="0">
                <a:solidFill>
                  <a:schemeClr val="dk1"/>
                </a:solidFill>
                <a:latin typeface="Old Standard TT" panose="020B0604020202020204" charset="0"/>
                <a:ea typeface="Old Standard TT"/>
                <a:cs typeface="Old Standard TT"/>
              </a:rPr>
              <a:t>- Le </a:t>
            </a:r>
            <a:r>
              <a:rPr lang="fr-FR" sz="1600" b="1" dirty="0">
                <a:solidFill>
                  <a:schemeClr val="dk1"/>
                </a:solidFill>
                <a:latin typeface="Old Standard TT" panose="020B0604020202020204" charset="0"/>
                <a:ea typeface="Old Standard TT"/>
                <a:cs typeface="Old Standard TT"/>
              </a:rPr>
              <a:t>mécanisme </a:t>
            </a:r>
            <a:r>
              <a:rPr lang="fr-FR" sz="1600" b="1" dirty="0" smtClean="0">
                <a:solidFill>
                  <a:schemeClr val="dk1"/>
                </a:solidFill>
                <a:latin typeface="Old Standard TT" panose="020B0604020202020204" charset="0"/>
                <a:ea typeface="Old Standard TT"/>
                <a:cs typeface="Old Standard TT"/>
              </a:rPr>
              <a:t>lacunaire d'anneau.</a:t>
            </a:r>
            <a:endParaRPr lang="fr-FR" sz="1600" b="1" dirty="0">
              <a:solidFill>
                <a:schemeClr val="dk1"/>
              </a:solidFill>
              <a:latin typeface="Old Standard TT" panose="020B0604020202020204" charset="0"/>
              <a:ea typeface="Old Standard TT"/>
              <a:cs typeface="Old Standard TT"/>
            </a:endParaRPr>
          </a:p>
        </p:txBody>
      </p:sp>
      <p:sp>
        <p:nvSpPr>
          <p:cNvPr id="39" name="Google Shape;327;p32"/>
          <p:cNvSpPr txBox="1">
            <a:spLocks/>
          </p:cNvSpPr>
          <p:nvPr/>
        </p:nvSpPr>
        <p:spPr>
          <a:xfrm>
            <a:off x="810021" y="2960053"/>
            <a:ext cx="537300"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3500"/>
            </a:pPr>
            <a:r>
              <a:rPr lang="en" sz="1600" b="1" dirty="0">
                <a:solidFill>
                  <a:schemeClr val="dk1"/>
                </a:solidFill>
                <a:latin typeface="Old Standard TT" panose="020B0604020202020204" charset="0"/>
                <a:ea typeface="Old Standard TT"/>
                <a:cs typeface="Old Standard TT"/>
              </a:rPr>
              <a:t>03</a:t>
            </a:r>
          </a:p>
        </p:txBody>
      </p:sp>
      <p:sp>
        <p:nvSpPr>
          <p:cNvPr id="41" name="Google Shape;329;p32"/>
          <p:cNvSpPr txBox="1">
            <a:spLocks/>
          </p:cNvSpPr>
          <p:nvPr/>
        </p:nvSpPr>
        <p:spPr>
          <a:xfrm>
            <a:off x="5471913" y="1752270"/>
            <a:ext cx="3871603" cy="644482"/>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1600" b="1" dirty="0" smtClean="0">
                <a:solidFill>
                  <a:schemeClr val="dk1"/>
                </a:solidFill>
                <a:latin typeface="Old Standard TT" panose="020B0604020202020204" charset="0"/>
                <a:ea typeface="Old Standard TT"/>
                <a:cs typeface="Old Standard TT"/>
              </a:rPr>
              <a:t>- Résultat.</a:t>
            </a:r>
            <a:endParaRPr lang="fr-FR" sz="1600" b="1" dirty="0">
              <a:solidFill>
                <a:schemeClr val="dk1"/>
              </a:solidFill>
              <a:latin typeface="Old Standard TT" panose="020B0604020202020204" charset="0"/>
              <a:ea typeface="Old Standard TT"/>
              <a:cs typeface="Old Standard TT"/>
            </a:endParaRPr>
          </a:p>
        </p:txBody>
      </p:sp>
      <p:sp>
        <p:nvSpPr>
          <p:cNvPr id="42" name="Google Shape;330;p32"/>
          <p:cNvSpPr txBox="1">
            <a:spLocks/>
          </p:cNvSpPr>
          <p:nvPr/>
        </p:nvSpPr>
        <p:spPr>
          <a:xfrm>
            <a:off x="5204313" y="1875268"/>
            <a:ext cx="535200"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1600" b="1" dirty="0">
                <a:solidFill>
                  <a:schemeClr val="dk1"/>
                </a:solidFill>
                <a:latin typeface="Old Standard TT" panose="020B0604020202020204" charset="0"/>
                <a:ea typeface="Old Standard TT"/>
                <a:cs typeface="Old Standard TT"/>
              </a:rPr>
              <a:t>04</a:t>
            </a:r>
          </a:p>
        </p:txBody>
      </p:sp>
      <p:sp>
        <p:nvSpPr>
          <p:cNvPr id="44" name="Google Shape;333;p32"/>
          <p:cNvSpPr txBox="1">
            <a:spLocks/>
          </p:cNvSpPr>
          <p:nvPr/>
        </p:nvSpPr>
        <p:spPr>
          <a:xfrm>
            <a:off x="829515" y="1181073"/>
            <a:ext cx="676887"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3500"/>
            </a:pPr>
            <a:r>
              <a:rPr lang="en" sz="1600" b="1" dirty="0">
                <a:solidFill>
                  <a:schemeClr val="dk1"/>
                </a:solidFill>
                <a:latin typeface="Old Standard TT" panose="020B0604020202020204" charset="0"/>
                <a:ea typeface="Old Standard TT"/>
                <a:cs typeface="Old Standard TT"/>
                <a:sym typeface="Old Standard TT"/>
              </a:rPr>
              <a:t>01</a:t>
            </a:r>
          </a:p>
        </p:txBody>
      </p:sp>
      <p:sp>
        <p:nvSpPr>
          <p:cNvPr id="49" name="Google Shape;338;p32"/>
          <p:cNvSpPr txBox="1">
            <a:spLocks/>
          </p:cNvSpPr>
          <p:nvPr/>
        </p:nvSpPr>
        <p:spPr>
          <a:xfrm>
            <a:off x="621586" y="-98036"/>
            <a:ext cx="7704000" cy="6228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fr-FR" sz="2400" b="1" dirty="0">
                <a:solidFill>
                  <a:schemeClr val="dk1"/>
                </a:solidFill>
                <a:latin typeface="Times New Roman" panose="02020603050405020304" pitchFamily="18" charset="0"/>
                <a:ea typeface="Old Standard TT"/>
                <a:cs typeface="Times New Roman" panose="02020603050405020304" pitchFamily="18" charset="0"/>
                <a:sym typeface="Old Standard TT"/>
              </a:rPr>
              <a:t>Plan</a:t>
            </a:r>
          </a:p>
        </p:txBody>
      </p:sp>
      <p:sp>
        <p:nvSpPr>
          <p:cNvPr id="21" name="Google Shape;332;p32"/>
          <p:cNvSpPr txBox="1">
            <a:spLocks/>
          </p:cNvSpPr>
          <p:nvPr/>
        </p:nvSpPr>
        <p:spPr>
          <a:xfrm>
            <a:off x="5471913" y="2922599"/>
            <a:ext cx="2800800" cy="527700"/>
          </a:xfrm>
          <a:prstGeom prst="rect">
            <a:avLst/>
          </a:prstGeom>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fr-FR" sz="1600" b="1" dirty="0">
                <a:solidFill>
                  <a:schemeClr val="dk1"/>
                </a:solidFill>
                <a:latin typeface="Old Standard TT" panose="020B0604020202020204" charset="0"/>
                <a:ea typeface="Old Standard TT"/>
                <a:cs typeface="Old Standard TT"/>
              </a:rPr>
              <a:t>- Conclusion.</a:t>
            </a:r>
          </a:p>
        </p:txBody>
      </p:sp>
      <p:sp>
        <p:nvSpPr>
          <p:cNvPr id="15" name="Google Shape;325;p32"/>
          <p:cNvSpPr txBox="1">
            <a:spLocks/>
          </p:cNvSpPr>
          <p:nvPr/>
        </p:nvSpPr>
        <p:spPr>
          <a:xfrm>
            <a:off x="1466275" y="3386971"/>
            <a:ext cx="2805600" cy="527700"/>
          </a:xfrm>
          <a:prstGeom prst="rect">
            <a:avLst/>
          </a:prstGeom>
        </p:spPr>
        <p:txBody>
          <a:bodyPr spcFirstLastPara="1" wrap="square" lIns="0"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fr-FR" dirty="0" smtClean="0">
                <a:latin typeface="Old Standard TT" panose="020B0604020202020204" charset="0"/>
                <a:cs typeface="Times New Roman" panose="02020603050405020304" pitchFamily="18" charset="0"/>
              </a:rPr>
              <a:t>Présentation du mécanisme.</a:t>
            </a:r>
          </a:p>
          <a:p>
            <a:pPr marL="285750" indent="-285750">
              <a:buFont typeface="Arial" panose="020B0604020202020204" pitchFamily="34" charset="0"/>
              <a:buChar char="•"/>
            </a:pPr>
            <a:r>
              <a:rPr lang="fr-FR" dirty="0" smtClean="0">
                <a:latin typeface="Old Standard TT" panose="020B0604020202020204" charset="0"/>
                <a:cs typeface="Times New Roman" panose="02020603050405020304" pitchFamily="18" charset="0"/>
              </a:rPr>
              <a:t>Modèle mathématique.</a:t>
            </a:r>
            <a:endParaRPr lang="fr-FR" dirty="0">
              <a:latin typeface="Old Standard TT" panose="020B0604020202020204" charset="0"/>
              <a:cs typeface="Times New Roman" panose="02020603050405020304" pitchFamily="18" charset="0"/>
            </a:endParaRPr>
          </a:p>
        </p:txBody>
      </p:sp>
      <p:sp>
        <p:nvSpPr>
          <p:cNvPr id="16" name="Google Shape;325;p32"/>
          <p:cNvSpPr txBox="1">
            <a:spLocks/>
          </p:cNvSpPr>
          <p:nvPr/>
        </p:nvSpPr>
        <p:spPr>
          <a:xfrm>
            <a:off x="5696984" y="2277142"/>
            <a:ext cx="2805600" cy="527700"/>
          </a:xfrm>
          <a:prstGeom prst="rect">
            <a:avLst/>
          </a:prstGeom>
        </p:spPr>
        <p:txBody>
          <a:bodyPr spcFirstLastPara="1" wrap="square" lIns="0"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dirty="0" smtClean="0">
                <a:latin typeface="Old Standard TT" panose="020B0604020202020204" charset="0"/>
                <a:cs typeface="Times New Roman" panose="02020603050405020304" pitchFamily="18" charset="0"/>
              </a:rPr>
              <a:t>Comparison entre les coefficients de diffusion D.</a:t>
            </a:r>
            <a:endParaRPr lang="fr-FR" dirty="0" smtClean="0">
              <a:latin typeface="Old Standard TT" panose="020B060402020202020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6" name="Google Shape;366;p35"/>
          <p:cNvSpPr txBox="1"/>
          <p:nvPr/>
        </p:nvSpPr>
        <p:spPr>
          <a:xfrm>
            <a:off x="0" y="-7950"/>
            <a:ext cx="712800" cy="53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20</a:t>
            </a:r>
            <a:endParaRPr dirty="0">
              <a:solidFill>
                <a:srgbClr val="191919"/>
              </a:solidFill>
              <a:latin typeface="Old Standard TT"/>
              <a:ea typeface="Old Standard TT"/>
              <a:cs typeface="Old Standard TT"/>
              <a:sym typeface="Old Standard TT"/>
            </a:endParaRPr>
          </a:p>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22</a:t>
            </a:r>
            <a:endParaRPr dirty="0">
              <a:solidFill>
                <a:srgbClr val="191919"/>
              </a:solidFill>
              <a:latin typeface="Old Standard TT"/>
              <a:ea typeface="Old Standard TT"/>
              <a:cs typeface="Old Standard TT"/>
              <a:sym typeface="Old Standard TT"/>
            </a:endParaRPr>
          </a:p>
        </p:txBody>
      </p:sp>
      <p:sp>
        <p:nvSpPr>
          <p:cNvPr id="367" name="Google Shape;367;p35"/>
          <p:cNvSpPr txBox="1"/>
          <p:nvPr/>
        </p:nvSpPr>
        <p:spPr>
          <a:xfrm>
            <a:off x="8431200" y="4618675"/>
            <a:ext cx="712800" cy="53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20</a:t>
            </a:r>
            <a:endParaRPr dirty="0">
              <a:solidFill>
                <a:srgbClr val="191919"/>
              </a:solidFill>
              <a:latin typeface="Old Standard TT"/>
              <a:ea typeface="Old Standard TT"/>
              <a:cs typeface="Old Standard TT"/>
              <a:sym typeface="Old Standard TT"/>
            </a:endParaRPr>
          </a:p>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22</a:t>
            </a:r>
            <a:endParaRPr dirty="0">
              <a:solidFill>
                <a:srgbClr val="191919"/>
              </a:solidFill>
              <a:latin typeface="Old Standard TT"/>
              <a:ea typeface="Old Standard TT"/>
              <a:cs typeface="Old Standard TT"/>
              <a:sym typeface="Old Standard TT"/>
            </a:endParaRPr>
          </a:p>
        </p:txBody>
      </p:sp>
      <p:sp>
        <p:nvSpPr>
          <p:cNvPr id="369"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8" name="Google Shape;368;p35"/>
          <p:cNvSpPr txBox="1"/>
          <p:nvPr/>
        </p:nvSpPr>
        <p:spPr>
          <a:xfrm>
            <a:off x="1724250" y="11639"/>
            <a:ext cx="5695500" cy="535800"/>
          </a:xfrm>
          <a:prstGeom prst="rect">
            <a:avLst/>
          </a:prstGeom>
          <a:noFill/>
          <a:ln>
            <a:noFill/>
          </a:ln>
        </p:spPr>
        <p:txBody>
          <a:bodyPr spcFirstLastPara="1" wrap="square" lIns="91425" tIns="91425" rIns="91425" bIns="91425" anchor="ctr" anchorCtr="0">
            <a:noAutofit/>
          </a:bodyPr>
          <a:lstStyle/>
          <a:p>
            <a:pPr lvl="0" algn="ctr"/>
            <a:r>
              <a:rPr lang="en" sz="2400" b="1" dirty="0">
                <a:solidFill>
                  <a:schemeClr val="dk1"/>
                </a:solidFill>
                <a:latin typeface="Times New Roman" panose="02020603050405020304" pitchFamily="18" charset="0"/>
                <a:ea typeface="Old Standard TT"/>
                <a:cs typeface="Times New Roman" panose="02020603050405020304" pitchFamily="18" charset="0"/>
                <a:sym typeface="Old Standard TT"/>
              </a:rPr>
              <a:t>Introduction</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
        <p:nvSpPr>
          <p:cNvPr id="5" name="Rectangle 4"/>
          <p:cNvSpPr/>
          <p:nvPr/>
        </p:nvSpPr>
        <p:spPr>
          <a:xfrm>
            <a:off x="712799" y="759479"/>
            <a:ext cx="7718401" cy="1708160"/>
          </a:xfrm>
          <a:prstGeom prst="rect">
            <a:avLst/>
          </a:prstGeom>
        </p:spPr>
        <p:txBody>
          <a:bodyPr wrap="square">
            <a:spAutoFit/>
          </a:bodyPr>
          <a:lstStyle/>
          <a:p>
            <a:pPr algn="just">
              <a:lnSpc>
                <a:spcPct val="150000"/>
              </a:lnSpc>
            </a:pPr>
            <a:endParaRPr lang="fr-FR" dirty="0" smtClean="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pPr>
            <a:r>
              <a:rPr lang="fr-FR" dirty="0" smtClean="0">
                <a:latin typeface="Times New Roman" panose="02020603050405020304" pitchFamily="18" charset="0"/>
                <a:ea typeface="Tahoma" panose="020B0604030504040204" pitchFamily="34" charset="0"/>
                <a:cs typeface="Times New Roman" panose="02020603050405020304" pitchFamily="18" charset="0"/>
              </a:rPr>
              <a:t>En </a:t>
            </a:r>
            <a:r>
              <a:rPr lang="fr-FR" dirty="0">
                <a:latin typeface="Times New Roman" panose="02020603050405020304" pitchFamily="18" charset="0"/>
                <a:ea typeface="Tahoma" panose="020B0604030504040204" pitchFamily="34" charset="0"/>
                <a:cs typeface="Times New Roman" panose="02020603050405020304" pitchFamily="18" charset="0"/>
              </a:rPr>
              <a:t>se limitant au système purement chimique, la diffusion est </a:t>
            </a:r>
            <a:r>
              <a:rPr lang="fr-FR" dirty="0" smtClean="0">
                <a:latin typeface="Times New Roman" panose="02020603050405020304" pitchFamily="18" charset="0"/>
                <a:ea typeface="Tahoma" panose="020B0604030504040204" pitchFamily="34" charset="0"/>
                <a:cs typeface="Times New Roman" panose="02020603050405020304" pitchFamily="18" charset="0"/>
              </a:rPr>
              <a:t>le </a:t>
            </a:r>
            <a:r>
              <a:rPr lang="fr-FR" dirty="0">
                <a:latin typeface="Times New Roman" panose="02020603050405020304" pitchFamily="18" charset="0"/>
                <a:ea typeface="Tahoma" panose="020B0604030504040204" pitchFamily="34" charset="0"/>
                <a:cs typeface="Times New Roman" panose="02020603050405020304" pitchFamily="18" charset="0"/>
              </a:rPr>
              <a:t>processus par lequel un atome migre d'une région de potentiel </a:t>
            </a:r>
            <a:r>
              <a:rPr lang="fr-FR" dirty="0" smtClean="0">
                <a:latin typeface="Times New Roman" panose="02020603050405020304" pitchFamily="18" charset="0"/>
                <a:ea typeface="Tahoma" panose="020B0604030504040204" pitchFamily="34" charset="0"/>
                <a:cs typeface="Times New Roman" panose="02020603050405020304" pitchFamily="18" charset="0"/>
              </a:rPr>
              <a:t>chimique </a:t>
            </a:r>
            <a:r>
              <a:rPr lang="fr-FR" dirty="0">
                <a:latin typeface="Times New Roman" panose="02020603050405020304" pitchFamily="18" charset="0"/>
                <a:ea typeface="Tahoma" panose="020B0604030504040204" pitchFamily="34" charset="0"/>
                <a:cs typeface="Times New Roman" panose="02020603050405020304" pitchFamily="18" charset="0"/>
              </a:rPr>
              <a:t>vers une </a:t>
            </a:r>
            <a:r>
              <a:rPr lang="fr-FR" dirty="0" smtClean="0">
                <a:latin typeface="Times New Roman" panose="02020603050405020304" pitchFamily="18" charset="0"/>
                <a:ea typeface="Tahoma" panose="020B0604030504040204" pitchFamily="34" charset="0"/>
                <a:cs typeface="Times New Roman" panose="02020603050405020304" pitchFamily="18" charset="0"/>
              </a:rPr>
              <a:t>autre </a:t>
            </a:r>
            <a:r>
              <a:rPr lang="fr-FR" dirty="0">
                <a:latin typeface="Times New Roman" panose="02020603050405020304" pitchFamily="18" charset="0"/>
                <a:ea typeface="Tahoma" panose="020B0604030504040204" pitchFamily="34" charset="0"/>
                <a:cs typeface="Times New Roman" panose="02020603050405020304" pitchFamily="18" charset="0"/>
              </a:rPr>
              <a:t>plus faible. Le mécanisme de cette migration devient un sujet de effort. </a:t>
            </a:r>
            <a:endParaRPr lang="fr-FR" dirty="0" smtClean="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pPr>
            <a:endParaRPr lang="fr-FR" dirty="0" smtClean="0">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Rectangle 6"/>
          <p:cNvSpPr/>
          <p:nvPr/>
        </p:nvSpPr>
        <p:spPr>
          <a:xfrm>
            <a:off x="712798" y="2427209"/>
            <a:ext cx="7718401" cy="1384995"/>
          </a:xfrm>
          <a:prstGeom prst="rect">
            <a:avLst/>
          </a:prstGeom>
        </p:spPr>
        <p:txBody>
          <a:bodyPr wrap="square">
            <a:spAutoFit/>
          </a:bodyPr>
          <a:lstStyle/>
          <a:p>
            <a:pPr algn="just">
              <a:lnSpc>
                <a:spcPct val="150000"/>
              </a:lnSpc>
            </a:pPr>
            <a:r>
              <a:rPr lang="fr-FR" dirty="0">
                <a:latin typeface="Times New Roman" panose="02020603050405020304" pitchFamily="18" charset="0"/>
                <a:ea typeface="Tahoma" panose="020B0604030504040204" pitchFamily="34" charset="0"/>
                <a:cs typeface="Times New Roman" panose="02020603050405020304" pitchFamily="18" charset="0"/>
              </a:rPr>
              <a:t>La présente étude vise à revisiter les mécanismes de </a:t>
            </a:r>
            <a:r>
              <a:rPr lang="fr-FR" dirty="0" smtClean="0">
                <a:latin typeface="Times New Roman" panose="02020603050405020304" pitchFamily="18" charset="0"/>
                <a:ea typeface="Tahoma" panose="020B0604030504040204" pitchFamily="34" charset="0"/>
                <a:cs typeface="Times New Roman" panose="02020603050405020304" pitchFamily="18" charset="0"/>
              </a:rPr>
              <a:t>diffusion, </a:t>
            </a:r>
            <a:r>
              <a:rPr lang="fr-FR" dirty="0">
                <a:latin typeface="Times New Roman" panose="02020603050405020304" pitchFamily="18" charset="0"/>
                <a:ea typeface="Tahoma" panose="020B0604030504040204" pitchFamily="34" charset="0"/>
                <a:cs typeface="Times New Roman" panose="02020603050405020304" pitchFamily="18" charset="0"/>
              </a:rPr>
              <a:t>et explorer la possibilité de cette occurrence conjointe </a:t>
            </a:r>
            <a:r>
              <a:rPr lang="fr-FR" dirty="0" smtClean="0">
                <a:latin typeface="Times New Roman" panose="02020603050405020304" pitchFamily="18" charset="0"/>
                <a:ea typeface="Tahoma" panose="020B0604030504040204" pitchFamily="34" charset="0"/>
                <a:cs typeface="Times New Roman" panose="02020603050405020304" pitchFamily="18" charset="0"/>
              </a:rPr>
              <a:t>du mécanisme lacunaire et d’anneau, par </a:t>
            </a:r>
            <a:r>
              <a:rPr lang="fr-FR" dirty="0">
                <a:latin typeface="Times New Roman" panose="02020603050405020304" pitchFamily="18" charset="0"/>
                <a:ea typeface="Tahoma" panose="020B0604030504040204" pitchFamily="34" charset="0"/>
                <a:cs typeface="Times New Roman" panose="02020603050405020304" pitchFamily="18" charset="0"/>
              </a:rPr>
              <a:t>un calcul analytique de coefficient de </a:t>
            </a:r>
            <a:r>
              <a:rPr lang="fr-FR" dirty="0" smtClean="0">
                <a:latin typeface="Times New Roman" panose="02020603050405020304" pitchFamily="18" charset="0"/>
                <a:ea typeface="Tahoma" panose="020B0604030504040204" pitchFamily="34" charset="0"/>
                <a:cs typeface="Times New Roman" panose="02020603050405020304" pitchFamily="18" charset="0"/>
              </a:rPr>
              <a:t>diffusion, et la proposition </a:t>
            </a:r>
            <a:r>
              <a:rPr lang="fr-FR" dirty="0">
                <a:latin typeface="Times New Roman" panose="02020603050405020304" pitchFamily="18" charset="0"/>
                <a:ea typeface="Tahoma" panose="020B0604030504040204" pitchFamily="34" charset="0"/>
                <a:cs typeface="Times New Roman" panose="02020603050405020304" pitchFamily="18" charset="0"/>
              </a:rPr>
              <a:t>d'un </a:t>
            </a:r>
            <a:r>
              <a:rPr lang="fr-FR" dirty="0" smtClean="0">
                <a:latin typeface="Times New Roman" panose="02020603050405020304" pitchFamily="18" charset="0"/>
                <a:ea typeface="Tahoma" panose="020B0604030504040204" pitchFamily="34" charset="0"/>
                <a:cs typeface="Times New Roman" panose="02020603050405020304" pitchFamily="18" charset="0"/>
              </a:rPr>
              <a:t>mécanisme mixte: </a:t>
            </a:r>
            <a:r>
              <a:rPr lang="fr-FR" dirty="0">
                <a:latin typeface="Times New Roman" panose="02020603050405020304" pitchFamily="18" charset="0"/>
                <a:ea typeface="Tahoma" panose="020B0604030504040204" pitchFamily="34" charset="0"/>
                <a:cs typeface="Times New Roman" panose="02020603050405020304" pitchFamily="18" charset="0"/>
              </a:rPr>
              <a:t>une combinaison de ‘’ </a:t>
            </a:r>
            <a:r>
              <a:rPr lang="fr-FR" dirty="0" smtClean="0">
                <a:latin typeface="Times New Roman" panose="02020603050405020304" pitchFamily="18" charset="0"/>
                <a:ea typeface="Tahoma" panose="020B0604030504040204" pitchFamily="34" charset="0"/>
                <a:cs typeface="Times New Roman" panose="02020603050405020304" pitchFamily="18" charset="0"/>
              </a:rPr>
              <a:t>mécanisme lacunaire’’ </a:t>
            </a:r>
            <a:r>
              <a:rPr lang="fr-FR" dirty="0">
                <a:latin typeface="Times New Roman" panose="02020603050405020304" pitchFamily="18" charset="0"/>
                <a:ea typeface="Tahoma" panose="020B0604030504040204" pitchFamily="34" charset="0"/>
                <a:cs typeface="Times New Roman" panose="02020603050405020304" pitchFamily="18" charset="0"/>
              </a:rPr>
              <a:t>et </a:t>
            </a:r>
            <a:r>
              <a:rPr lang="fr-FR" dirty="0" smtClean="0">
                <a:latin typeface="Times New Roman" panose="02020603050405020304" pitchFamily="18" charset="0"/>
                <a:ea typeface="Tahoma" panose="020B0604030504040204" pitchFamily="34" charset="0"/>
                <a:cs typeface="Times New Roman" panose="02020603050405020304" pitchFamily="18" charset="0"/>
              </a:rPr>
              <a:t>‘’</a:t>
            </a:r>
            <a:r>
              <a:rPr lang="fr-FR" dirty="0">
                <a:latin typeface="Times New Roman" panose="02020603050405020304" pitchFamily="18" charset="0"/>
                <a:ea typeface="Tahoma" panose="020B0604030504040204" pitchFamily="34" charset="0"/>
                <a:cs typeface="Times New Roman" panose="02020603050405020304" pitchFamily="18" charset="0"/>
              </a:rPr>
              <a:t>m</a:t>
            </a:r>
            <a:r>
              <a:rPr lang="fr-FR" dirty="0" smtClean="0">
                <a:latin typeface="Times New Roman" panose="02020603050405020304" pitchFamily="18" charset="0"/>
                <a:ea typeface="Tahoma" panose="020B0604030504040204" pitchFamily="34" charset="0"/>
                <a:cs typeface="Times New Roman" panose="02020603050405020304" pitchFamily="18" charset="0"/>
              </a:rPr>
              <a:t>écanisme d’anneau’’ </a:t>
            </a:r>
            <a:r>
              <a:rPr lang="fr-FR" dirty="0">
                <a:latin typeface="Times New Roman" panose="02020603050405020304" pitchFamily="18" charset="0"/>
                <a:ea typeface="Tahoma" panose="020B0604030504040204" pitchFamily="34" charset="0"/>
                <a:cs typeface="Times New Roman" panose="02020603050405020304" pitchFamily="18" charset="0"/>
              </a:rPr>
              <a:t>ainsi que </a:t>
            </a:r>
            <a:r>
              <a:rPr lang="fr-FR" dirty="0" smtClean="0">
                <a:latin typeface="Times New Roman" panose="02020603050405020304" pitchFamily="18" charset="0"/>
                <a:ea typeface="Tahoma" panose="020B0604030504040204" pitchFamily="34" charset="0"/>
                <a:cs typeface="Times New Roman" panose="02020603050405020304" pitchFamily="18" charset="0"/>
              </a:rPr>
              <a:t>des calcules </a:t>
            </a:r>
            <a:r>
              <a:rPr lang="fr-FR" dirty="0">
                <a:latin typeface="Times New Roman" panose="02020603050405020304" pitchFamily="18" charset="0"/>
                <a:ea typeface="Tahoma" panose="020B0604030504040204" pitchFamily="34" charset="0"/>
                <a:cs typeface="Times New Roman" panose="02020603050405020304" pitchFamily="18" charset="0"/>
              </a:rPr>
              <a:t>du coefficient de diffusion. </a:t>
            </a:r>
          </a:p>
        </p:txBody>
      </p:sp>
    </p:spTree>
    <p:extLst>
      <p:ext uri="{BB962C8B-B14F-4D97-AF65-F5344CB8AC3E}">
        <p14:creationId xmlns:p14="http://schemas.microsoft.com/office/powerpoint/2010/main" val="33341481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80"/>
        <p:cNvGrpSpPr/>
        <p:nvPr/>
      </p:nvGrpSpPr>
      <p:grpSpPr>
        <a:xfrm>
          <a:off x="0" y="0"/>
          <a:ext cx="0" cy="0"/>
          <a:chOff x="0" y="0"/>
          <a:chExt cx="0" cy="0"/>
        </a:xfrm>
      </p:grpSpPr>
      <p:sp>
        <p:nvSpPr>
          <p:cNvPr id="9" name="Rectangle 8"/>
          <p:cNvSpPr/>
          <p:nvPr/>
        </p:nvSpPr>
        <p:spPr>
          <a:xfrm>
            <a:off x="751112" y="869574"/>
            <a:ext cx="8040189" cy="738664"/>
          </a:xfrm>
          <a:prstGeom prst="rect">
            <a:avLst/>
          </a:prstGeom>
        </p:spPr>
        <p:txBody>
          <a:bodyPr wrap="square">
            <a:spAutoFit/>
          </a:bodyPr>
          <a:lstStyle/>
          <a:p>
            <a:pPr algn="just"/>
            <a:r>
              <a:rPr lang="fr-FR" dirty="0">
                <a:latin typeface="Times New Roman" panose="02020603050405020304" pitchFamily="18" charset="0"/>
                <a:cs typeface="Times New Roman" panose="02020603050405020304" pitchFamily="18" charset="0"/>
              </a:rPr>
              <a:t>Le mécanisme </a:t>
            </a:r>
            <a:r>
              <a:rPr lang="fr-FR" dirty="0" smtClean="0">
                <a:latin typeface="Times New Roman" panose="02020603050405020304" pitchFamily="18" charset="0"/>
                <a:cs typeface="Times New Roman" panose="02020603050405020304" pitchFamily="18" charset="0"/>
              </a:rPr>
              <a:t>d’anneau </a:t>
            </a:r>
            <a:r>
              <a:rPr lang="fr-FR" dirty="0">
                <a:latin typeface="Times New Roman" panose="02020603050405020304" pitchFamily="18" charset="0"/>
                <a:cs typeface="Times New Roman" panose="02020603050405020304" pitchFamily="18" charset="0"/>
              </a:rPr>
              <a:t>implique la rotation d'un nombre d'atomes sous la forme d'un anneau dans le sens des aiguilles d'une montre </a:t>
            </a:r>
            <a:r>
              <a:rPr lang="fr-FR" dirty="0" smtClean="0">
                <a:latin typeface="Times New Roman" panose="02020603050405020304" pitchFamily="18" charset="0"/>
                <a:cs typeface="Times New Roman" panose="02020603050405020304" pitchFamily="18" charset="0"/>
              </a:rPr>
              <a:t>ou </a:t>
            </a:r>
            <a:r>
              <a:rPr lang="fr-FR" dirty="0">
                <a:latin typeface="Times New Roman" panose="02020603050405020304" pitchFamily="18" charset="0"/>
                <a:cs typeface="Times New Roman" panose="02020603050405020304" pitchFamily="18" charset="0"/>
              </a:rPr>
              <a:t>dans le sens </a:t>
            </a:r>
            <a:r>
              <a:rPr lang="fr-FR" dirty="0" smtClean="0">
                <a:latin typeface="Times New Roman" panose="02020603050405020304" pitchFamily="18" charset="0"/>
                <a:cs typeface="Times New Roman" panose="02020603050405020304" pitchFamily="18" charset="0"/>
              </a:rPr>
              <a:t>inverse. </a:t>
            </a:r>
            <a:r>
              <a:rPr lang="fr-FR" dirty="0">
                <a:latin typeface="Times New Roman" panose="02020603050405020304" pitchFamily="18" charset="0"/>
                <a:cs typeface="Times New Roman" panose="02020603050405020304" pitchFamily="18" charset="0"/>
              </a:rPr>
              <a:t>Un atome peut prendre plus d'un anneau et peut migrer d'un endroit à l'autre.</a:t>
            </a:r>
          </a:p>
        </p:txBody>
      </p:sp>
      <p:sp>
        <p:nvSpPr>
          <p:cNvPr id="11" name="Rectangle 10"/>
          <p:cNvSpPr/>
          <p:nvPr/>
        </p:nvSpPr>
        <p:spPr>
          <a:xfrm>
            <a:off x="751112" y="3718197"/>
            <a:ext cx="8040188" cy="954107"/>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La figure </a:t>
            </a:r>
            <a:r>
              <a:rPr lang="fr-FR" dirty="0" smtClean="0">
                <a:latin typeface="Times New Roman" panose="02020603050405020304" pitchFamily="18" charset="0"/>
                <a:cs typeface="Times New Roman" panose="02020603050405020304" pitchFamily="18" charset="0"/>
              </a:rPr>
              <a:t>illustre </a:t>
            </a:r>
            <a:r>
              <a:rPr lang="fr-FR" dirty="0">
                <a:latin typeface="Times New Roman" panose="02020603050405020304" pitchFamily="18" charset="0"/>
                <a:cs typeface="Times New Roman" panose="02020603050405020304" pitchFamily="18" charset="0"/>
              </a:rPr>
              <a:t>le </a:t>
            </a:r>
            <a:r>
              <a:rPr lang="fr-FR" dirty="0" smtClean="0">
                <a:latin typeface="Times New Roman" panose="02020603050405020304" pitchFamily="18" charset="0"/>
                <a:cs typeface="Times New Roman" panose="02020603050405020304" pitchFamily="18" charset="0"/>
              </a:rPr>
              <a:t>processus </a:t>
            </a:r>
            <a:r>
              <a:rPr lang="fr-FR" dirty="0">
                <a:latin typeface="Times New Roman" panose="02020603050405020304" pitchFamily="18" charset="0"/>
                <a:cs typeface="Times New Roman" panose="02020603050405020304" pitchFamily="18" charset="0"/>
              </a:rPr>
              <a:t>du mécanisme de </a:t>
            </a:r>
            <a:r>
              <a:rPr lang="fr-FR" dirty="0" smtClean="0">
                <a:latin typeface="Times New Roman" panose="02020603050405020304" pitchFamily="18" charset="0"/>
                <a:cs typeface="Times New Roman" panose="02020603050405020304" pitchFamily="18" charset="0"/>
              </a:rPr>
              <a:t>l'anneau, les atomes colorés en oranges </a:t>
            </a:r>
            <a:r>
              <a:rPr lang="fr-FR" dirty="0">
                <a:latin typeface="Times New Roman" panose="02020603050405020304" pitchFamily="18" charset="0"/>
                <a:cs typeface="Times New Roman" panose="02020603050405020304" pitchFamily="18" charset="0"/>
              </a:rPr>
              <a:t>sont considérés </a:t>
            </a:r>
            <a:r>
              <a:rPr lang="fr-FR" dirty="0" smtClean="0">
                <a:latin typeface="Times New Roman" panose="02020603050405020304" pitchFamily="18" charset="0"/>
                <a:cs typeface="Times New Roman" panose="02020603050405020304" pitchFamily="18" charset="0"/>
              </a:rPr>
              <a:t>les atomes activés d'anneau, on remarque durant </a:t>
            </a:r>
            <a:r>
              <a:rPr lang="fr-FR" dirty="0">
                <a:latin typeface="Times New Roman" panose="02020603050405020304" pitchFamily="18" charset="0"/>
                <a:cs typeface="Times New Roman" panose="02020603050405020304" pitchFamily="18" charset="0"/>
              </a:rPr>
              <a:t>la </a:t>
            </a:r>
            <a:r>
              <a:rPr lang="fr-FR" dirty="0" smtClean="0">
                <a:latin typeface="Times New Roman" panose="02020603050405020304" pitchFamily="18" charset="0"/>
                <a:cs typeface="Times New Roman" panose="02020603050405020304" pitchFamily="18" charset="0"/>
              </a:rPr>
              <a:t>rotation, l'atome </a:t>
            </a:r>
            <a:r>
              <a:rPr lang="fr-FR" dirty="0">
                <a:latin typeface="Times New Roman" panose="02020603050405020304" pitchFamily="18" charset="0"/>
                <a:cs typeface="Times New Roman" panose="02020603050405020304" pitchFamily="18" charset="0"/>
              </a:rPr>
              <a:t>1 </a:t>
            </a:r>
            <a:r>
              <a:rPr lang="fr-FR" dirty="0" smtClean="0">
                <a:latin typeface="Times New Roman" panose="02020603050405020304" pitchFamily="18" charset="0"/>
                <a:cs typeface="Times New Roman" panose="02020603050405020304" pitchFamily="18" charset="0"/>
              </a:rPr>
              <a:t>prend la </a:t>
            </a:r>
            <a:r>
              <a:rPr lang="fr-FR" dirty="0">
                <a:latin typeface="Times New Roman" panose="02020603050405020304" pitchFamily="18" charset="0"/>
                <a:cs typeface="Times New Roman" panose="02020603050405020304" pitchFamily="18" charset="0"/>
              </a:rPr>
              <a:t>position de l'atome 2, l'atome 2 prend la position de l'atome 3 et l'atome 3 prend la position de l'atome 4 par un "séquentiel, systématique et mécanisme </a:t>
            </a:r>
            <a:r>
              <a:rPr lang="fr-FR" dirty="0" smtClean="0">
                <a:latin typeface="Times New Roman" panose="02020603050405020304" pitchFamily="18" charset="0"/>
                <a:cs typeface="Times New Roman" panose="02020603050405020304" pitchFamily="18" charset="0"/>
              </a:rPr>
              <a:t>lacunaire coopérative </a:t>
            </a:r>
            <a:r>
              <a:rPr lang="fr-FR" dirty="0">
                <a:latin typeface="Times New Roman" panose="02020603050405020304" pitchFamily="18" charset="0"/>
                <a:cs typeface="Times New Roman" panose="02020603050405020304" pitchFamily="18" charset="0"/>
              </a:rPr>
              <a:t>».</a:t>
            </a:r>
          </a:p>
        </p:txBody>
      </p:sp>
      <p:sp>
        <p:nvSpPr>
          <p:cNvPr id="21" name="Google Shape;369;p35"/>
          <p:cNvSpPr txBox="1"/>
          <p:nvPr/>
        </p:nvSpPr>
        <p:spPr>
          <a:xfrm>
            <a:off x="1724250" y="4672304"/>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pic>
        <p:nvPicPr>
          <p:cNvPr id="2" name="Picture 1"/>
          <p:cNvPicPr>
            <a:picLocks noChangeAspect="1"/>
          </p:cNvPicPr>
          <p:nvPr/>
        </p:nvPicPr>
        <p:blipFill rotWithShape="1">
          <a:blip r:embed="rId4">
            <a:extLst>
              <a:ext uri="{28A0092B-C50C-407E-A947-70E740481C1C}">
                <a14:useLocalDpi xmlns:a14="http://schemas.microsoft.com/office/drawing/2010/main" val="0"/>
              </a:ext>
            </a:extLst>
          </a:blip>
          <a:srcRect l="7403" t="7343" r="8030" b="7861"/>
          <a:stretch/>
        </p:blipFill>
        <p:spPr>
          <a:xfrm>
            <a:off x="3467100" y="1846717"/>
            <a:ext cx="3209925" cy="1590676"/>
          </a:xfrm>
          <a:prstGeom prst="rect">
            <a:avLst/>
          </a:prstGeom>
          <a:ln w="19050" cap="sq">
            <a:solidFill>
              <a:srgbClr val="000000"/>
            </a:solidFill>
            <a:miter lim="800000"/>
          </a:ln>
          <a:effectLst>
            <a:outerShdw blurRad="57150" dist="50800" dir="2700000" algn="tl" rotWithShape="0">
              <a:srgbClr val="000000">
                <a:alpha val="40000"/>
              </a:srgbClr>
            </a:outerShdw>
          </a:effectLst>
        </p:spPr>
      </p:pic>
      <p:sp>
        <p:nvSpPr>
          <p:cNvPr id="7"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a:latin typeface="Times New Roman" panose="02020603050405020304" pitchFamily="18" charset="0"/>
                <a:cs typeface="Times New Roman" panose="02020603050405020304" pitchFamily="18" charset="0"/>
              </a:rPr>
              <a:t>Le mécanisme </a:t>
            </a:r>
            <a:r>
              <a:rPr lang="fr-FR" sz="2400" b="1" dirty="0" smtClean="0">
                <a:latin typeface="Times New Roman" panose="02020603050405020304" pitchFamily="18" charset="0"/>
                <a:cs typeface="Times New Roman" panose="02020603050405020304" pitchFamily="18" charset="0"/>
              </a:rPr>
              <a:t>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1"/>
        <p:cNvGrpSpPr/>
        <p:nvPr/>
      </p:nvGrpSpPr>
      <p:grpSpPr>
        <a:xfrm>
          <a:off x="0" y="0"/>
          <a:ext cx="0" cy="0"/>
          <a:chOff x="0" y="0"/>
          <a:chExt cx="0" cy="0"/>
        </a:xfrm>
      </p:grpSpPr>
      <p:sp>
        <p:nvSpPr>
          <p:cNvPr id="395" name="Google Shape;395;p38"/>
          <p:cNvSpPr txBox="1"/>
          <p:nvPr/>
        </p:nvSpPr>
        <p:spPr>
          <a:xfrm>
            <a:off x="0" y="-7950"/>
            <a:ext cx="622500" cy="53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20</a:t>
            </a:r>
            <a:endParaRPr dirty="0">
              <a:solidFill>
                <a:srgbClr val="191919"/>
              </a:solidFill>
              <a:latin typeface="Old Standard TT"/>
              <a:ea typeface="Old Standard TT"/>
              <a:cs typeface="Old Standard TT"/>
              <a:sym typeface="Old Standard TT"/>
            </a:endParaRPr>
          </a:p>
          <a:p>
            <a:pPr marL="0" lvl="0" indent="0" algn="ctr" rtl="0">
              <a:spcBef>
                <a:spcPts val="0"/>
              </a:spcBef>
              <a:spcAft>
                <a:spcPts val="0"/>
              </a:spcAft>
              <a:buNone/>
            </a:pPr>
            <a:r>
              <a:rPr lang="en">
                <a:solidFill>
                  <a:srgbClr val="191919"/>
                </a:solidFill>
                <a:latin typeface="Old Standard TT"/>
                <a:ea typeface="Old Standard TT"/>
                <a:cs typeface="Old Standard TT"/>
                <a:sym typeface="Old Standard TT"/>
              </a:rPr>
              <a:t>22</a:t>
            </a:r>
            <a:endParaRPr dirty="0">
              <a:solidFill>
                <a:srgbClr val="191919"/>
              </a:solidFill>
              <a:latin typeface="Old Standard TT"/>
              <a:ea typeface="Old Standard TT"/>
              <a:cs typeface="Old Standard TT"/>
              <a:sym typeface="Old Standard TT"/>
            </a:endParaRPr>
          </a:p>
        </p:txBody>
      </p:sp>
      <p:sp>
        <p:nvSpPr>
          <p:cNvPr id="397" name="Google Shape;397;p38"/>
          <p:cNvSpPr txBox="1"/>
          <p:nvPr/>
        </p:nvSpPr>
        <p:spPr>
          <a:xfrm>
            <a:off x="8521600" y="4618675"/>
            <a:ext cx="622500" cy="53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smtClean="0">
                <a:solidFill>
                  <a:srgbClr val="191919"/>
                </a:solidFill>
                <a:latin typeface="Old Standard TT"/>
                <a:ea typeface="Old Standard TT"/>
                <a:cs typeface="Old Standard TT"/>
                <a:sym typeface="Old Standard TT"/>
              </a:rPr>
              <a:t>20</a:t>
            </a:r>
            <a:endParaRPr dirty="0">
              <a:solidFill>
                <a:srgbClr val="191919"/>
              </a:solidFill>
              <a:latin typeface="Old Standard TT"/>
              <a:ea typeface="Old Standard TT"/>
              <a:cs typeface="Old Standard TT"/>
              <a:sym typeface="Old Standard TT"/>
            </a:endParaRPr>
          </a:p>
          <a:p>
            <a:pPr marL="0" lvl="0" indent="0" algn="ctr" rtl="0">
              <a:spcBef>
                <a:spcPts val="0"/>
              </a:spcBef>
              <a:spcAft>
                <a:spcPts val="0"/>
              </a:spcAft>
              <a:buNone/>
            </a:pPr>
            <a:r>
              <a:rPr lang="en" dirty="0">
                <a:solidFill>
                  <a:srgbClr val="191919"/>
                </a:solidFill>
                <a:latin typeface="Old Standard TT"/>
                <a:ea typeface="Old Standard TT"/>
                <a:cs typeface="Old Standard TT"/>
                <a:sym typeface="Old Standard TT"/>
              </a:rPr>
              <a:t>22</a:t>
            </a:r>
            <a:endParaRPr dirty="0">
              <a:solidFill>
                <a:srgbClr val="191919"/>
              </a:solidFill>
              <a:latin typeface="Old Standard TT"/>
              <a:ea typeface="Old Standard TT"/>
              <a:cs typeface="Old Standard TT"/>
              <a:sym typeface="Old Standard TT"/>
            </a:endParaRPr>
          </a:p>
        </p:txBody>
      </p:sp>
      <p:sp>
        <p:nvSpPr>
          <p:cNvPr id="9"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5" name="Rectangle 4"/>
          <p:cNvSpPr/>
          <p:nvPr/>
        </p:nvSpPr>
        <p:spPr>
          <a:xfrm>
            <a:off x="849086" y="969924"/>
            <a:ext cx="7563394" cy="523220"/>
          </a:xfrm>
          <a:prstGeom prst="rect">
            <a:avLst/>
          </a:prstGeom>
        </p:spPr>
        <p:txBody>
          <a:bodyPr wrap="square">
            <a:spAutoFit/>
          </a:bodyPr>
          <a:lstStyle/>
          <a:p>
            <a:pPr marL="285750" indent="-285750" algn="just">
              <a:buFont typeface="Wingdings" panose="05000000000000000000" pitchFamily="2" charset="2"/>
              <a:buChar char="ü"/>
            </a:pPr>
            <a:r>
              <a:rPr lang="fr-FR" dirty="0" smtClean="0">
                <a:latin typeface="Times New Roman" panose="02020603050405020304" pitchFamily="18" charset="0"/>
                <a:cs typeface="Times New Roman" panose="02020603050405020304" pitchFamily="18" charset="0"/>
              </a:rPr>
              <a:t>Le </a:t>
            </a:r>
            <a:r>
              <a:rPr lang="fr-FR" dirty="0">
                <a:latin typeface="Times New Roman" panose="02020603050405020304" pitchFamily="18" charset="0"/>
                <a:cs typeface="Times New Roman" panose="02020603050405020304" pitchFamily="18" charset="0"/>
              </a:rPr>
              <a:t>nombre d'atomes dans un cycle, c'est-à-dire la taille du cycle, </a:t>
            </a:r>
            <a:r>
              <a:rPr lang="fr-FR" dirty="0" smtClean="0">
                <a:latin typeface="Times New Roman" panose="02020603050405020304" pitchFamily="18" charset="0"/>
                <a:cs typeface="Times New Roman" panose="02020603050405020304" pitchFamily="18" charset="0"/>
              </a:rPr>
              <a:t>est </a:t>
            </a:r>
            <a:r>
              <a:rPr lang="fr-FR" dirty="0">
                <a:latin typeface="Times New Roman" panose="02020603050405020304" pitchFamily="18" charset="0"/>
                <a:cs typeface="Times New Roman" panose="02020603050405020304" pitchFamily="18" charset="0"/>
              </a:rPr>
              <a:t>le même </a:t>
            </a:r>
            <a:r>
              <a:rPr lang="fr-FR" dirty="0" smtClean="0">
                <a:latin typeface="Times New Roman" panose="02020603050405020304" pitchFamily="18" charset="0"/>
                <a:cs typeface="Times New Roman" panose="02020603050405020304" pitchFamily="18" charset="0"/>
              </a:rPr>
              <a:t>dans </a:t>
            </a:r>
            <a:r>
              <a:rPr lang="fr-FR" dirty="0">
                <a:latin typeface="Times New Roman" panose="02020603050405020304" pitchFamily="18" charset="0"/>
                <a:cs typeface="Times New Roman" panose="02020603050405020304" pitchFamily="18" charset="0"/>
              </a:rPr>
              <a:t>tout le </a:t>
            </a:r>
            <a:r>
              <a:rPr lang="fr-FR" dirty="0" smtClean="0">
                <a:latin typeface="Times New Roman" panose="02020603050405020304" pitchFamily="18" charset="0"/>
                <a:cs typeface="Times New Roman" panose="02020603050405020304" pitchFamily="18" charset="0"/>
              </a:rPr>
              <a:t>réseau.</a:t>
            </a:r>
          </a:p>
          <a:p>
            <a:pPr marL="285750" indent="-285750" algn="just">
              <a:buFont typeface="Wingdings" panose="05000000000000000000" pitchFamily="2" charset="2"/>
              <a:buChar char="ü"/>
            </a:pPr>
            <a:r>
              <a:rPr lang="fr-FR" dirty="0">
                <a:latin typeface="Times New Roman" panose="02020603050405020304" pitchFamily="18" charset="0"/>
                <a:cs typeface="Times New Roman" panose="02020603050405020304" pitchFamily="18" charset="0"/>
              </a:rPr>
              <a:t>L'anneau sera complètement libre de tourner dans le sens des aiguilles d'une montre et </a:t>
            </a:r>
            <a:r>
              <a:rPr lang="fr-FR" dirty="0" smtClean="0">
                <a:latin typeface="Times New Roman" panose="02020603050405020304" pitchFamily="18" charset="0"/>
                <a:cs typeface="Times New Roman" panose="02020603050405020304" pitchFamily="18" charset="0"/>
              </a:rPr>
              <a:t>l’inverse.</a:t>
            </a:r>
          </a:p>
        </p:txBody>
      </p:sp>
      <p:sp>
        <p:nvSpPr>
          <p:cNvPr id="6" name="Rectangle 5"/>
          <p:cNvSpPr/>
          <p:nvPr/>
        </p:nvSpPr>
        <p:spPr>
          <a:xfrm>
            <a:off x="728946" y="662147"/>
            <a:ext cx="2236510" cy="307777"/>
          </a:xfrm>
          <a:prstGeom prst="rect">
            <a:avLst/>
          </a:prstGeom>
        </p:spPr>
        <p:txBody>
          <a:bodyPr wrap="none">
            <a:spAutoFit/>
          </a:bodyPr>
          <a:lstStyle/>
          <a:p>
            <a:pPr marL="285750" lvl="0" indent="-285750">
              <a:buFont typeface="Arial" panose="020B0604020202020204" pitchFamily="34" charset="0"/>
              <a:buChar char="•"/>
            </a:pPr>
            <a:r>
              <a:rPr lang="fr-FR" b="1" dirty="0">
                <a:latin typeface="Times New Roman" panose="02020603050405020304" pitchFamily="18" charset="0"/>
                <a:cs typeface="Times New Roman" panose="02020603050405020304" pitchFamily="18" charset="0"/>
              </a:rPr>
              <a:t>Modèle mathématique.</a:t>
            </a:r>
          </a:p>
        </p:txBody>
      </p:sp>
      <p:sp>
        <p:nvSpPr>
          <p:cNvPr id="7" name="Rectangle 6"/>
          <p:cNvSpPr/>
          <p:nvPr/>
        </p:nvSpPr>
        <p:spPr>
          <a:xfrm>
            <a:off x="728946" y="1627445"/>
            <a:ext cx="7572907" cy="307777"/>
          </a:xfrm>
          <a:prstGeom prst="rect">
            <a:avLst/>
          </a:prstGeom>
        </p:spPr>
        <p:txBody>
          <a:bodyPr wrap="none">
            <a:spAutoFit/>
          </a:bodyPr>
          <a:lstStyle/>
          <a:p>
            <a:pPr lvl="0"/>
            <a:r>
              <a:rPr lang="fr-FR" b="1" dirty="0" smtClean="0">
                <a:latin typeface="Times New Roman" panose="02020603050405020304" pitchFamily="18" charset="0"/>
                <a:cs typeface="Times New Roman" panose="02020603050405020304" pitchFamily="18" charset="0"/>
              </a:rPr>
              <a:t>Maintenant</a:t>
            </a:r>
            <a:r>
              <a:rPr lang="fr-FR" dirty="0" smtClean="0">
                <a:latin typeface="Times New Roman" panose="02020603050405020304" pitchFamily="18" charset="0"/>
                <a:cs typeface="Times New Roman" panose="02020603050405020304" pitchFamily="18" charset="0"/>
              </a:rPr>
              <a:t> calculons l’</a:t>
            </a:r>
            <a:r>
              <a:rPr lang="fr-FR" dirty="0">
                <a:latin typeface="Times New Roman" panose="02020603050405020304" pitchFamily="18" charset="0"/>
                <a:cs typeface="Times New Roman" panose="02020603050405020304" pitchFamily="18" charset="0"/>
              </a:rPr>
              <a:t>é</a:t>
            </a:r>
            <a:r>
              <a:rPr lang="fr-FR" dirty="0" smtClean="0">
                <a:latin typeface="Times New Roman" panose="02020603050405020304" pitchFamily="18" charset="0"/>
                <a:cs typeface="Times New Roman" panose="02020603050405020304" pitchFamily="18" charset="0"/>
              </a:rPr>
              <a:t>nergie pour que les atomes normales transforment vers des atomes activés :</a:t>
            </a:r>
            <a:endParaRPr lang="fr-FR"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Rectangle 9"/>
              <p:cNvSpPr/>
              <p:nvPr/>
            </p:nvSpPr>
            <p:spPr>
              <a:xfrm>
                <a:off x="728945" y="1996441"/>
                <a:ext cx="7133559" cy="307777"/>
              </a:xfrm>
              <a:prstGeom prst="rect">
                <a:avLst/>
              </a:prstGeom>
            </p:spPr>
            <p:txBody>
              <a:bodyPr wrap="square">
                <a:spAutoFit/>
              </a:bodyPr>
              <a:lstStyle/>
              <a:p>
                <a14:m>
                  <m:oMath xmlns:m="http://schemas.openxmlformats.org/officeDocument/2006/math">
                    <m:r>
                      <a:rPr lang="fr-FR" i="1" smtClean="0">
                        <a:latin typeface="Cambria Math" panose="02040503050406030204" pitchFamily="18" charset="0"/>
                        <a:ea typeface="Cambria Math" panose="02040503050406030204" pitchFamily="18" charset="0"/>
                        <a:cs typeface="Times New Roman" panose="02020603050405020304" pitchFamily="18" charset="0"/>
                      </a:rPr>
                      <m:t>∆</m:t>
                    </m:r>
                    <m:r>
                      <a:rPr lang="fr-FR" b="0" i="1" smtClean="0">
                        <a:latin typeface="Cambria Math" panose="02040503050406030204" pitchFamily="18" charset="0"/>
                        <a:ea typeface="Cambria Math" panose="02040503050406030204" pitchFamily="18" charset="0"/>
                        <a:cs typeface="Times New Roman" panose="02020603050405020304" pitchFamily="18" charset="0"/>
                      </a:rPr>
                      <m:t>𝐺</m:t>
                    </m:r>
                    <m:r>
                      <a:rPr lang="fr-FR" b="0" i="1" baseline="-25000" smtClean="0">
                        <a:latin typeface="Cambria Math" panose="02040503050406030204" pitchFamily="18" charset="0"/>
                        <a:ea typeface="Cambria Math" panose="02040503050406030204" pitchFamily="18" charset="0"/>
                        <a:cs typeface="Times New Roman" panose="02020603050405020304" pitchFamily="18" charset="0"/>
                      </a:rPr>
                      <m:t>𝑚</m:t>
                    </m:r>
                  </m:oMath>
                </a14:m>
                <a:r>
                  <a:rPr lang="fr-FR" dirty="0" smtClean="0">
                    <a:latin typeface="Times New Roman" panose="02020603050405020304" pitchFamily="18" charset="0"/>
                    <a:cs typeface="Times New Roman" panose="02020603050405020304" pitchFamily="18" charset="0"/>
                  </a:rPr>
                  <a:t> : Énergie </a:t>
                </a:r>
                <a:r>
                  <a:rPr lang="fr-FR" dirty="0">
                    <a:latin typeface="Times New Roman" panose="02020603050405020304" pitchFamily="18" charset="0"/>
                    <a:cs typeface="Times New Roman" panose="02020603050405020304" pitchFamily="18" charset="0"/>
                  </a:rPr>
                  <a:t>libre pour la migration </a:t>
                </a:r>
                <a:r>
                  <a:rPr lang="fr-FR" dirty="0" smtClean="0">
                    <a:latin typeface="Times New Roman" panose="02020603050405020304" pitchFamily="18" charset="0"/>
                    <a:cs typeface="Times New Roman" panose="02020603050405020304" pitchFamily="18" charset="0"/>
                  </a:rPr>
                  <a:t>d’un </a:t>
                </a:r>
                <a:r>
                  <a:rPr lang="fr-FR" dirty="0">
                    <a:latin typeface="Times New Roman" panose="02020603050405020304" pitchFamily="18" charset="0"/>
                    <a:cs typeface="Times New Roman" panose="02020603050405020304" pitchFamily="18" charset="0"/>
                  </a:rPr>
                  <a:t>1 mol d'atomes de son état normal à l'état activé.</a:t>
                </a:r>
              </a:p>
            </p:txBody>
          </p:sp>
        </mc:Choice>
        <mc:Fallback xmlns="">
          <p:sp>
            <p:nvSpPr>
              <p:cNvPr id="10" name="Rectangle 9"/>
              <p:cNvSpPr>
                <a:spLocks noRot="1" noChangeAspect="1" noMove="1" noResize="1" noEditPoints="1" noAdjustHandles="1" noChangeArrowheads="1" noChangeShapeType="1" noTextEdit="1"/>
              </p:cNvSpPr>
              <p:nvPr/>
            </p:nvSpPr>
            <p:spPr>
              <a:xfrm>
                <a:off x="728945" y="1996441"/>
                <a:ext cx="7133559" cy="307777"/>
              </a:xfrm>
              <a:prstGeom prst="rect">
                <a:avLst/>
              </a:prstGeom>
              <a:blipFill>
                <a:blip r:embed="rId4"/>
                <a:stretch>
                  <a:fillRect t="-4000" b="-20000"/>
                </a:stretch>
              </a:blipFill>
            </p:spPr>
            <p:txBody>
              <a:bodyPr/>
              <a:lstStyle/>
              <a:p>
                <a:r>
                  <a:rPr lang="fr-FR">
                    <a:noFill/>
                  </a:rPr>
                  <a:t> </a:t>
                </a:r>
              </a:p>
            </p:txBody>
          </p:sp>
        </mc:Fallback>
      </mc:AlternateContent>
      <p:sp>
        <p:nvSpPr>
          <p:cNvPr id="11" name="Rectangle 10"/>
          <p:cNvSpPr/>
          <p:nvPr/>
        </p:nvSpPr>
        <p:spPr>
          <a:xfrm>
            <a:off x="728945" y="2365437"/>
            <a:ext cx="3082167" cy="738664"/>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n</a:t>
            </a:r>
            <a:r>
              <a:rPr lang="en-US" dirty="0" smtClean="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Nombre des atomes activés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 </a:t>
            </a:r>
            <a:r>
              <a:rPr lang="en-US" dirty="0" smtClean="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Nombre des atomes </a:t>
            </a:r>
            <a:r>
              <a:rPr lang="fr-FR" dirty="0" smtClean="0">
                <a:latin typeface="Times New Roman" panose="02020603050405020304" pitchFamily="18" charset="0"/>
                <a:cs typeface="Times New Roman" panose="02020603050405020304" pitchFamily="18" charset="0"/>
              </a:rPr>
              <a:t>normal</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 : </a:t>
            </a:r>
            <a:r>
              <a:rPr lang="en-US" dirty="0" err="1">
                <a:latin typeface="Times New Roman" panose="02020603050405020304" pitchFamily="18" charset="0"/>
                <a:cs typeface="Times New Roman" panose="02020603050405020304" pitchFamily="18" charset="0"/>
              </a:rPr>
              <a:t>Nombre</a:t>
            </a:r>
            <a:r>
              <a:rPr lang="en-US" dirty="0">
                <a:latin typeface="Times New Roman" panose="02020603050405020304" pitchFamily="18" charset="0"/>
                <a:cs typeface="Times New Roman" panose="02020603050405020304" pitchFamily="18" charset="0"/>
              </a:rPr>
              <a:t> des </a:t>
            </a:r>
            <a:r>
              <a:rPr lang="en-US" dirty="0" err="1">
                <a:latin typeface="Times New Roman" panose="02020603050405020304" pitchFamily="18" charset="0"/>
                <a:cs typeface="Times New Roman" panose="02020603050405020304" pitchFamily="18" charset="0"/>
              </a:rPr>
              <a:t>atomes</a:t>
            </a:r>
            <a:r>
              <a:rPr lang="en-US" dirty="0">
                <a:latin typeface="Times New Roman" panose="02020603050405020304" pitchFamily="18" charset="0"/>
                <a:cs typeface="Times New Roman" panose="02020603050405020304" pitchFamily="18" charset="0"/>
              </a:rPr>
              <a:t>. N = n* + </a:t>
            </a:r>
            <a:r>
              <a:rPr lang="en-US" dirty="0" smtClean="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Rectangle 15"/>
              <p:cNvSpPr/>
              <p:nvPr/>
            </p:nvSpPr>
            <p:spPr>
              <a:xfrm>
                <a:off x="4295724" y="3332008"/>
                <a:ext cx="1705990" cy="307777"/>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N &gt;&gt;&gt; </a:t>
                </a:r>
                <a:r>
                  <a:rPr lang="en-US" dirty="0">
                    <a:latin typeface="Times New Roman" panose="02020603050405020304" pitchFamily="18" charset="0"/>
                    <a:cs typeface="Times New Roman" panose="02020603050405020304" pitchFamily="18" charset="0"/>
                  </a:rPr>
                  <a:t>n* </a:t>
                </a:r>
                <a:r>
                  <a:rPr lang="en-US" dirty="0" smtClean="0">
                    <a:latin typeface="Times New Roman" panose="02020603050405020304" pitchFamily="18" charset="0"/>
                    <a:cs typeface="Times New Roman" panose="02020603050405020304" pitchFamily="18" charset="0"/>
                  </a:rPr>
                  <a:t> et N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smtClean="0">
                    <a:latin typeface="Times New Roman" panose="02020603050405020304" pitchFamily="18" charset="0"/>
                    <a:cs typeface="Times New Roman" panose="02020603050405020304" pitchFamily="18" charset="0"/>
                  </a:rPr>
                  <a:t> n  </a:t>
                </a:r>
                <a:endParaRPr lang="fr-FR" dirty="0">
                  <a:latin typeface="Times New Roman" panose="02020603050405020304" pitchFamily="18" charset="0"/>
                  <a:cs typeface="Times New Roman" panose="02020603050405020304" pitchFamily="18" charset="0"/>
                </a:endParaRPr>
              </a:p>
            </p:txBody>
          </p:sp>
        </mc:Choice>
        <mc:Fallback xmlns="">
          <p:sp>
            <p:nvSpPr>
              <p:cNvPr id="16" name="Rectangle 15"/>
              <p:cNvSpPr>
                <a:spLocks noRot="1" noChangeAspect="1" noMove="1" noResize="1" noEditPoints="1" noAdjustHandles="1" noChangeArrowheads="1" noChangeShapeType="1" noTextEdit="1"/>
              </p:cNvSpPr>
              <p:nvPr/>
            </p:nvSpPr>
            <p:spPr>
              <a:xfrm>
                <a:off x="4295724" y="3332008"/>
                <a:ext cx="1705990" cy="307777"/>
              </a:xfrm>
              <a:prstGeom prst="rect">
                <a:avLst/>
              </a:prstGeom>
              <a:blipFill>
                <a:blip r:embed="rId5"/>
                <a:stretch>
                  <a:fillRect l="-1071" t="-4000" b="-20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865913" y="2530916"/>
                <a:ext cx="1240724" cy="210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i="0">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r>
                        <m:rPr>
                          <m:nor/>
                        </m:rPr>
                        <a:rPr lang="fr-FR">
                          <a:latin typeface="Cambria Math" panose="02040503050406030204" pitchFamily="18" charset="0"/>
                          <a:ea typeface="Cambria Math" panose="02040503050406030204" pitchFamily="18" charset="0"/>
                          <a:cs typeface="Times New Roman" panose="02020603050405020304" pitchFamily="18" charset="0"/>
                        </a:rPr>
                        <m:t> = </m:t>
                      </m:r>
                      <m:r>
                        <m:rPr>
                          <m:nor/>
                        </m:rPr>
                        <a:rPr lang="fr-FR" b="0" i="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lnK</m:t>
                      </m:r>
                      <m:r>
                        <m:rPr>
                          <m:nor/>
                        </m:rPr>
                        <a:rPr lang="fr-FR" b="0" baseline="-25000" smtClean="0">
                          <a:latin typeface="Cambria Math" panose="02040503050406030204" pitchFamily="18" charset="0"/>
                          <a:ea typeface="Cambria Math" panose="02040503050406030204" pitchFamily="18" charset="0"/>
                          <a:cs typeface="Times New Roman" panose="02020603050405020304" pitchFamily="18" charset="0"/>
                        </a:rPr>
                        <m:t>1</m:t>
                      </m:r>
                    </m:oMath>
                  </m:oMathPara>
                </a14:m>
                <a:endParaRPr lang="fr-FR" baseline="-250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4865913" y="2530916"/>
                <a:ext cx="1240724" cy="210507"/>
              </a:xfrm>
              <a:prstGeom prst="rect">
                <a:avLst/>
              </a:prstGeom>
              <a:blipFill>
                <a:blip r:embed="rId6"/>
                <a:stretch>
                  <a:fillRect l="-3431" r="-1471" b="-17143"/>
                </a:stretch>
              </a:blipFill>
            </p:spPr>
            <p:txBody>
              <a:bodyPr/>
              <a:lstStyle/>
              <a:p>
                <a:r>
                  <a:rPr lang="fr-FR">
                    <a:noFill/>
                  </a:rPr>
                  <a:t> </a:t>
                </a:r>
              </a:p>
            </p:txBody>
          </p:sp>
        </mc:Fallback>
      </mc:AlternateContent>
      <p:sp>
        <p:nvSpPr>
          <p:cNvPr id="13" name="Rectangle 12"/>
          <p:cNvSpPr/>
          <p:nvPr/>
        </p:nvSpPr>
        <p:spPr>
          <a:xfrm>
            <a:off x="4295724" y="2803411"/>
            <a:ext cx="2613243" cy="276999"/>
          </a:xfrm>
          <a:prstGeom prst="rect">
            <a:avLst/>
          </a:prstGeom>
        </p:spPr>
        <p:txBody>
          <a:bodyPr wrap="square">
            <a:spAutoFit/>
          </a:bodyPr>
          <a:lstStyle/>
          <a:p>
            <a:r>
              <a:rPr lang="fr-FR" sz="1200" dirty="0" smtClean="0">
                <a:latin typeface="Times New Roman" panose="02020603050405020304" pitchFamily="18" charset="0"/>
                <a:cs typeface="Times New Roman" panose="02020603050405020304" pitchFamily="18" charset="0"/>
              </a:rPr>
              <a:t>K</a:t>
            </a:r>
            <a:r>
              <a:rPr lang="fr-FR" sz="1200" baseline="-25000" dirty="0" smtClean="0">
                <a:latin typeface="Times New Roman" panose="02020603050405020304" pitchFamily="18" charset="0"/>
                <a:cs typeface="Times New Roman" panose="02020603050405020304" pitchFamily="18" charset="0"/>
              </a:rPr>
              <a:t>1</a:t>
            </a:r>
            <a:r>
              <a:rPr lang="fr-FR" sz="1200" dirty="0" smtClean="0">
                <a:latin typeface="Times New Roman" panose="02020603050405020304" pitchFamily="18" charset="0"/>
                <a:cs typeface="Times New Roman" panose="02020603050405020304" pitchFamily="18" charset="0"/>
              </a:rPr>
              <a:t> la </a:t>
            </a:r>
            <a:r>
              <a:rPr lang="fr-FR" sz="1200" dirty="0" err="1" smtClean="0">
                <a:latin typeface="Times New Roman" panose="02020603050405020304" pitchFamily="18" charset="0"/>
                <a:cs typeface="Times New Roman" panose="02020603050405020304" pitchFamily="18" charset="0"/>
              </a:rPr>
              <a:t>cst</a:t>
            </a:r>
            <a:r>
              <a:rPr lang="fr-FR" sz="1200" dirty="0" smtClean="0">
                <a:latin typeface="Times New Roman" panose="02020603050405020304" pitchFamily="18" charset="0"/>
                <a:cs typeface="Times New Roman" panose="02020603050405020304" pitchFamily="18" charset="0"/>
              </a:rPr>
              <a:t> d'équilibre de transformation</a:t>
            </a:r>
            <a:endParaRPr lang="fr-FR"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p:cNvSpPr txBox="1"/>
              <p:nvPr/>
            </p:nvSpPr>
            <p:spPr>
              <a:xfrm>
                <a:off x="748636" y="3182436"/>
                <a:ext cx="3242747" cy="547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100" b="0" i="1" smtClean="0">
                              <a:latin typeface="Cambria Math" panose="02040503050406030204" pitchFamily="18" charset="0"/>
                            </a:rPr>
                          </m:ctrlPr>
                        </m:sSubPr>
                        <m:e>
                          <m:r>
                            <a:rPr lang="fr-FR" sz="1100" b="0" i="1" smtClean="0">
                              <a:latin typeface="Cambria Math" panose="02040503050406030204" pitchFamily="18" charset="0"/>
                            </a:rPr>
                            <m:t>𝐾</m:t>
                          </m:r>
                        </m:e>
                        <m:sub>
                          <m:r>
                            <a:rPr lang="fr-FR" sz="1100" b="0" i="1" smtClean="0">
                              <a:latin typeface="Cambria Math" panose="02040503050406030204" pitchFamily="18" charset="0"/>
                            </a:rPr>
                            <m:t>1</m:t>
                          </m:r>
                        </m:sub>
                      </m:sSub>
                      <m:r>
                        <a:rPr lang="fr-FR" sz="1100" b="0" i="1" smtClean="0">
                          <a:latin typeface="Cambria Math" panose="02040503050406030204" pitchFamily="18" charset="0"/>
                        </a:rPr>
                        <m:t>= </m:t>
                      </m:r>
                      <m:f>
                        <m:fPr>
                          <m:ctrlPr>
                            <a:rPr lang="fr-FR" sz="1100" b="0" i="1" smtClean="0">
                              <a:latin typeface="Cambria Math" panose="02040503050406030204" pitchFamily="18" charset="0"/>
                            </a:rPr>
                          </m:ctrlPr>
                        </m:fPr>
                        <m:num>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𝑙</m:t>
                              </m:r>
                            </m:e>
                            <m:sup>
                              <m:r>
                                <a:rPr lang="fr-FR" sz="1100" b="0" i="1" smtClean="0">
                                  <a:latin typeface="Cambria Math" panose="02040503050406030204" pitchFamily="18" charset="0"/>
                                </a:rPr>
                                <m:t>′</m:t>
                              </m:r>
                            </m:sup>
                          </m:sSup>
                          <m:r>
                            <a:rPr lang="fr-FR" sz="1100" b="0" i="1" smtClean="0">
                              <a:latin typeface="Cambria Math" panose="02040503050406030204" pitchFamily="18" charset="0"/>
                            </a:rPr>
                            <m:t>𝑎𝑐𝑡𝑖𝑣𝑖𝑡</m:t>
                          </m:r>
                          <m:r>
                            <a:rPr lang="fr-FR" sz="1100" b="0" i="1" smtClean="0">
                              <a:latin typeface="Cambria Math" panose="02040503050406030204" pitchFamily="18" charset="0"/>
                            </a:rPr>
                            <m:t>é </m:t>
                          </m:r>
                          <m:r>
                            <a:rPr lang="fr-FR" sz="1100" b="0" i="1" smtClean="0">
                              <a:latin typeface="Cambria Math" panose="02040503050406030204" pitchFamily="18" charset="0"/>
                            </a:rPr>
                            <m:t>𝑑𝑒𝑠</m:t>
                          </m:r>
                          <m:r>
                            <a:rPr lang="fr-FR" sz="1100" b="0" i="1" smtClean="0">
                              <a:latin typeface="Cambria Math" panose="02040503050406030204" pitchFamily="18" charset="0"/>
                            </a:rPr>
                            <m:t> </m:t>
                          </m:r>
                          <m:r>
                            <a:rPr lang="fr-FR" sz="1100" b="0" i="1" smtClean="0">
                              <a:latin typeface="Cambria Math" panose="02040503050406030204" pitchFamily="18" charset="0"/>
                            </a:rPr>
                            <m:t>𝑎𝑡𝑜𝑚𝑒𝑠</m:t>
                          </m:r>
                          <m:r>
                            <a:rPr lang="fr-FR" sz="1100" b="0" i="1" smtClean="0">
                              <a:latin typeface="Cambria Math" panose="02040503050406030204" pitchFamily="18" charset="0"/>
                            </a:rPr>
                            <m:t> </m:t>
                          </m:r>
                          <m:r>
                            <a:rPr lang="fr-FR" sz="1100" b="0" i="1" smtClean="0">
                              <a:latin typeface="Cambria Math" panose="02040503050406030204" pitchFamily="18" charset="0"/>
                            </a:rPr>
                            <m:t>𝑎𝑐𝑡𝑖𝑣</m:t>
                          </m:r>
                          <m:r>
                            <a:rPr lang="fr-FR" sz="1100" b="0" i="1" smtClean="0">
                              <a:latin typeface="Cambria Math" panose="02040503050406030204" pitchFamily="18" charset="0"/>
                            </a:rPr>
                            <m:t>é</m:t>
                          </m:r>
                          <m:r>
                            <a:rPr lang="fr-FR" sz="1100" b="0" i="1" smtClean="0">
                              <a:latin typeface="Cambria Math" panose="02040503050406030204" pitchFamily="18" charset="0"/>
                            </a:rPr>
                            <m:t>𝑠</m:t>
                          </m:r>
                        </m:num>
                        <m:den>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𝑙</m:t>
                              </m:r>
                            </m:e>
                            <m:sup>
                              <m:r>
                                <a:rPr lang="fr-FR" sz="1100" b="0" i="1" smtClean="0">
                                  <a:latin typeface="Cambria Math" panose="02040503050406030204" pitchFamily="18" charset="0"/>
                                </a:rPr>
                                <m:t>′</m:t>
                              </m:r>
                            </m:sup>
                          </m:sSup>
                          <m:r>
                            <a:rPr lang="fr-FR" sz="1100" b="0" i="1" smtClean="0">
                              <a:latin typeface="Cambria Math" panose="02040503050406030204" pitchFamily="18" charset="0"/>
                            </a:rPr>
                            <m:t>𝑎𝑐𝑡𝑖𝑣𝑖𝑡</m:t>
                          </m:r>
                          <m:r>
                            <a:rPr lang="fr-FR" sz="1100" b="0" i="1" smtClean="0">
                              <a:latin typeface="Cambria Math" panose="02040503050406030204" pitchFamily="18" charset="0"/>
                            </a:rPr>
                            <m:t>é </m:t>
                          </m:r>
                          <m:r>
                            <a:rPr lang="fr-FR" sz="1100" b="0" i="1" smtClean="0">
                              <a:latin typeface="Cambria Math" panose="02040503050406030204" pitchFamily="18" charset="0"/>
                            </a:rPr>
                            <m:t>𝑑𝑒𝑠</m:t>
                          </m:r>
                          <m:r>
                            <a:rPr lang="fr-FR" sz="1100" b="0" i="1" smtClean="0">
                              <a:latin typeface="Cambria Math" panose="02040503050406030204" pitchFamily="18" charset="0"/>
                            </a:rPr>
                            <m:t> </m:t>
                          </m:r>
                          <m:r>
                            <a:rPr lang="fr-FR" sz="1100" b="0" i="1" smtClean="0">
                              <a:latin typeface="Cambria Math" panose="02040503050406030204" pitchFamily="18" charset="0"/>
                            </a:rPr>
                            <m:t>𝑎𝑡𝑜𝑚𝑒</m:t>
                          </m:r>
                          <m:r>
                            <a:rPr lang="fr-FR" sz="1100" b="0" i="1" smtClean="0">
                              <a:latin typeface="Cambria Math" panose="02040503050406030204" pitchFamily="18" charset="0"/>
                            </a:rPr>
                            <m:t> </m:t>
                          </m:r>
                          <m:r>
                            <a:rPr lang="fr-FR" sz="1100" b="0" i="1" smtClean="0">
                              <a:latin typeface="Cambria Math" panose="02040503050406030204" pitchFamily="18" charset="0"/>
                            </a:rPr>
                            <m:t>𝑛𝑜𝑟𝑚𝑎𝑙𝑒𝑠</m:t>
                          </m:r>
                        </m:den>
                      </m:f>
                      <m:r>
                        <a:rPr lang="fr-FR" sz="1100" b="0" i="0" smtClean="0">
                          <a:latin typeface="Cambria Math" panose="02040503050406030204" pitchFamily="18" charset="0"/>
                        </a:rPr>
                        <m:t>= </m:t>
                      </m:r>
                      <m:f>
                        <m:fPr>
                          <m:ctrlPr>
                            <a:rPr lang="fr-FR" sz="1100" b="0" i="1" smtClean="0">
                              <a:latin typeface="Cambria Math" panose="02040503050406030204" pitchFamily="18" charset="0"/>
                            </a:rPr>
                          </m:ctrlPr>
                        </m:fPr>
                        <m:num>
                          <m:f>
                            <m:fPr>
                              <m:ctrlPr>
                                <a:rPr lang="fr-FR" sz="1100" b="0" i="1" smtClean="0">
                                  <a:latin typeface="Cambria Math" panose="02040503050406030204" pitchFamily="18" charset="0"/>
                                </a:rPr>
                              </m:ctrlPr>
                            </m:fPr>
                            <m:num>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𝑛</m:t>
                                  </m:r>
                                </m:e>
                                <m:sup>
                                  <m:r>
                                    <a:rPr lang="fr-FR" sz="1100" b="0" i="1" smtClean="0">
                                      <a:latin typeface="Cambria Math" panose="02040503050406030204" pitchFamily="18" charset="0"/>
                                    </a:rPr>
                                    <m:t>∗</m:t>
                                  </m:r>
                                </m:sup>
                              </m:sSup>
                            </m:num>
                            <m:den>
                              <m:r>
                                <a:rPr lang="fr-FR" sz="1100" b="0" i="1" smtClean="0">
                                  <a:latin typeface="Cambria Math" panose="02040503050406030204" pitchFamily="18" charset="0"/>
                                </a:rPr>
                                <m:t>𝑛</m:t>
                              </m:r>
                              <m:r>
                                <a:rPr lang="fr-FR" sz="1100" b="0" i="1" smtClean="0">
                                  <a:latin typeface="Cambria Math" panose="02040503050406030204" pitchFamily="18" charset="0"/>
                                </a:rPr>
                                <m:t>+</m:t>
                              </m:r>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𝑛</m:t>
                                  </m:r>
                                </m:e>
                                <m:sup>
                                  <m:r>
                                    <a:rPr lang="fr-FR" sz="1100" b="0" i="1" smtClean="0">
                                      <a:latin typeface="Cambria Math" panose="02040503050406030204" pitchFamily="18" charset="0"/>
                                    </a:rPr>
                                    <m:t>∗</m:t>
                                  </m:r>
                                </m:sup>
                              </m:sSup>
                            </m:den>
                          </m:f>
                        </m:num>
                        <m:den>
                          <m:f>
                            <m:fPr>
                              <m:ctrlPr>
                                <a:rPr lang="fr-FR" sz="1100" b="0" i="1" smtClean="0">
                                  <a:latin typeface="Cambria Math" panose="02040503050406030204" pitchFamily="18" charset="0"/>
                                </a:rPr>
                              </m:ctrlPr>
                            </m:fPr>
                            <m:num>
                              <m:r>
                                <a:rPr lang="fr-FR" sz="1100" b="0" i="1" smtClean="0">
                                  <a:latin typeface="Cambria Math" panose="02040503050406030204" pitchFamily="18" charset="0"/>
                                </a:rPr>
                                <m:t>𝑛</m:t>
                              </m:r>
                            </m:num>
                            <m:den>
                              <m:r>
                                <a:rPr lang="fr-FR" sz="1100" b="0" i="1" smtClean="0">
                                  <a:latin typeface="Cambria Math" panose="02040503050406030204" pitchFamily="18" charset="0"/>
                                </a:rPr>
                                <m:t>𝑛</m:t>
                              </m:r>
                              <m:r>
                                <a:rPr lang="fr-FR" sz="1100" b="0" i="1" smtClean="0">
                                  <a:latin typeface="Cambria Math" panose="02040503050406030204" pitchFamily="18" charset="0"/>
                                </a:rPr>
                                <m:t>+</m:t>
                              </m:r>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𝑛</m:t>
                                  </m:r>
                                </m:e>
                                <m:sup>
                                  <m:r>
                                    <a:rPr lang="fr-FR" sz="1100" b="0" i="1" smtClean="0">
                                      <a:latin typeface="Cambria Math" panose="02040503050406030204" pitchFamily="18" charset="0"/>
                                    </a:rPr>
                                    <m:t>∗</m:t>
                                  </m:r>
                                </m:sup>
                              </m:sSup>
                            </m:den>
                          </m:f>
                        </m:den>
                      </m:f>
                      <m:r>
                        <a:rPr lang="fr-FR" sz="1100" b="0" i="1" smtClean="0">
                          <a:latin typeface="Cambria Math" panose="02040503050406030204" pitchFamily="18" charset="0"/>
                        </a:rPr>
                        <m:t>=</m:t>
                      </m:r>
                      <m:f>
                        <m:fPr>
                          <m:ctrlPr>
                            <a:rPr lang="fr-FR" sz="1100" b="0" i="1" smtClean="0">
                              <a:latin typeface="Cambria Math" panose="02040503050406030204" pitchFamily="18" charset="0"/>
                            </a:rPr>
                          </m:ctrlPr>
                        </m:fPr>
                        <m:num>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𝑛</m:t>
                              </m:r>
                            </m:e>
                            <m:sup>
                              <m:r>
                                <a:rPr lang="fr-FR" sz="1100" b="0" i="1" smtClean="0">
                                  <a:latin typeface="Cambria Math" panose="02040503050406030204" pitchFamily="18" charset="0"/>
                                </a:rPr>
                                <m:t>∗</m:t>
                              </m:r>
                            </m:sup>
                          </m:sSup>
                        </m:num>
                        <m:den>
                          <m:r>
                            <a:rPr lang="fr-FR" sz="1100" b="0" i="1" smtClean="0">
                              <a:latin typeface="Cambria Math" panose="02040503050406030204" pitchFamily="18" charset="0"/>
                            </a:rPr>
                            <m:t>𝑛</m:t>
                          </m:r>
                        </m:den>
                      </m:f>
                    </m:oMath>
                  </m:oMathPara>
                </a14:m>
                <a:endParaRPr lang="fr-FR" sz="1100" dirty="0"/>
              </a:p>
            </p:txBody>
          </p:sp>
        </mc:Choice>
        <mc:Fallback xmlns="">
          <p:sp>
            <p:nvSpPr>
              <p:cNvPr id="14" name="TextBox 13"/>
              <p:cNvSpPr txBox="1">
                <a:spLocks noRot="1" noChangeAspect="1" noMove="1" noResize="1" noEditPoints="1" noAdjustHandles="1" noChangeArrowheads="1" noChangeShapeType="1" noTextEdit="1"/>
              </p:cNvSpPr>
              <p:nvPr/>
            </p:nvSpPr>
            <p:spPr>
              <a:xfrm>
                <a:off x="748636" y="3182436"/>
                <a:ext cx="3242747" cy="547650"/>
              </a:xfrm>
              <a:prstGeom prst="rect">
                <a:avLst/>
              </a:prstGeom>
              <a:blipFill>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306055" y="3251461"/>
                <a:ext cx="1000081" cy="409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rPr>
                            <m:t>𝐾</m:t>
                          </m:r>
                        </m:e>
                        <m:sub>
                          <m:r>
                            <a:rPr lang="fr-FR" b="0" i="1" smtClean="0">
                              <a:latin typeface="Cambria Math" panose="02040503050406030204" pitchFamily="18" charset="0"/>
                            </a:rPr>
                            <m:t>1</m:t>
                          </m:r>
                        </m:sub>
                      </m:sSub>
                      <m:r>
                        <a:rPr lang="fr-FR" b="0" i="1" smtClean="0">
                          <a:latin typeface="Cambria Math" panose="02040503050406030204" pitchFamily="18" charset="0"/>
                        </a:rPr>
                        <m:t>=</m:t>
                      </m:r>
                      <m:f>
                        <m:fPr>
                          <m:ctrlPr>
                            <a:rPr lang="fr-FR" b="0" i="1" smtClean="0">
                              <a:latin typeface="Cambria Math" panose="02040503050406030204" pitchFamily="18" charset="0"/>
                            </a:rPr>
                          </m:ctrlPr>
                        </m:fPr>
                        <m:num>
                          <m:sSup>
                            <m:sSupPr>
                              <m:ctrlPr>
                                <a:rPr lang="fr-FR" b="0" i="1" smtClean="0">
                                  <a:latin typeface="Cambria Math" panose="02040503050406030204" pitchFamily="18" charset="0"/>
                                </a:rPr>
                              </m:ctrlPr>
                            </m:sSupPr>
                            <m:e>
                              <m:r>
                                <a:rPr lang="fr-FR" b="0" i="1" smtClean="0">
                                  <a:latin typeface="Cambria Math" panose="02040503050406030204" pitchFamily="18" charset="0"/>
                                </a:rPr>
                                <m:t>𝑛</m:t>
                              </m:r>
                            </m:e>
                            <m:sup>
                              <m:r>
                                <a:rPr lang="fr-FR" b="0" i="1" smtClean="0">
                                  <a:latin typeface="Cambria Math" panose="02040503050406030204" pitchFamily="18" charset="0"/>
                                </a:rPr>
                                <m:t>∗</m:t>
                              </m:r>
                            </m:sup>
                          </m:sSup>
                        </m:num>
                        <m:den>
                          <m:r>
                            <a:rPr lang="fr-FR" b="0" i="1" smtClean="0">
                              <a:latin typeface="Cambria Math" panose="02040503050406030204" pitchFamily="18" charset="0"/>
                            </a:rPr>
                            <m:t>𝑁</m:t>
                          </m:r>
                        </m:den>
                      </m:f>
                    </m:oMath>
                  </m:oMathPara>
                </a14:m>
                <a:endParaRPr lang="fr-FR" dirty="0"/>
              </a:p>
            </p:txBody>
          </p:sp>
        </mc:Choice>
        <mc:Fallback xmlns="">
          <p:sp>
            <p:nvSpPr>
              <p:cNvPr id="15" name="TextBox 14"/>
              <p:cNvSpPr txBox="1">
                <a:spLocks noRot="1" noChangeAspect="1" noMove="1" noResize="1" noEditPoints="1" noAdjustHandles="1" noChangeArrowheads="1" noChangeShapeType="1" noTextEdit="1"/>
              </p:cNvSpPr>
              <p:nvPr/>
            </p:nvSpPr>
            <p:spPr>
              <a:xfrm>
                <a:off x="6306055" y="3251461"/>
                <a:ext cx="1000081" cy="409599"/>
              </a:xfrm>
              <a:prstGeom prst="rect">
                <a:avLst/>
              </a:prstGeom>
              <a:blipFill>
                <a:blip r:embed="rId8"/>
                <a:stretch>
                  <a:fillRect l="-1212" b="-11765"/>
                </a:stretch>
              </a:blipFill>
            </p:spPr>
            <p:txBody>
              <a:bodyPr/>
              <a:lstStyle/>
              <a:p>
                <a:r>
                  <a:rPr lang="fr-FR">
                    <a:noFill/>
                  </a:rPr>
                  <a:t> </a:t>
                </a:r>
              </a:p>
            </p:txBody>
          </p:sp>
        </mc:Fallback>
      </mc:AlternateContent>
      <p:sp>
        <p:nvSpPr>
          <p:cNvPr id="17" name="Rectangle 16"/>
          <p:cNvSpPr/>
          <p:nvPr/>
        </p:nvSpPr>
        <p:spPr>
          <a:xfrm>
            <a:off x="723356" y="4039723"/>
            <a:ext cx="668773" cy="307777"/>
          </a:xfrm>
          <a:prstGeom prst="rect">
            <a:avLst/>
          </a:prstGeom>
        </p:spPr>
        <p:txBody>
          <a:bodyPr wrap="none">
            <a:spAutoFit/>
          </a:bodyPr>
          <a:lstStyle/>
          <a:p>
            <a:pPr lvl="0"/>
            <a:r>
              <a:rPr lang="fr-FR" dirty="0" smtClean="0">
                <a:latin typeface="Times New Roman" panose="02020603050405020304" pitchFamily="18" charset="0"/>
                <a:cs typeface="Times New Roman" panose="02020603050405020304" pitchFamily="18" charset="0"/>
              </a:rPr>
              <a:t>Donc :</a:t>
            </a:r>
            <a:endParaRPr lang="fr-FR"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p:cNvSpPr txBox="1"/>
              <p:nvPr/>
            </p:nvSpPr>
            <p:spPr>
              <a:xfrm>
                <a:off x="1488172" y="3969579"/>
                <a:ext cx="2188484" cy="409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fr-FR" i="0">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r>
                        <m:rPr>
                          <m:nor/>
                        </m:rPr>
                        <a:rPr lang="fr-FR">
                          <a:latin typeface="Cambria Math" panose="02040503050406030204" pitchFamily="18" charset="0"/>
                          <a:ea typeface="Cambria Math" panose="02040503050406030204" pitchFamily="18" charset="0"/>
                          <a:cs typeface="Times New Roman" panose="02020603050405020304" pitchFamily="18" charset="0"/>
                        </a:rPr>
                        <m:t> = </m:t>
                      </m:r>
                      <m:r>
                        <m:rPr>
                          <m:nor/>
                        </m:rPr>
                        <a:rPr lang="fr-FR" b="0" i="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lnK</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1</m:t>
                      </m:r>
                      <m:r>
                        <m:rPr>
                          <m:nor/>
                        </m:rPr>
                        <a:rPr lang="fr-FR" b="0" i="0" baseline="-25000" smtClean="0">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m:t>
                      </m:r>
                      <m:f>
                        <m:fPr>
                          <m:ctrlPr>
                            <a:rPr lang="fr-FR" i="1">
                              <a:latin typeface="Cambria Math" panose="02040503050406030204" pitchFamily="18" charset="0"/>
                            </a:rPr>
                          </m:ctrlPr>
                        </m:fPr>
                        <m:num>
                          <m:sSup>
                            <m:sSupPr>
                              <m:ctrlPr>
                                <a:rPr lang="fr-FR" i="1">
                                  <a:latin typeface="Cambria Math" panose="02040503050406030204" pitchFamily="18" charset="0"/>
                                </a:rPr>
                              </m:ctrlPr>
                            </m:sSupPr>
                            <m:e>
                              <m:r>
                                <a:rPr lang="fr-FR" i="1">
                                  <a:latin typeface="Cambria Math" panose="02040503050406030204" pitchFamily="18" charset="0"/>
                                </a:rPr>
                                <m:t>𝑛</m:t>
                              </m:r>
                            </m:e>
                            <m:sup>
                              <m:r>
                                <a:rPr lang="fr-FR" i="1">
                                  <a:latin typeface="Cambria Math" panose="02040503050406030204" pitchFamily="18" charset="0"/>
                                </a:rPr>
                                <m:t>∗</m:t>
                              </m:r>
                            </m:sup>
                          </m:sSup>
                        </m:num>
                        <m:den>
                          <m:r>
                            <a:rPr lang="fr-FR" i="1">
                              <a:latin typeface="Cambria Math" panose="02040503050406030204" pitchFamily="18" charset="0"/>
                            </a:rPr>
                            <m:t>𝑁</m:t>
                          </m:r>
                        </m:den>
                      </m:f>
                    </m:oMath>
                  </m:oMathPara>
                </a14:m>
                <a:endParaRPr lang="fr-FR" baseline="-250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1488172" y="3969579"/>
                <a:ext cx="2188484" cy="409599"/>
              </a:xfrm>
              <a:prstGeom prst="rect">
                <a:avLst/>
              </a:prstGeom>
              <a:blipFill>
                <a:blip r:embed="rId9"/>
                <a:stretch>
                  <a:fillRect l="-1671" r="-557" b="-134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3868741" y="4052397"/>
                <a:ext cx="38504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2" name="Rectangle 1"/>
              <p:cNvSpPr>
                <a:spLocks noRot="1" noChangeAspect="1" noMove="1" noResize="1" noEditPoints="1" noAdjustHandles="1" noChangeArrowheads="1" noChangeShapeType="1" noTextEdit="1"/>
              </p:cNvSpPr>
              <p:nvPr/>
            </p:nvSpPr>
            <p:spPr>
              <a:xfrm>
                <a:off x="3868741" y="4052397"/>
                <a:ext cx="385041" cy="307777"/>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405817" y="3972462"/>
                <a:ext cx="948145" cy="442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fr-FR" b="0" i="1" smtClean="0">
                              <a:latin typeface="Cambria Math" panose="02040503050406030204" pitchFamily="18" charset="0"/>
                            </a:rPr>
                          </m:ctrlPr>
                        </m:fPr>
                        <m:num>
                          <m:sSup>
                            <m:sSupPr>
                              <m:ctrlPr>
                                <a:rPr lang="fr-FR" b="0" i="1" smtClean="0">
                                  <a:latin typeface="Cambria Math" panose="02040503050406030204" pitchFamily="18" charset="0"/>
                                </a:rPr>
                              </m:ctrlPr>
                            </m:sSupPr>
                            <m:e>
                              <m:r>
                                <a:rPr lang="fr-FR" b="0" i="1" smtClean="0">
                                  <a:latin typeface="Cambria Math" panose="02040503050406030204" pitchFamily="18" charset="0"/>
                                </a:rPr>
                                <m:t>𝑛</m:t>
                              </m:r>
                            </m:e>
                            <m:sup>
                              <m:r>
                                <a:rPr lang="fr-FR" b="0" i="1" smtClean="0">
                                  <a:latin typeface="Cambria Math" panose="02040503050406030204" pitchFamily="18" charset="0"/>
                                </a:rPr>
                                <m:t>∗</m:t>
                              </m:r>
                            </m:sup>
                          </m:sSup>
                        </m:num>
                        <m:den>
                          <m:r>
                            <a:rPr lang="fr-FR" b="0" i="1" smtClean="0">
                              <a:latin typeface="Cambria Math" panose="02040503050406030204" pitchFamily="18" charset="0"/>
                            </a:rPr>
                            <m:t>𝑁</m:t>
                          </m:r>
                        </m:den>
                      </m:f>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b="0" i="1" smtClean="0">
                                  <a:latin typeface="Cambria Math" panose="02040503050406030204" pitchFamily="18" charset="0"/>
                                </a:rPr>
                                <m:t>𝑅𝑇</m:t>
                              </m:r>
                            </m:den>
                          </m:f>
                        </m:sup>
                      </m:sSup>
                    </m:oMath>
                  </m:oMathPara>
                </a14:m>
                <a:endParaRPr lang="fr-FR" dirty="0"/>
              </a:p>
            </p:txBody>
          </p:sp>
        </mc:Choice>
        <mc:Fallback xmlns="">
          <p:sp>
            <p:nvSpPr>
              <p:cNvPr id="19" name="TextBox 18"/>
              <p:cNvSpPr txBox="1">
                <a:spLocks noRot="1" noChangeAspect="1" noMove="1" noResize="1" noEditPoints="1" noAdjustHandles="1" noChangeArrowheads="1" noChangeShapeType="1" noTextEdit="1"/>
              </p:cNvSpPr>
              <p:nvPr/>
            </p:nvSpPr>
            <p:spPr>
              <a:xfrm>
                <a:off x="4405817" y="3972462"/>
                <a:ext cx="948145" cy="442301"/>
              </a:xfrm>
              <a:prstGeom prst="rect">
                <a:avLst/>
              </a:prstGeom>
              <a:blipFill>
                <a:blip r:embed="rId11"/>
                <a:stretch>
                  <a:fillRect l="-1935" t="-1389" b="-9722"/>
                </a:stretch>
              </a:blipFill>
            </p:spPr>
            <p:txBody>
              <a:bodyPr/>
              <a:lstStyle/>
              <a:p>
                <a:r>
                  <a:rPr lang="fr-FR">
                    <a:noFill/>
                  </a:rPr>
                  <a:t> </a:t>
                </a:r>
              </a:p>
            </p:txBody>
          </p:sp>
        </mc:Fallback>
      </mc:AlternateContent>
      <p:sp>
        <p:nvSpPr>
          <p:cNvPr id="20" name="Rectangle 19"/>
          <p:cNvSpPr/>
          <p:nvPr/>
        </p:nvSpPr>
        <p:spPr>
          <a:xfrm>
            <a:off x="5602345" y="3943545"/>
            <a:ext cx="2407502" cy="461665"/>
          </a:xfrm>
          <a:prstGeom prst="rect">
            <a:avLst/>
          </a:prstGeom>
        </p:spPr>
        <p:txBody>
          <a:bodyPr wrap="square">
            <a:spAutoFit/>
          </a:bodyPr>
          <a:lstStyle/>
          <a:p>
            <a:pPr lvl="0" algn="just"/>
            <a:r>
              <a:rPr lang="fr-FR" sz="1200" dirty="0">
                <a:latin typeface="Times New Roman" panose="02020603050405020304" pitchFamily="18" charset="0"/>
                <a:cs typeface="Times New Roman" panose="02020603050405020304" pitchFamily="18" charset="0"/>
              </a:rPr>
              <a:t>C’est la probabilité qu'un atome soit dans son état activé.</a:t>
            </a:r>
          </a:p>
        </p:txBody>
      </p:sp>
      <p:sp>
        <p:nvSpPr>
          <p:cNvPr id="3" name="Rectangle 2"/>
          <p:cNvSpPr/>
          <p:nvPr/>
        </p:nvSpPr>
        <p:spPr>
          <a:xfrm>
            <a:off x="4295724" y="3847011"/>
            <a:ext cx="1125362" cy="679269"/>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ln w="28575">
                <a:solidFill>
                  <a:schemeClr val="tx1"/>
                </a:solidFill>
              </a:ln>
            </a:endParaRPr>
          </a:p>
        </p:txBody>
      </p:sp>
      <p:sp>
        <p:nvSpPr>
          <p:cNvPr id="22"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a:latin typeface="Times New Roman" panose="02020603050405020304" pitchFamily="18" charset="0"/>
                <a:cs typeface="Times New Roman" panose="02020603050405020304" pitchFamily="18" charset="0"/>
              </a:rPr>
              <a:t>Le mécanisme </a:t>
            </a:r>
            <a:r>
              <a:rPr lang="fr-FR" sz="2400" b="1" dirty="0" smtClean="0">
                <a:latin typeface="Times New Roman" panose="02020603050405020304" pitchFamily="18" charset="0"/>
                <a:cs typeface="Times New Roman" panose="02020603050405020304" pitchFamily="18" charset="0"/>
              </a:rPr>
              <a:t>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31" name="Google Shape;369;p35"/>
          <p:cNvSpPr txBox="1"/>
          <p:nvPr/>
        </p:nvSpPr>
        <p:spPr>
          <a:xfrm>
            <a:off x="1724250" y="4729706"/>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mc:AlternateContent xmlns:mc="http://schemas.openxmlformats.org/markup-compatibility/2006" xmlns:a14="http://schemas.microsoft.com/office/drawing/2010/main">
        <mc:Choice Requires="a14">
          <p:sp>
            <p:nvSpPr>
              <p:cNvPr id="2" name="Rectangle 1"/>
              <p:cNvSpPr/>
              <p:nvPr/>
            </p:nvSpPr>
            <p:spPr>
              <a:xfrm>
                <a:off x="718458" y="631657"/>
                <a:ext cx="8334102" cy="523220"/>
              </a:xfrm>
              <a:prstGeom prst="rect">
                <a:avLst/>
              </a:prstGeom>
            </p:spPr>
            <p:txBody>
              <a:bodyPr wrap="square">
                <a:spAutoFit/>
              </a:bodyPr>
              <a:lstStyle/>
              <a:p>
                <a:pPr algn="just"/>
                <a:r>
                  <a:rPr lang="fr-FR" dirty="0" smtClean="0">
                    <a:latin typeface="Times New Roman" panose="02020603050405020304" pitchFamily="18" charset="0"/>
                    <a:cs typeface="Times New Roman" panose="02020603050405020304" pitchFamily="18" charset="0"/>
                  </a:rPr>
                  <a:t>On pose </a:t>
                </a:r>
                <a14:m>
                  <m:oMath xmlns:m="http://schemas.openxmlformats.org/officeDocument/2006/math">
                    <m:r>
                      <a:rPr lang="fr-FR" i="1" dirty="0">
                        <a:latin typeface="Cambria Math" panose="02040503050406030204" pitchFamily="18" charset="0"/>
                        <a:ea typeface="Cambria Math" panose="02040503050406030204" pitchFamily="18" charset="0"/>
                        <a:cs typeface="Times New Roman" panose="02020603050405020304" pitchFamily="18" charset="0"/>
                      </a:rPr>
                      <m:t>𝜈</m:t>
                    </m:r>
                    <m:r>
                      <a:rPr lang="fr-FR" b="0" i="1" dirty="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fr-FR" dirty="0" smtClean="0">
                    <a:latin typeface="Times New Roman" panose="02020603050405020304" pitchFamily="18" charset="0"/>
                    <a:cs typeface="Times New Roman" panose="02020603050405020304" pitchFamily="18" charset="0"/>
                  </a:rPr>
                  <a:t>la </a:t>
                </a:r>
                <a:r>
                  <a:rPr lang="fr-FR" dirty="0">
                    <a:latin typeface="Times New Roman" panose="02020603050405020304" pitchFamily="18" charset="0"/>
                    <a:cs typeface="Times New Roman" panose="02020603050405020304" pitchFamily="18" charset="0"/>
                  </a:rPr>
                  <a:t>fréquence de saut de </a:t>
                </a:r>
                <a:r>
                  <a:rPr lang="fr-FR" dirty="0" smtClean="0">
                    <a:latin typeface="Times New Roman" panose="02020603050405020304" pitchFamily="18" charset="0"/>
                    <a:cs typeface="Times New Roman" panose="02020603050405020304" pitchFamily="18" charset="0"/>
                  </a:rPr>
                  <a:t>l'atome, alors </a:t>
                </a:r>
                <a:r>
                  <a:rPr lang="fr-FR" dirty="0">
                    <a:latin typeface="Times New Roman" panose="02020603050405020304" pitchFamily="18" charset="0"/>
                    <a:cs typeface="Times New Roman" panose="02020603050405020304" pitchFamily="18" charset="0"/>
                  </a:rPr>
                  <a:t>le nombre de sauts par seconde exécutés par un atome ayant </a:t>
                </a:r>
                <a:r>
                  <a:rPr lang="fr-FR" dirty="0" smtClean="0">
                    <a:latin typeface="Times New Roman" panose="02020603050405020304" pitchFamily="18" charset="0"/>
                    <a:cs typeface="Times New Roman" panose="02020603050405020304" pitchFamily="18" charset="0"/>
                  </a:rPr>
                  <a:t>l'énergie </a:t>
                </a:r>
                <a:r>
                  <a:rPr lang="fr-FR" dirty="0">
                    <a:latin typeface="Times New Roman" panose="02020603050405020304" pitchFamily="18" charset="0"/>
                    <a:cs typeface="Times New Roman" panose="02020603050405020304" pitchFamily="18" charset="0"/>
                  </a:rPr>
                  <a:t>pour surmonter la barrière d'énergie d'activation </a:t>
                </a:r>
                <a:r>
                  <a:rPr lang="fr-FR" dirty="0" smtClean="0">
                    <a:latin typeface="Times New Roman" panose="02020603050405020304" pitchFamily="18" charset="0"/>
                    <a:cs typeface="Times New Roman" panose="02020603050405020304" pitchFamily="18" charset="0"/>
                  </a:rPr>
                  <a:t>est : </a:t>
                </a:r>
                <a:endParaRPr lang="fr-FR"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718458" y="631657"/>
                <a:ext cx="8334102" cy="523220"/>
              </a:xfrm>
              <a:prstGeom prst="rect">
                <a:avLst/>
              </a:prstGeom>
              <a:blipFill>
                <a:blip r:embed="rId3"/>
                <a:stretch>
                  <a:fillRect l="-219" t="-2353" r="-219" b="-1176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29545" y="1867264"/>
                <a:ext cx="8334102" cy="738664"/>
              </a:xfrm>
              <a:prstGeom prst="rect">
                <a:avLst/>
              </a:prstGeom>
            </p:spPr>
            <p:txBody>
              <a:bodyPr wrap="square">
                <a:spAutoFit/>
              </a:bodyPr>
              <a:lstStyle/>
              <a:p>
                <a:r>
                  <a:rPr lang="fr-FR" b="1" dirty="0" smtClean="0">
                    <a:latin typeface="Times New Roman" panose="02020603050405020304" pitchFamily="18" charset="0"/>
                    <a:cs typeface="Times New Roman" panose="02020603050405020304" pitchFamily="18" charset="0"/>
                  </a:rPr>
                  <a:t>La deuxième étape </a:t>
                </a:r>
                <a:r>
                  <a:rPr lang="fr-FR" dirty="0" smtClean="0">
                    <a:latin typeface="Times New Roman" panose="02020603050405020304" pitchFamily="18" charset="0"/>
                    <a:cs typeface="Times New Roman" panose="02020603050405020304" pitchFamily="18" charset="0"/>
                  </a:rPr>
                  <a:t>consiste à déterminer la probabilité que le </a:t>
                </a:r>
                <a:r>
                  <a:rPr lang="fr-FR" dirty="0">
                    <a:latin typeface="Times New Roman" panose="02020603050405020304" pitchFamily="18" charset="0"/>
                    <a:cs typeface="Times New Roman" panose="02020603050405020304" pitchFamily="18" charset="0"/>
                  </a:rPr>
                  <a:t>site adjacent de l'atome activé sera </a:t>
                </a:r>
                <a:r>
                  <a:rPr lang="fr-FR" dirty="0" smtClean="0">
                    <a:latin typeface="Times New Roman" panose="02020603050405020304" pitchFamily="18" charset="0"/>
                    <a:cs typeface="Times New Roman" panose="02020603050405020304" pitchFamily="18" charset="0"/>
                  </a:rPr>
                  <a:t>vacant.</a:t>
                </a:r>
                <a:endParaRPr lang="fr-FR" i="1" dirty="0" smtClean="0">
                  <a:latin typeface="Cambria Math" panose="02040503050406030204" pitchFamily="18" charset="0"/>
                  <a:cs typeface="Times New Roman" panose="02020603050405020304" pitchFamily="18" charset="0"/>
                </a:endParaRPr>
              </a:p>
              <a:p>
                <a14:m>
                  <m:oMath xmlns:m="http://schemas.openxmlformats.org/officeDocument/2006/math">
                    <m:sSub>
                      <m:sSubPr>
                        <m:ctrlPr>
                          <a:rPr lang="fr-FR" i="1" smtClean="0">
                            <a:latin typeface="Cambria Math" panose="02040503050406030204" pitchFamily="18" charset="0"/>
                            <a:cs typeface="Times New Roman" panose="02020603050405020304" pitchFamily="18" charset="0"/>
                          </a:rPr>
                        </m:ctrlPr>
                      </m:sSubPr>
                      <m:e>
                        <m:r>
                          <a:rPr lang="fr-FR" b="0" i="1" smtClean="0">
                            <a:latin typeface="Cambria Math" panose="02040503050406030204" pitchFamily="18" charset="0"/>
                            <a:cs typeface="Times New Roman" panose="02020603050405020304" pitchFamily="18" charset="0"/>
                          </a:rPr>
                          <m:t>𝑛</m:t>
                        </m:r>
                      </m:e>
                      <m:sub>
                        <m:r>
                          <a:rPr lang="fr-FR" b="0" i="1" smtClean="0">
                            <a:latin typeface="Cambria Math" panose="02040503050406030204" pitchFamily="18" charset="0"/>
                            <a:cs typeface="Times New Roman" panose="02020603050405020304" pitchFamily="18" charset="0"/>
                          </a:rPr>
                          <m:t>𝑣</m:t>
                        </m:r>
                      </m:sub>
                    </m:sSub>
                  </m:oMath>
                </a14:m>
                <a:r>
                  <a:rPr lang="fr-FR" dirty="0" smtClean="0">
                    <a:latin typeface="Times New Roman" panose="02020603050405020304" pitchFamily="18" charset="0"/>
                    <a:cs typeface="Times New Roman" panose="02020603050405020304" pitchFamily="18" charset="0"/>
                  </a:rPr>
                  <a:t>: le nombre des sites vacants.</a:t>
                </a:r>
                <a:r>
                  <a:rPr lang="en-US" dirty="0">
                    <a:latin typeface="Times New Roman" panose="02020603050405020304" pitchFamily="18" charset="0"/>
                    <a:cs typeface="Times New Roman" panose="02020603050405020304" pitchFamily="18" charset="0"/>
                  </a:rPr>
                  <a:t> </a:t>
                </a:r>
                <a:endParaRPr lang="fr-FR" dirty="0" smtClean="0">
                  <a:latin typeface="Times New Roman" panose="02020603050405020304" pitchFamily="18" charset="0"/>
                  <a:cs typeface="Times New Roman" panose="02020603050405020304" pitchFamily="18" charset="0"/>
                </a:endParaRPr>
              </a:p>
              <a:p>
                <a14:m>
                  <m:oMath xmlns:m="http://schemas.openxmlformats.org/officeDocument/2006/math">
                    <m:r>
                      <a:rPr lang="fr-FR" b="0" i="1" smtClean="0">
                        <a:latin typeface="Cambria Math" panose="02040503050406030204" pitchFamily="18" charset="0"/>
                        <a:cs typeface="Times New Roman" panose="02020603050405020304" pitchFamily="18" charset="0"/>
                      </a:rPr>
                      <m:t>𝑛</m:t>
                    </m:r>
                  </m:oMath>
                </a14:m>
                <a:r>
                  <a:rPr lang="fr-FR" dirty="0" smtClean="0">
                    <a:latin typeface="Times New Roman" panose="02020603050405020304" pitchFamily="18" charset="0"/>
                    <a:cs typeface="Times New Roman" panose="02020603050405020304" pitchFamily="18" charset="0"/>
                  </a:rPr>
                  <a:t>: le nombre des sites normales. </a:t>
                </a:r>
              </a:p>
            </p:txBody>
          </p:sp>
        </mc:Choice>
        <mc:Fallback xmlns="">
          <p:sp>
            <p:nvSpPr>
              <p:cNvPr id="3" name="Rectangle 2"/>
              <p:cNvSpPr>
                <a:spLocks noRot="1" noChangeAspect="1" noMove="1" noResize="1" noEditPoints="1" noAdjustHandles="1" noChangeArrowheads="1" noChangeShapeType="1" noTextEdit="1"/>
              </p:cNvSpPr>
              <p:nvPr/>
            </p:nvSpPr>
            <p:spPr>
              <a:xfrm>
                <a:off x="729545" y="1867264"/>
                <a:ext cx="8334102" cy="738664"/>
              </a:xfrm>
              <a:prstGeom prst="rect">
                <a:avLst/>
              </a:prstGeom>
              <a:blipFill>
                <a:blip r:embed="rId4"/>
                <a:stretch>
                  <a:fillRect l="-219" t="-826" b="-826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909886" y="1258688"/>
                <a:ext cx="1356012" cy="5231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dirty="0">
                          <a:latin typeface="Cambria Math" panose="02040503050406030204" pitchFamily="18" charset="0"/>
                          <a:ea typeface="Cambria Math" panose="02040503050406030204" pitchFamily="18" charset="0"/>
                          <a:cs typeface="Times New Roman" panose="02020603050405020304" pitchFamily="18" charset="0"/>
                        </a:rPr>
                        <m:t>𝜈</m:t>
                      </m:r>
                      <m:f>
                        <m:fPr>
                          <m:ctrlPr>
                            <a:rPr lang="fr-FR" i="1">
                              <a:latin typeface="Cambria Math" panose="02040503050406030204" pitchFamily="18" charset="0"/>
                            </a:rPr>
                          </m:ctrlPr>
                        </m:fPr>
                        <m:num>
                          <m:sSup>
                            <m:sSupPr>
                              <m:ctrlPr>
                                <a:rPr lang="fr-FR" i="1">
                                  <a:latin typeface="Cambria Math" panose="02040503050406030204" pitchFamily="18" charset="0"/>
                                </a:rPr>
                              </m:ctrlPr>
                            </m:sSupPr>
                            <m:e>
                              <m:r>
                                <a:rPr lang="fr-FR" i="1">
                                  <a:latin typeface="Cambria Math" panose="02040503050406030204" pitchFamily="18" charset="0"/>
                                </a:rPr>
                                <m:t>𝑛</m:t>
                              </m:r>
                            </m:e>
                            <m:sup>
                              <m:r>
                                <a:rPr lang="fr-FR" i="1">
                                  <a:latin typeface="Cambria Math" panose="02040503050406030204" pitchFamily="18" charset="0"/>
                                </a:rPr>
                                <m:t>∗</m:t>
                              </m:r>
                            </m:sup>
                          </m:sSup>
                        </m:num>
                        <m:den>
                          <m:r>
                            <a:rPr lang="fr-FR" i="1">
                              <a:latin typeface="Cambria Math" panose="02040503050406030204" pitchFamily="18" charset="0"/>
                            </a:rPr>
                            <m:t>𝑁</m:t>
                          </m:r>
                        </m:den>
                      </m:f>
                      <m:r>
                        <a:rPr lang="fr-FR" i="1">
                          <a:latin typeface="Cambria Math" panose="02040503050406030204" pitchFamily="18" charset="0"/>
                        </a:rPr>
                        <m:t>=</m:t>
                      </m:r>
                      <m:r>
                        <a:rPr lang="fr-FR" i="1" dirty="0">
                          <a:latin typeface="Cambria Math" panose="02040503050406030204" pitchFamily="18" charset="0"/>
                          <a:ea typeface="Cambria Math" panose="02040503050406030204" pitchFamily="18" charset="0"/>
                          <a:cs typeface="Times New Roman" panose="02020603050405020304" pitchFamily="18" charset="0"/>
                        </a:rPr>
                        <m:t>𝜈</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oMath>
                  </m:oMathPara>
                </a14:m>
                <a:endParaRPr lang="fr-FR" dirty="0"/>
              </a:p>
            </p:txBody>
          </p:sp>
        </mc:Choice>
        <mc:Fallback xmlns="">
          <p:sp>
            <p:nvSpPr>
              <p:cNvPr id="4" name="Rectangle 3"/>
              <p:cNvSpPr>
                <a:spLocks noRot="1" noChangeAspect="1" noMove="1" noResize="1" noEditPoints="1" noAdjustHandles="1" noChangeArrowheads="1" noChangeShapeType="1" noTextEdit="1"/>
              </p:cNvSpPr>
              <p:nvPr/>
            </p:nvSpPr>
            <p:spPr>
              <a:xfrm>
                <a:off x="3909886" y="1258688"/>
                <a:ext cx="1356012" cy="523157"/>
              </a:xfrm>
              <a:prstGeom prst="rect">
                <a:avLst/>
              </a:prstGeom>
              <a:blipFill>
                <a:blip r:embed="rId5"/>
                <a:stretch>
                  <a:fillRect b="-116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3530366" y="2223170"/>
                <a:ext cx="1010213" cy="307777"/>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N =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oMath>
                </a14:m>
                <a:r>
                  <a:rPr lang="en-US" dirty="0">
                    <a:latin typeface="Times New Roman" panose="02020603050405020304" pitchFamily="18" charset="0"/>
                    <a:cs typeface="Times New Roman" panose="02020603050405020304" pitchFamily="18" charset="0"/>
                  </a:rPr>
                  <a:t>+ n </a:t>
                </a:r>
                <a:endParaRPr lang="fr-FR" dirty="0"/>
              </a:p>
            </p:txBody>
          </p:sp>
        </mc:Choice>
        <mc:Fallback xmlns="">
          <p:sp>
            <p:nvSpPr>
              <p:cNvPr id="5" name="Rectangle 4"/>
              <p:cNvSpPr>
                <a:spLocks noRot="1" noChangeAspect="1" noMove="1" noResize="1" noEditPoints="1" noAdjustHandles="1" noChangeArrowheads="1" noChangeShapeType="1" noTextEdit="1"/>
              </p:cNvSpPr>
              <p:nvPr/>
            </p:nvSpPr>
            <p:spPr>
              <a:xfrm>
                <a:off x="3530366" y="2223170"/>
                <a:ext cx="1010213" cy="307777"/>
              </a:xfrm>
              <a:prstGeom prst="rect">
                <a:avLst/>
              </a:prstGeom>
              <a:blipFill>
                <a:blip r:embed="rId6"/>
                <a:stretch>
                  <a:fillRect l="-1807" t="-4000" b="-20000"/>
                </a:stretch>
              </a:blipFill>
            </p:spPr>
            <p:txBody>
              <a:bodyPr/>
              <a:lstStyle/>
              <a:p>
                <a:r>
                  <a:rPr lang="fr-FR">
                    <a:noFill/>
                  </a:rPr>
                  <a:t> </a:t>
                </a:r>
              </a:p>
            </p:txBody>
          </p:sp>
        </mc:Fallback>
      </mc:AlternateContent>
      <p:sp>
        <p:nvSpPr>
          <p:cNvPr id="10" name="Rectangle 9"/>
          <p:cNvSpPr/>
          <p:nvPr/>
        </p:nvSpPr>
        <p:spPr>
          <a:xfrm>
            <a:off x="718457" y="2750717"/>
            <a:ext cx="8098971" cy="307777"/>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P</a:t>
            </a:r>
            <a:r>
              <a:rPr lang="fr-FR" dirty="0" smtClean="0">
                <a:latin typeface="Times New Roman" panose="02020603050405020304" pitchFamily="18" charset="0"/>
                <a:cs typeface="Times New Roman" panose="02020603050405020304" pitchFamily="18" charset="0"/>
              </a:rPr>
              <a:t>our </a:t>
            </a:r>
            <a:r>
              <a:rPr lang="fr-FR" dirty="0">
                <a:latin typeface="Times New Roman" panose="02020603050405020304" pitchFamily="18" charset="0"/>
                <a:cs typeface="Times New Roman" panose="02020603050405020304" pitchFamily="18" charset="0"/>
              </a:rPr>
              <a:t>la transformation d'un atome sur un site de réseau normal en un atome sur un site de réseau </a:t>
            </a:r>
            <a:r>
              <a:rPr lang="fr-FR" dirty="0" smtClean="0">
                <a:latin typeface="Times New Roman" panose="02020603050405020304" pitchFamily="18" charset="0"/>
                <a:cs typeface="Times New Roman" panose="02020603050405020304" pitchFamily="18" charset="0"/>
              </a:rPr>
              <a:t>vacant :</a:t>
            </a:r>
            <a:endParaRPr lang="fr-FR"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p:cNvSpPr/>
              <p:nvPr/>
            </p:nvSpPr>
            <p:spPr>
              <a:xfrm>
                <a:off x="718458" y="3346934"/>
                <a:ext cx="1500732" cy="302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smtClean="0">
                          <a:latin typeface="Cambria Math" panose="02040503050406030204" pitchFamily="18" charset="0"/>
                          <a:ea typeface="Cambria Math" panose="02040503050406030204" pitchFamily="18" charset="0"/>
                          <a:cs typeface="Times New Roman" panose="02020603050405020304" pitchFamily="18" charset="0"/>
                        </a:rPr>
                        <m:t>m</m:t>
                      </m:r>
                      <m:r>
                        <m:rPr>
                          <m:nor/>
                        </m:rPr>
                        <a:rPr lang="fr-FR">
                          <a:latin typeface="Cambria Math" panose="02040503050406030204" pitchFamily="18" charset="0"/>
                          <a:ea typeface="Cambria Math" panose="02040503050406030204" pitchFamily="18" charset="0"/>
                          <a:cs typeface="Times New Roman" panose="02020603050405020304" pitchFamily="18" charset="0"/>
                        </a:rPr>
                        <m:t> = −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lnK</m:t>
                      </m:r>
                      <m:r>
                        <m:rPr>
                          <m:nor/>
                        </m:rPr>
                        <a:rPr lang="fr-FR" b="0" i="0" baseline="-25000" smtClean="0">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lang="fr-FR" baseline="-250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2" name="Rectangle 11"/>
              <p:cNvSpPr>
                <a:spLocks noRot="1" noChangeAspect="1" noMove="1" noResize="1" noEditPoints="1" noAdjustHandles="1" noChangeArrowheads="1" noChangeShapeType="1" noTextEdit="1"/>
              </p:cNvSpPr>
              <p:nvPr/>
            </p:nvSpPr>
            <p:spPr>
              <a:xfrm>
                <a:off x="718458" y="3346934"/>
                <a:ext cx="1500732" cy="302840"/>
              </a:xfrm>
              <a:prstGeom prst="rect">
                <a:avLst/>
              </a:prstGeom>
              <a:blipFill>
                <a:blip r:embed="rId8"/>
                <a:stretch>
                  <a:fillRect/>
                </a:stretch>
              </a:blipFill>
            </p:spPr>
            <p:txBody>
              <a:bodyPr/>
              <a:lstStyle/>
              <a:p>
                <a:r>
                  <a:rPr lang="fr-FR">
                    <a:noFill/>
                  </a:rPr>
                  <a:t> </a:t>
                </a:r>
              </a:p>
            </p:txBody>
          </p:sp>
        </mc:Fallback>
      </mc:AlternateContent>
      <p:sp>
        <p:nvSpPr>
          <p:cNvPr id="15" name="Rectangle 14"/>
          <p:cNvSpPr/>
          <p:nvPr/>
        </p:nvSpPr>
        <p:spPr>
          <a:xfrm>
            <a:off x="2219190" y="3359854"/>
            <a:ext cx="2613243" cy="276999"/>
          </a:xfrm>
          <a:prstGeom prst="rect">
            <a:avLst/>
          </a:prstGeom>
        </p:spPr>
        <p:txBody>
          <a:bodyPr wrap="square">
            <a:spAutoFit/>
          </a:bodyPr>
          <a:lstStyle/>
          <a:p>
            <a:r>
              <a:rPr lang="fr-FR" sz="1200" dirty="0" smtClean="0">
                <a:latin typeface="Times New Roman" panose="02020603050405020304" pitchFamily="18" charset="0"/>
                <a:cs typeface="Times New Roman" panose="02020603050405020304" pitchFamily="18" charset="0"/>
              </a:rPr>
              <a:t>(K</a:t>
            </a:r>
            <a:r>
              <a:rPr lang="fr-FR" sz="1200" baseline="-25000" dirty="0" smtClean="0">
                <a:latin typeface="Times New Roman" panose="02020603050405020304" pitchFamily="18" charset="0"/>
                <a:cs typeface="Times New Roman" panose="02020603050405020304" pitchFamily="18" charset="0"/>
              </a:rPr>
              <a:t>2</a:t>
            </a:r>
            <a:r>
              <a:rPr lang="fr-FR" sz="1200" dirty="0" smtClean="0">
                <a:latin typeface="Times New Roman" panose="02020603050405020304" pitchFamily="18" charset="0"/>
                <a:cs typeface="Times New Roman" panose="02020603050405020304" pitchFamily="18" charset="0"/>
              </a:rPr>
              <a:t> la </a:t>
            </a:r>
            <a:r>
              <a:rPr lang="fr-FR" sz="1200" dirty="0" err="1" smtClean="0">
                <a:latin typeface="Times New Roman" panose="02020603050405020304" pitchFamily="18" charset="0"/>
                <a:cs typeface="Times New Roman" panose="02020603050405020304" pitchFamily="18" charset="0"/>
              </a:rPr>
              <a:t>cst</a:t>
            </a:r>
            <a:r>
              <a:rPr lang="fr-FR" sz="1200" dirty="0" smtClean="0">
                <a:latin typeface="Times New Roman" panose="02020603050405020304" pitchFamily="18" charset="0"/>
                <a:cs typeface="Times New Roman" panose="02020603050405020304" pitchFamily="18" charset="0"/>
              </a:rPr>
              <a:t> d'équilibre de transformation)</a:t>
            </a:r>
            <a:endParaRPr lang="fr-FR"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Rectangle 15"/>
              <p:cNvSpPr/>
              <p:nvPr/>
            </p:nvSpPr>
            <p:spPr>
              <a:xfrm>
                <a:off x="4692988" y="3359854"/>
                <a:ext cx="38504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16" name="Rectangle 15"/>
              <p:cNvSpPr>
                <a:spLocks noRot="1" noChangeAspect="1" noMove="1" noResize="1" noEditPoints="1" noAdjustHandles="1" noChangeArrowheads="1" noChangeShapeType="1" noTextEdit="1"/>
              </p:cNvSpPr>
              <p:nvPr/>
            </p:nvSpPr>
            <p:spPr>
              <a:xfrm>
                <a:off x="4692988" y="3359854"/>
                <a:ext cx="385041" cy="307777"/>
              </a:xfrm>
              <a:prstGeom prst="rect">
                <a:avLst/>
              </a:prstGeom>
              <a:blipFill>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034301" y="3213647"/>
                <a:ext cx="3021147" cy="5669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sz="1100" b="0" i="1" smtClean="0">
                              <a:latin typeface="Cambria Math" panose="02040503050406030204" pitchFamily="18" charset="0"/>
                            </a:rPr>
                          </m:ctrlPr>
                        </m:sSubPr>
                        <m:e>
                          <m:r>
                            <a:rPr lang="fr-FR" sz="1100" b="0" i="1" smtClean="0">
                              <a:latin typeface="Cambria Math" panose="02040503050406030204" pitchFamily="18" charset="0"/>
                            </a:rPr>
                            <m:t>𝐾</m:t>
                          </m:r>
                        </m:e>
                        <m:sub>
                          <m:r>
                            <a:rPr lang="fr-FR" sz="1100" b="0" i="1" smtClean="0">
                              <a:latin typeface="Cambria Math" panose="02040503050406030204" pitchFamily="18" charset="0"/>
                            </a:rPr>
                            <m:t>2</m:t>
                          </m:r>
                        </m:sub>
                      </m:sSub>
                      <m:r>
                        <a:rPr lang="fr-FR" sz="1100" b="0" i="1" smtClean="0">
                          <a:latin typeface="Cambria Math" panose="02040503050406030204" pitchFamily="18" charset="0"/>
                        </a:rPr>
                        <m:t>= </m:t>
                      </m:r>
                      <m:f>
                        <m:fPr>
                          <m:ctrlPr>
                            <a:rPr lang="fr-FR" sz="1100" b="0" i="1" smtClean="0">
                              <a:latin typeface="Cambria Math" panose="02040503050406030204" pitchFamily="18" charset="0"/>
                            </a:rPr>
                          </m:ctrlPr>
                        </m:fPr>
                        <m:num>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𝑙</m:t>
                              </m:r>
                            </m:e>
                            <m:sup>
                              <m:r>
                                <a:rPr lang="fr-FR" sz="1100" b="0" i="1" smtClean="0">
                                  <a:latin typeface="Cambria Math" panose="02040503050406030204" pitchFamily="18" charset="0"/>
                                </a:rPr>
                                <m:t>′</m:t>
                              </m:r>
                            </m:sup>
                          </m:sSup>
                          <m:r>
                            <a:rPr lang="fr-FR" sz="1100" b="0" i="1" smtClean="0">
                              <a:latin typeface="Cambria Math" panose="02040503050406030204" pitchFamily="18" charset="0"/>
                            </a:rPr>
                            <m:t>𝑎𝑐𝑡𝑖𝑣𝑖𝑡</m:t>
                          </m:r>
                          <m:r>
                            <a:rPr lang="fr-FR" sz="1100" b="0" i="1" smtClean="0">
                              <a:latin typeface="Cambria Math" panose="02040503050406030204" pitchFamily="18" charset="0"/>
                            </a:rPr>
                            <m:t>é </m:t>
                          </m:r>
                          <m:r>
                            <a:rPr lang="fr-FR" sz="1100" b="0" i="1" smtClean="0">
                              <a:latin typeface="Cambria Math" panose="02040503050406030204" pitchFamily="18" charset="0"/>
                            </a:rPr>
                            <m:t>𝑑𝑒𝑠</m:t>
                          </m:r>
                          <m:r>
                            <a:rPr lang="fr-FR" sz="1100" b="0" i="1" smtClean="0">
                              <a:latin typeface="Cambria Math" panose="02040503050406030204" pitchFamily="18" charset="0"/>
                            </a:rPr>
                            <m:t> </m:t>
                          </m:r>
                          <m:r>
                            <m:rPr>
                              <m:nor/>
                            </m:rPr>
                            <a:rPr lang="fr-FR" sz="1100" dirty="0">
                              <a:latin typeface="Times New Roman" panose="02020603050405020304" pitchFamily="18" charset="0"/>
                              <a:cs typeface="Times New Roman" panose="02020603050405020304" pitchFamily="18" charset="0"/>
                            </a:rPr>
                            <m:t>sites</m:t>
                          </m:r>
                          <m:r>
                            <m:rPr>
                              <m:nor/>
                            </m:rPr>
                            <a:rPr lang="fr-FR" sz="1100" dirty="0">
                              <a:latin typeface="Times New Roman" panose="02020603050405020304" pitchFamily="18" charset="0"/>
                              <a:cs typeface="Times New Roman" panose="02020603050405020304" pitchFamily="18" charset="0"/>
                            </a:rPr>
                            <m:t> </m:t>
                          </m:r>
                          <m:r>
                            <m:rPr>
                              <m:nor/>
                            </m:rPr>
                            <a:rPr lang="fr-FR" sz="1100" dirty="0">
                              <a:latin typeface="Times New Roman" panose="02020603050405020304" pitchFamily="18" charset="0"/>
                              <a:cs typeface="Times New Roman" panose="02020603050405020304" pitchFamily="18" charset="0"/>
                            </a:rPr>
                            <m:t>vacants</m:t>
                          </m:r>
                        </m:num>
                        <m:den>
                          <m:sSup>
                            <m:sSupPr>
                              <m:ctrlPr>
                                <a:rPr lang="fr-FR" sz="1100" b="0" i="1" smtClean="0">
                                  <a:latin typeface="Cambria Math" panose="02040503050406030204" pitchFamily="18" charset="0"/>
                                </a:rPr>
                              </m:ctrlPr>
                            </m:sSupPr>
                            <m:e>
                              <m:r>
                                <a:rPr lang="fr-FR" sz="1100" b="0" i="1" smtClean="0">
                                  <a:latin typeface="Cambria Math" panose="02040503050406030204" pitchFamily="18" charset="0"/>
                                </a:rPr>
                                <m:t>𝑙</m:t>
                              </m:r>
                            </m:e>
                            <m:sup>
                              <m:r>
                                <a:rPr lang="fr-FR" sz="1100" b="0" i="1" smtClean="0">
                                  <a:latin typeface="Cambria Math" panose="02040503050406030204" pitchFamily="18" charset="0"/>
                                </a:rPr>
                                <m:t>′</m:t>
                              </m:r>
                            </m:sup>
                          </m:sSup>
                          <m:r>
                            <a:rPr lang="fr-FR" sz="1100" b="0" i="1" smtClean="0">
                              <a:latin typeface="Cambria Math" panose="02040503050406030204" pitchFamily="18" charset="0"/>
                            </a:rPr>
                            <m:t>𝑎𝑐𝑡𝑖𝑣𝑖𝑡</m:t>
                          </m:r>
                          <m:r>
                            <a:rPr lang="fr-FR" sz="1100" b="0" i="1" smtClean="0">
                              <a:latin typeface="Cambria Math" panose="02040503050406030204" pitchFamily="18" charset="0"/>
                            </a:rPr>
                            <m:t>é </m:t>
                          </m:r>
                          <m:r>
                            <a:rPr lang="fr-FR" sz="1100" b="0" i="1" smtClean="0">
                              <a:latin typeface="Cambria Math" panose="02040503050406030204" pitchFamily="18" charset="0"/>
                            </a:rPr>
                            <m:t>𝑑𝑒𝑠</m:t>
                          </m:r>
                          <m:r>
                            <m:rPr>
                              <m:nor/>
                            </m:rPr>
                            <a:rPr lang="fr-FR" sz="1100" b="0" i="0" smtClean="0">
                              <a:latin typeface="Cambria Math" panose="02040503050406030204" pitchFamily="18" charset="0"/>
                            </a:rPr>
                            <m:t> </m:t>
                          </m:r>
                          <m:r>
                            <m:rPr>
                              <m:nor/>
                            </m:rPr>
                            <a:rPr lang="fr-FR" sz="1100" dirty="0">
                              <a:latin typeface="Times New Roman" panose="02020603050405020304" pitchFamily="18" charset="0"/>
                              <a:cs typeface="Times New Roman" panose="02020603050405020304" pitchFamily="18" charset="0"/>
                            </a:rPr>
                            <m:t>sites</m:t>
                          </m:r>
                          <m:r>
                            <m:rPr>
                              <m:nor/>
                            </m:rPr>
                            <a:rPr lang="fr-FR" sz="1100" dirty="0">
                              <a:latin typeface="Times New Roman" panose="02020603050405020304" pitchFamily="18" charset="0"/>
                              <a:cs typeface="Times New Roman" panose="02020603050405020304" pitchFamily="18" charset="0"/>
                            </a:rPr>
                            <m:t> </m:t>
                          </m:r>
                          <m:r>
                            <m:rPr>
                              <m:nor/>
                            </m:rPr>
                            <a:rPr lang="fr-FR" sz="1100" dirty="0">
                              <a:latin typeface="Times New Roman" panose="02020603050405020304" pitchFamily="18" charset="0"/>
                              <a:cs typeface="Times New Roman" panose="02020603050405020304" pitchFamily="18" charset="0"/>
                            </a:rPr>
                            <m:t>normales</m:t>
                          </m:r>
                        </m:den>
                      </m:f>
                      <m:r>
                        <a:rPr lang="fr-FR" sz="1100" b="0" i="0" smtClean="0">
                          <a:latin typeface="Cambria Math" panose="02040503050406030204" pitchFamily="18" charset="0"/>
                        </a:rPr>
                        <m:t>= </m:t>
                      </m:r>
                      <m:f>
                        <m:fPr>
                          <m:ctrlPr>
                            <a:rPr lang="fr-FR" sz="1100" b="0" i="1" smtClean="0">
                              <a:latin typeface="Cambria Math" panose="02040503050406030204" pitchFamily="18" charset="0"/>
                            </a:rPr>
                          </m:ctrlPr>
                        </m:fPr>
                        <m:num>
                          <m:f>
                            <m:fPr>
                              <m:ctrlPr>
                                <a:rPr lang="fr-FR" sz="1100" b="0" i="1" smtClean="0">
                                  <a:latin typeface="Cambria Math" panose="02040503050406030204" pitchFamily="18" charset="0"/>
                                </a:rPr>
                              </m:ctrlPr>
                            </m:fPr>
                            <m:num>
                              <m:sSub>
                                <m:sSubPr>
                                  <m:ctrlPr>
                                    <a:rPr lang="fr-FR" sz="1100" i="1">
                                      <a:latin typeface="Cambria Math" panose="02040503050406030204" pitchFamily="18" charset="0"/>
                                      <a:cs typeface="Times New Roman" panose="02020603050405020304" pitchFamily="18" charset="0"/>
                                    </a:rPr>
                                  </m:ctrlPr>
                                </m:sSubPr>
                                <m:e>
                                  <m:r>
                                    <a:rPr lang="fr-FR" sz="1100" i="1">
                                      <a:latin typeface="Cambria Math" panose="02040503050406030204" pitchFamily="18" charset="0"/>
                                      <a:cs typeface="Times New Roman" panose="02020603050405020304" pitchFamily="18" charset="0"/>
                                    </a:rPr>
                                    <m:t>𝑛</m:t>
                                  </m:r>
                                </m:e>
                                <m:sub>
                                  <m:r>
                                    <a:rPr lang="fr-FR" sz="1100" i="1">
                                      <a:latin typeface="Cambria Math" panose="02040503050406030204" pitchFamily="18" charset="0"/>
                                      <a:cs typeface="Times New Roman" panose="02020603050405020304" pitchFamily="18" charset="0"/>
                                    </a:rPr>
                                    <m:t>𝑣</m:t>
                                  </m:r>
                                </m:sub>
                              </m:sSub>
                            </m:num>
                            <m:den>
                              <m:r>
                                <a:rPr lang="fr-FR" sz="1100" b="0" i="1" smtClean="0">
                                  <a:latin typeface="Cambria Math" panose="02040503050406030204" pitchFamily="18" charset="0"/>
                                </a:rPr>
                                <m:t>𝑛</m:t>
                              </m:r>
                              <m:r>
                                <a:rPr lang="fr-FR" sz="1100" b="0" i="1" smtClean="0">
                                  <a:latin typeface="Cambria Math" panose="02040503050406030204" pitchFamily="18" charset="0"/>
                                </a:rPr>
                                <m:t>+</m:t>
                              </m:r>
                              <m:sSub>
                                <m:sSubPr>
                                  <m:ctrlPr>
                                    <a:rPr lang="fr-FR" sz="1100" i="1">
                                      <a:latin typeface="Cambria Math" panose="02040503050406030204" pitchFamily="18" charset="0"/>
                                      <a:cs typeface="Times New Roman" panose="02020603050405020304" pitchFamily="18" charset="0"/>
                                    </a:rPr>
                                  </m:ctrlPr>
                                </m:sSubPr>
                                <m:e>
                                  <m:r>
                                    <a:rPr lang="fr-FR" sz="1100" i="1">
                                      <a:latin typeface="Cambria Math" panose="02040503050406030204" pitchFamily="18" charset="0"/>
                                      <a:cs typeface="Times New Roman" panose="02020603050405020304" pitchFamily="18" charset="0"/>
                                    </a:rPr>
                                    <m:t>𝑛</m:t>
                                  </m:r>
                                </m:e>
                                <m:sub>
                                  <m:r>
                                    <a:rPr lang="fr-FR" sz="1100" i="1">
                                      <a:latin typeface="Cambria Math" panose="02040503050406030204" pitchFamily="18" charset="0"/>
                                      <a:cs typeface="Times New Roman" panose="02020603050405020304" pitchFamily="18" charset="0"/>
                                    </a:rPr>
                                    <m:t>𝑣</m:t>
                                  </m:r>
                                </m:sub>
                              </m:sSub>
                            </m:den>
                          </m:f>
                        </m:num>
                        <m:den>
                          <m:f>
                            <m:fPr>
                              <m:ctrlPr>
                                <a:rPr lang="fr-FR" sz="1100" b="0" i="1" smtClean="0">
                                  <a:latin typeface="Cambria Math" panose="02040503050406030204" pitchFamily="18" charset="0"/>
                                </a:rPr>
                              </m:ctrlPr>
                            </m:fPr>
                            <m:num>
                              <m:r>
                                <a:rPr lang="fr-FR" sz="1100" b="0" i="1" smtClean="0">
                                  <a:latin typeface="Cambria Math" panose="02040503050406030204" pitchFamily="18" charset="0"/>
                                </a:rPr>
                                <m:t>𝑛</m:t>
                              </m:r>
                            </m:num>
                            <m:den>
                              <m:r>
                                <a:rPr lang="fr-FR" sz="1100" b="0" i="1" smtClean="0">
                                  <a:latin typeface="Cambria Math" panose="02040503050406030204" pitchFamily="18" charset="0"/>
                                </a:rPr>
                                <m:t>𝑛</m:t>
                              </m:r>
                              <m:r>
                                <a:rPr lang="fr-FR" sz="1100" b="0" i="1" smtClean="0">
                                  <a:latin typeface="Cambria Math" panose="02040503050406030204" pitchFamily="18" charset="0"/>
                                </a:rPr>
                                <m:t>+</m:t>
                              </m:r>
                              <m:sSub>
                                <m:sSubPr>
                                  <m:ctrlPr>
                                    <a:rPr lang="fr-FR" sz="1100" i="1">
                                      <a:latin typeface="Cambria Math" panose="02040503050406030204" pitchFamily="18" charset="0"/>
                                      <a:cs typeface="Times New Roman" panose="02020603050405020304" pitchFamily="18" charset="0"/>
                                    </a:rPr>
                                  </m:ctrlPr>
                                </m:sSubPr>
                                <m:e>
                                  <m:r>
                                    <a:rPr lang="fr-FR" sz="1100" i="1">
                                      <a:latin typeface="Cambria Math" panose="02040503050406030204" pitchFamily="18" charset="0"/>
                                      <a:cs typeface="Times New Roman" panose="02020603050405020304" pitchFamily="18" charset="0"/>
                                    </a:rPr>
                                    <m:t>𝑛</m:t>
                                  </m:r>
                                </m:e>
                                <m:sub>
                                  <m:r>
                                    <a:rPr lang="fr-FR" sz="1100" i="1">
                                      <a:latin typeface="Cambria Math" panose="02040503050406030204" pitchFamily="18" charset="0"/>
                                      <a:cs typeface="Times New Roman" panose="02020603050405020304" pitchFamily="18" charset="0"/>
                                    </a:rPr>
                                    <m:t>𝑣</m:t>
                                  </m:r>
                                </m:sub>
                              </m:sSub>
                            </m:den>
                          </m:f>
                        </m:den>
                      </m:f>
                      <m:r>
                        <a:rPr lang="fr-FR" sz="1100" b="0" i="1" smtClean="0">
                          <a:latin typeface="Cambria Math" panose="02040503050406030204" pitchFamily="18" charset="0"/>
                        </a:rPr>
                        <m:t>=</m:t>
                      </m:r>
                      <m:f>
                        <m:fPr>
                          <m:ctrlPr>
                            <a:rPr lang="fr-FR" sz="1100" b="0" i="1" smtClean="0">
                              <a:latin typeface="Cambria Math" panose="02040503050406030204" pitchFamily="18" charset="0"/>
                            </a:rPr>
                          </m:ctrlPr>
                        </m:fPr>
                        <m:num>
                          <m:sSub>
                            <m:sSubPr>
                              <m:ctrlPr>
                                <a:rPr lang="fr-FR" sz="1100" i="1">
                                  <a:latin typeface="Cambria Math" panose="02040503050406030204" pitchFamily="18" charset="0"/>
                                  <a:cs typeface="Times New Roman" panose="02020603050405020304" pitchFamily="18" charset="0"/>
                                </a:rPr>
                              </m:ctrlPr>
                            </m:sSubPr>
                            <m:e>
                              <m:r>
                                <a:rPr lang="fr-FR" sz="1100" i="1">
                                  <a:latin typeface="Cambria Math" panose="02040503050406030204" pitchFamily="18" charset="0"/>
                                  <a:cs typeface="Times New Roman" panose="02020603050405020304" pitchFamily="18" charset="0"/>
                                </a:rPr>
                                <m:t>𝑛</m:t>
                              </m:r>
                            </m:e>
                            <m:sub>
                              <m:r>
                                <a:rPr lang="fr-FR" sz="1100" i="1">
                                  <a:latin typeface="Cambria Math" panose="02040503050406030204" pitchFamily="18" charset="0"/>
                                  <a:cs typeface="Times New Roman" panose="02020603050405020304" pitchFamily="18" charset="0"/>
                                </a:rPr>
                                <m:t>𝑣</m:t>
                              </m:r>
                            </m:sub>
                          </m:sSub>
                        </m:num>
                        <m:den>
                          <m:r>
                            <a:rPr lang="fr-FR" sz="1100" b="0" i="1" smtClean="0">
                              <a:latin typeface="Cambria Math" panose="02040503050406030204" pitchFamily="18" charset="0"/>
                            </a:rPr>
                            <m:t>𝑛</m:t>
                          </m:r>
                        </m:den>
                      </m:f>
                    </m:oMath>
                  </m:oMathPara>
                </a14:m>
                <a:endParaRPr lang="fr-FR" sz="11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034301" y="3213647"/>
                <a:ext cx="3021147" cy="566950"/>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Rectangle 17"/>
              <p:cNvSpPr/>
              <p:nvPr/>
            </p:nvSpPr>
            <p:spPr>
              <a:xfrm>
                <a:off x="1406880" y="3929360"/>
                <a:ext cx="1705990" cy="307777"/>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N &gt;&gt;&gt;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oMath>
                </a14:m>
                <a:r>
                  <a:rPr lang="en-US" dirty="0" smtClean="0">
                    <a:latin typeface="Times New Roman" panose="02020603050405020304" pitchFamily="18" charset="0"/>
                    <a:cs typeface="Times New Roman" panose="02020603050405020304" pitchFamily="18" charset="0"/>
                  </a:rPr>
                  <a:t> et N </a:t>
                </a:r>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dirty="0" smtClean="0">
                    <a:latin typeface="Times New Roman" panose="02020603050405020304" pitchFamily="18" charset="0"/>
                    <a:cs typeface="Times New Roman" panose="02020603050405020304" pitchFamily="18" charset="0"/>
                  </a:rPr>
                  <a:t> n  </a:t>
                </a:r>
                <a:endParaRPr lang="fr-FR" dirty="0">
                  <a:latin typeface="Times New Roman" panose="02020603050405020304" pitchFamily="18" charset="0"/>
                  <a:cs typeface="Times New Roman" panose="02020603050405020304" pitchFamily="18" charset="0"/>
                </a:endParaRPr>
              </a:p>
            </p:txBody>
          </p:sp>
        </mc:Choice>
        <mc:Fallback xmlns="">
          <p:sp>
            <p:nvSpPr>
              <p:cNvPr id="18" name="Rectangle 17"/>
              <p:cNvSpPr>
                <a:spLocks noRot="1" noChangeAspect="1" noMove="1" noResize="1" noEditPoints="1" noAdjustHandles="1" noChangeArrowheads="1" noChangeShapeType="1" noTextEdit="1"/>
              </p:cNvSpPr>
              <p:nvPr/>
            </p:nvSpPr>
            <p:spPr>
              <a:xfrm>
                <a:off x="1406880" y="3929360"/>
                <a:ext cx="1705990" cy="307777"/>
              </a:xfrm>
              <a:prstGeom prst="rect">
                <a:avLst/>
              </a:prstGeom>
              <a:blipFill>
                <a:blip r:embed="rId11"/>
                <a:stretch>
                  <a:fillRect l="-1071" t="-4000" b="-20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017948" y="3896975"/>
                <a:ext cx="855426" cy="367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 </m:t>
                          </m:r>
                          <m:r>
                            <a:rPr lang="fr-FR" b="0" i="1" smtClean="0">
                              <a:latin typeface="Cambria Math" panose="02040503050406030204" pitchFamily="18" charset="0"/>
                            </a:rPr>
                            <m:t>𝐾</m:t>
                          </m:r>
                        </m:e>
                        <m:sub>
                          <m:r>
                            <a:rPr lang="fr-FR" b="0" i="1" smtClean="0">
                              <a:latin typeface="Cambria Math" panose="02040503050406030204" pitchFamily="18" charset="0"/>
                            </a:rPr>
                            <m:t>2</m:t>
                          </m:r>
                        </m:sub>
                      </m:sSub>
                      <m:r>
                        <a:rPr lang="fr-FR" b="0" i="1" smtClean="0">
                          <a:latin typeface="Cambria Math" panose="02040503050406030204" pitchFamily="18" charset="0"/>
                        </a:rPr>
                        <m:t>=</m:t>
                      </m:r>
                      <m:f>
                        <m:fPr>
                          <m:ctrlPr>
                            <a:rPr lang="fr-FR" b="0" i="1" smtClean="0">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b="0" i="1" smtClean="0">
                              <a:latin typeface="Cambria Math" panose="02040503050406030204" pitchFamily="18" charset="0"/>
                            </a:rPr>
                            <m:t>𝑁</m:t>
                          </m:r>
                        </m:den>
                      </m:f>
                    </m:oMath>
                  </m:oMathPara>
                </a14:m>
                <a:endParaRPr lang="fr-FR" dirty="0"/>
              </a:p>
            </p:txBody>
          </p:sp>
        </mc:Choice>
        <mc:Fallback xmlns="">
          <p:sp>
            <p:nvSpPr>
              <p:cNvPr id="19" name="TextBox 18"/>
              <p:cNvSpPr txBox="1">
                <a:spLocks noRot="1" noChangeAspect="1" noMove="1" noResize="1" noEditPoints="1" noAdjustHandles="1" noChangeArrowheads="1" noChangeShapeType="1" noTextEdit="1"/>
              </p:cNvSpPr>
              <p:nvPr/>
            </p:nvSpPr>
            <p:spPr>
              <a:xfrm>
                <a:off x="3017948" y="3896975"/>
                <a:ext cx="855426" cy="367537"/>
              </a:xfrm>
              <a:prstGeom prst="rect">
                <a:avLst/>
              </a:prstGeom>
              <a:blipFill>
                <a:blip r:embed="rId12"/>
                <a:stretch>
                  <a:fillRect l="-1429" b="-13115"/>
                </a:stretch>
              </a:blipFill>
            </p:spPr>
            <p:txBody>
              <a:bodyPr/>
              <a:lstStyle/>
              <a:p>
                <a:r>
                  <a:rPr lang="fr-FR">
                    <a:noFill/>
                  </a:rPr>
                  <a:t> </a:t>
                </a:r>
              </a:p>
            </p:txBody>
          </p:sp>
        </mc:Fallback>
      </mc:AlternateContent>
      <p:sp>
        <p:nvSpPr>
          <p:cNvPr id="20" name="Rectangle 19"/>
          <p:cNvSpPr/>
          <p:nvPr/>
        </p:nvSpPr>
        <p:spPr>
          <a:xfrm>
            <a:off x="718458" y="3941947"/>
            <a:ext cx="899246" cy="276999"/>
          </a:xfrm>
          <a:prstGeom prst="rect">
            <a:avLst/>
          </a:prstGeom>
        </p:spPr>
        <p:txBody>
          <a:bodyPr wrap="square">
            <a:spAutoFit/>
          </a:bodyPr>
          <a:lstStyle/>
          <a:p>
            <a:r>
              <a:rPr lang="fr-FR" sz="1200" dirty="0" smtClean="0">
                <a:latin typeface="Times New Roman" panose="02020603050405020304" pitchFamily="18" charset="0"/>
                <a:cs typeface="Times New Roman" panose="02020603050405020304" pitchFamily="18" charset="0"/>
              </a:rPr>
              <a:t>Tant que :</a:t>
            </a:r>
            <a:endParaRPr lang="fr-FR"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Rectangle 12"/>
              <p:cNvSpPr/>
              <p:nvPr/>
            </p:nvSpPr>
            <p:spPr>
              <a:xfrm>
                <a:off x="4223858" y="3830298"/>
                <a:ext cx="2434320" cy="4598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r>
                        <m:rPr>
                          <m:nor/>
                        </m:rPr>
                        <a:rPr lang="fr-FR">
                          <a:latin typeface="Cambria Math" panose="02040503050406030204" pitchFamily="18" charset="0"/>
                          <a:ea typeface="Cambria Math" panose="02040503050406030204" pitchFamily="18" charset="0"/>
                          <a:cs typeface="Times New Roman" panose="02020603050405020304" pitchFamily="18" charset="0"/>
                        </a:rPr>
                        <m:t> = −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lnK</m:t>
                      </m:r>
                      <m:r>
                        <m:rPr>
                          <m:nor/>
                        </m:rPr>
                        <a:rPr lang="fr-FR" b="0" i="0" baseline="-25000" smtClean="0">
                          <a:latin typeface="Cambria Math" panose="02040503050406030204" pitchFamily="18" charset="0"/>
                          <a:ea typeface="Cambria Math" panose="02040503050406030204" pitchFamily="18" charset="0"/>
                          <a:cs typeface="Times New Roman" panose="02020603050405020304" pitchFamily="18" charset="0"/>
                        </a:rPr>
                        <m:t>2</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RT</m:t>
                      </m:r>
                      <m:r>
                        <m:rPr>
                          <m:nor/>
                        </m:rPr>
                        <a:rPr lang="fr-FR">
                          <a:latin typeface="Cambria Math" panose="02040503050406030204" pitchFamily="18" charset="0"/>
                          <a:ea typeface="Cambria Math" panose="02040503050406030204" pitchFamily="18" charset="0"/>
                          <a:cs typeface="Times New Roman" panose="02020603050405020304" pitchFamily="18" charset="0"/>
                        </a:rPr>
                        <m:t> </m:t>
                      </m:r>
                      <m:r>
                        <m:rPr>
                          <m:nor/>
                        </m:rPr>
                        <a:rPr lang="fr-FR">
                          <a:latin typeface="Cambria Math" panose="02040503050406030204" pitchFamily="18" charset="0"/>
                          <a:ea typeface="Cambria Math" panose="02040503050406030204" pitchFamily="18" charset="0"/>
                          <a:cs typeface="Times New Roman" panose="02020603050405020304" pitchFamily="18" charset="0"/>
                        </a:rPr>
                        <m:t>ln</m:t>
                      </m:r>
                      <m:f>
                        <m:fPr>
                          <m:ctrlPr>
                            <a:rPr lang="fr-FR" i="1">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i="1">
                              <a:latin typeface="Cambria Math" panose="02040503050406030204" pitchFamily="18" charset="0"/>
                            </a:rPr>
                            <m:t>𝑁</m:t>
                          </m:r>
                        </m:den>
                      </m:f>
                    </m:oMath>
                  </m:oMathPara>
                </a14:m>
                <a:endParaRPr lang="fr-FR" baseline="-250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13" name="Rectangle 12"/>
              <p:cNvSpPr>
                <a:spLocks noRot="1" noChangeAspect="1" noMove="1" noResize="1" noEditPoints="1" noAdjustHandles="1" noChangeArrowheads="1" noChangeShapeType="1" noTextEdit="1"/>
              </p:cNvSpPr>
              <p:nvPr/>
            </p:nvSpPr>
            <p:spPr>
              <a:xfrm>
                <a:off x="4223858" y="3830298"/>
                <a:ext cx="2434320" cy="459869"/>
              </a:xfrm>
              <a:prstGeom prst="rect">
                <a:avLst/>
              </a:prstGeom>
              <a:blipFill>
                <a:blip r:embed="rId13"/>
                <a:stretch>
                  <a:fillRect b="-131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3909886" y="3919029"/>
                <a:ext cx="38504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14" name="Rectangle 13"/>
              <p:cNvSpPr>
                <a:spLocks noRot="1" noChangeAspect="1" noMove="1" noResize="1" noEditPoints="1" noAdjustHandles="1" noChangeArrowheads="1" noChangeShapeType="1" noTextEdit="1"/>
              </p:cNvSpPr>
              <p:nvPr/>
            </p:nvSpPr>
            <p:spPr>
              <a:xfrm>
                <a:off x="3909886" y="3919029"/>
                <a:ext cx="385041" cy="307777"/>
              </a:xfrm>
              <a:prstGeom prst="rect">
                <a:avLst/>
              </a:prstGeom>
              <a:blipFill>
                <a:blip r:embed="rId1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6587109" y="3894976"/>
                <a:ext cx="385041"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ea typeface="Cambria Math" panose="02040503050406030204" pitchFamily="18" charset="0"/>
                        </a:rPr>
                        <m:t>→</m:t>
                      </m:r>
                    </m:oMath>
                  </m:oMathPara>
                </a14:m>
                <a:endParaRPr lang="fr-FR" dirty="0"/>
              </a:p>
            </p:txBody>
          </p:sp>
        </mc:Choice>
        <mc:Fallback xmlns="">
          <p:sp>
            <p:nvSpPr>
              <p:cNvPr id="23" name="Rectangle 22"/>
              <p:cNvSpPr>
                <a:spLocks noRot="1" noChangeAspect="1" noMove="1" noResize="1" noEditPoints="1" noAdjustHandles="1" noChangeArrowheads="1" noChangeShapeType="1" noTextEdit="1"/>
              </p:cNvSpPr>
              <p:nvPr/>
            </p:nvSpPr>
            <p:spPr>
              <a:xfrm>
                <a:off x="6587109" y="3894976"/>
                <a:ext cx="385041" cy="307777"/>
              </a:xfrm>
              <a:prstGeom prst="rect">
                <a:avLst/>
              </a:prstGeom>
              <a:blipFill>
                <a:blip r:embed="rId1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7072840" y="3821986"/>
                <a:ext cx="1144288" cy="5231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i="1">
                              <a:latin typeface="Cambria Math" panose="02040503050406030204" pitchFamily="18" charset="0"/>
                            </a:rPr>
                            <m:t>𝑁</m:t>
                          </m:r>
                        </m:den>
                      </m:f>
                      <m:r>
                        <a:rPr lang="fr-FR" i="1">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oMath>
                  </m:oMathPara>
                </a14:m>
                <a:endParaRPr lang="fr-FR" dirty="0"/>
              </a:p>
            </p:txBody>
          </p:sp>
        </mc:Choice>
        <mc:Fallback xmlns="">
          <p:sp>
            <p:nvSpPr>
              <p:cNvPr id="21" name="Rectangle 20"/>
              <p:cNvSpPr>
                <a:spLocks noRot="1" noChangeAspect="1" noMove="1" noResize="1" noEditPoints="1" noAdjustHandles="1" noChangeArrowheads="1" noChangeShapeType="1" noTextEdit="1"/>
              </p:cNvSpPr>
              <p:nvPr/>
            </p:nvSpPr>
            <p:spPr>
              <a:xfrm>
                <a:off x="7072840" y="3821986"/>
                <a:ext cx="1144288" cy="523157"/>
              </a:xfrm>
              <a:prstGeom prst="rect">
                <a:avLst/>
              </a:prstGeom>
              <a:blipFill>
                <a:blip r:embed="rId16"/>
                <a:stretch>
                  <a:fillRect/>
                </a:stretch>
              </a:blipFill>
            </p:spPr>
            <p:txBody>
              <a:bodyPr/>
              <a:lstStyle/>
              <a:p>
                <a:r>
                  <a:rPr lang="fr-FR">
                    <a:noFill/>
                  </a:rPr>
                  <a:t> </a:t>
                </a:r>
              </a:p>
            </p:txBody>
          </p:sp>
        </mc:Fallback>
      </mc:AlternateContent>
      <p:sp>
        <p:nvSpPr>
          <p:cNvPr id="25" name="Rectangle 24"/>
          <p:cNvSpPr/>
          <p:nvPr/>
        </p:nvSpPr>
        <p:spPr>
          <a:xfrm>
            <a:off x="718457" y="4345143"/>
            <a:ext cx="1125362" cy="566865"/>
          </a:xfrm>
          <a:prstGeom prst="rect">
            <a:avLst/>
          </a:prstGeom>
          <a:noFill/>
          <a:ln w="2857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ln w="28575">
                <a:solidFill>
                  <a:schemeClr val="tx1"/>
                </a:solidFill>
              </a:ln>
            </a:endParaRPr>
          </a:p>
        </p:txBody>
      </p:sp>
      <mc:AlternateContent xmlns:mc="http://schemas.openxmlformats.org/markup-compatibility/2006" xmlns:a14="http://schemas.microsoft.com/office/drawing/2010/main">
        <mc:Choice Requires="a14">
          <p:sp>
            <p:nvSpPr>
              <p:cNvPr id="26" name="Rectangle 25"/>
              <p:cNvSpPr/>
              <p:nvPr/>
            </p:nvSpPr>
            <p:spPr>
              <a:xfrm>
                <a:off x="718457" y="4347885"/>
                <a:ext cx="1144288" cy="5231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i="1">
                              <a:latin typeface="Cambria Math" panose="02040503050406030204" pitchFamily="18" charset="0"/>
                            </a:rPr>
                            <m:t>𝑁</m:t>
                          </m:r>
                        </m:den>
                      </m:f>
                      <m:r>
                        <a:rPr lang="fr-FR" i="1">
                          <a:latin typeface="Cambria Math" panose="02040503050406030204" pitchFamily="18" charset="0"/>
                        </a:rPr>
                        <m:t>=</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oMath>
                  </m:oMathPara>
                </a14:m>
                <a:endParaRPr lang="fr-FR" dirty="0"/>
              </a:p>
            </p:txBody>
          </p:sp>
        </mc:Choice>
        <mc:Fallback xmlns="">
          <p:sp>
            <p:nvSpPr>
              <p:cNvPr id="26" name="Rectangle 25"/>
              <p:cNvSpPr>
                <a:spLocks noRot="1" noChangeAspect="1" noMove="1" noResize="1" noEditPoints="1" noAdjustHandles="1" noChangeArrowheads="1" noChangeShapeType="1" noTextEdit="1"/>
              </p:cNvSpPr>
              <p:nvPr/>
            </p:nvSpPr>
            <p:spPr>
              <a:xfrm>
                <a:off x="718457" y="4347885"/>
                <a:ext cx="1144288" cy="523157"/>
              </a:xfrm>
              <a:prstGeom prst="rect">
                <a:avLst/>
              </a:prstGeom>
              <a:blipFill>
                <a:blip r:embed="rId17"/>
                <a:stretch>
                  <a:fillRect b="-1163"/>
                </a:stretch>
              </a:blipFill>
            </p:spPr>
            <p:txBody>
              <a:bodyPr/>
              <a:lstStyle/>
              <a:p>
                <a:r>
                  <a:rPr lang="fr-FR">
                    <a:noFill/>
                  </a:rPr>
                  <a:t> </a:t>
                </a:r>
              </a:p>
            </p:txBody>
          </p:sp>
        </mc:Fallback>
      </mc:AlternateContent>
      <p:sp>
        <p:nvSpPr>
          <p:cNvPr id="27" name="Rectangle 26"/>
          <p:cNvSpPr/>
          <p:nvPr/>
        </p:nvSpPr>
        <p:spPr>
          <a:xfrm>
            <a:off x="2003732" y="4459559"/>
            <a:ext cx="3739284" cy="276999"/>
          </a:xfrm>
          <a:prstGeom prst="rect">
            <a:avLst/>
          </a:prstGeom>
        </p:spPr>
        <p:txBody>
          <a:bodyPr wrap="square">
            <a:spAutoFit/>
          </a:bodyPr>
          <a:lstStyle/>
          <a:p>
            <a:pPr lvl="0" algn="just"/>
            <a:r>
              <a:rPr lang="fr-FR" sz="1200" dirty="0">
                <a:latin typeface="Times New Roman" panose="02020603050405020304" pitchFamily="18" charset="0"/>
                <a:cs typeface="Times New Roman" panose="02020603050405020304" pitchFamily="18" charset="0"/>
              </a:rPr>
              <a:t>C’est la probabilité </a:t>
            </a:r>
            <a:r>
              <a:rPr lang="fr-FR" sz="1200" dirty="0" smtClean="0">
                <a:latin typeface="Times New Roman" panose="02020603050405020304" pitchFamily="18" charset="0"/>
                <a:cs typeface="Times New Roman" panose="02020603050405020304" pitchFamily="18" charset="0"/>
              </a:rPr>
              <a:t>pour que </a:t>
            </a:r>
            <a:r>
              <a:rPr lang="fr-FR" sz="1200" dirty="0">
                <a:latin typeface="Times New Roman" panose="02020603050405020304" pitchFamily="18" charset="0"/>
                <a:cs typeface="Times New Roman" panose="02020603050405020304" pitchFamily="18" charset="0"/>
              </a:rPr>
              <a:t>le site du réseau soit vacant.</a:t>
            </a:r>
          </a:p>
        </p:txBody>
      </p:sp>
      <p:sp>
        <p:nvSpPr>
          <p:cNvPr id="28"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a:latin typeface="Times New Roman" panose="02020603050405020304" pitchFamily="18" charset="0"/>
                <a:cs typeface="Times New Roman" panose="02020603050405020304" pitchFamily="18" charset="0"/>
              </a:rPr>
              <a:t>Le mécanisme </a:t>
            </a:r>
            <a:r>
              <a:rPr lang="fr-FR" sz="2400" b="1" dirty="0" smtClean="0">
                <a:latin typeface="Times New Roman" panose="02020603050405020304" pitchFamily="18" charset="0"/>
                <a:cs typeface="Times New Roman" panose="02020603050405020304" pitchFamily="18" charset="0"/>
              </a:rPr>
              <a:t>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29"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mc:AlternateContent xmlns:mc="http://schemas.openxmlformats.org/markup-compatibility/2006" xmlns:a14="http://schemas.microsoft.com/office/drawing/2010/main">
        <mc:Choice Requires="a14">
          <p:sp>
            <p:nvSpPr>
              <p:cNvPr id="2" name="Rectangle 1"/>
              <p:cNvSpPr/>
              <p:nvPr/>
            </p:nvSpPr>
            <p:spPr>
              <a:xfrm>
                <a:off x="169791" y="796612"/>
                <a:ext cx="8072871" cy="2462213"/>
              </a:xfrm>
              <a:prstGeom prst="rect">
                <a:avLst/>
              </a:prstGeom>
            </p:spPr>
            <p:txBody>
              <a:bodyPr wrap="square">
                <a:spAutoFit/>
              </a:bodyPr>
              <a:lstStyle/>
              <a:p>
                <a:pPr algn="just"/>
                <a:r>
                  <a:rPr lang="fr-FR" dirty="0" smtClean="0">
                    <a:latin typeface="Times New Roman" panose="02020603050405020304" pitchFamily="18" charset="0"/>
                    <a:cs typeface="Times New Roman" panose="02020603050405020304" pitchFamily="18" charset="0"/>
                  </a:rPr>
                  <a:t>Maintenant, un anneau d'atomes peut tourner dans le sens des aiguilles d'une montre ou dans le sens inverse des aiguilles d'une montre, si l'anneau tourne dans le sens des aiguilles d'une montre, tous les atomes membres seront tenus de tourner dans le sens des aiguilles d'une montre.</a:t>
                </a:r>
              </a:p>
              <a:p>
                <a:pPr algn="just"/>
                <a:r>
                  <a:rPr lang="fr-FR" dirty="0" smtClean="0">
                    <a:latin typeface="Times New Roman" panose="02020603050405020304" pitchFamily="18" charset="0"/>
                    <a:cs typeface="Times New Roman" panose="02020603050405020304" pitchFamily="18" charset="0"/>
                  </a:rPr>
                  <a:t>Donc la probabilité qu'un atome exécutera le saut dans toutes les directions est :</a:t>
                </a:r>
              </a:p>
              <a:p>
                <a:pPr algn="just"/>
                <a:endParaRPr lang="fr-FR" dirty="0" smtClean="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L</a:t>
                </a:r>
                <a:r>
                  <a:rPr lang="fr-FR" dirty="0" smtClean="0">
                    <a:latin typeface="Times New Roman" panose="02020603050405020304" pitchFamily="18" charset="0"/>
                    <a:cs typeface="Times New Roman" panose="02020603050405020304" pitchFamily="18" charset="0"/>
                  </a:rPr>
                  <a:t>e </a:t>
                </a:r>
                <a:r>
                  <a:rPr lang="fr-FR" dirty="0">
                    <a:latin typeface="Times New Roman" panose="02020603050405020304" pitchFamily="18" charset="0"/>
                    <a:cs typeface="Times New Roman" panose="02020603050405020304" pitchFamily="18" charset="0"/>
                  </a:rPr>
                  <a:t>nombre de sauts réussis par un atome dans un </a:t>
                </a:r>
                <a:r>
                  <a:rPr lang="fr-FR" dirty="0" smtClean="0">
                    <a:latin typeface="Times New Roman" panose="02020603050405020304" pitchFamily="18" charset="0"/>
                    <a:cs typeface="Times New Roman" panose="02020603050405020304" pitchFamily="18" charset="0"/>
                  </a:rPr>
                  <a:t>anneau par </a:t>
                </a:r>
                <a:r>
                  <a:rPr lang="fr-FR" dirty="0">
                    <a:latin typeface="Times New Roman" panose="02020603050405020304" pitchFamily="18" charset="0"/>
                    <a:cs typeface="Times New Roman" panose="02020603050405020304" pitchFamily="18" charset="0"/>
                  </a:rPr>
                  <a:t>seconde est </a:t>
                </a:r>
                <a:r>
                  <a:rPr lang="fr-FR" dirty="0" smtClean="0">
                    <a:latin typeface="Times New Roman" panose="02020603050405020304" pitchFamily="18" charset="0"/>
                    <a:cs typeface="Times New Roman" panose="02020603050405020304" pitchFamily="18" charset="0"/>
                  </a:rPr>
                  <a:t>notée </a:t>
                </a:r>
                <a14:m>
                  <m:oMath xmlns:m="http://schemas.openxmlformats.org/officeDocument/2006/math">
                    <m:sSub>
                      <m:sSubPr>
                        <m:ctrlPr>
                          <a:rPr lang="fr-FR"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i="1">
                            <a:latin typeface="Cambria Math" panose="02040503050406030204" pitchFamily="18" charset="0"/>
                            <a:ea typeface="Cambria Math" panose="02040503050406030204" pitchFamily="18" charset="0"/>
                            <a:cs typeface="Times New Roman" panose="02020603050405020304" pitchFamily="18" charset="0"/>
                          </a:rPr>
                          <m:t>𝜏</m:t>
                        </m:r>
                      </m:e>
                      <m:sub>
                        <m:r>
                          <a:rPr lang="fr-FR" b="0" i="1" smtClean="0">
                            <a:latin typeface="Cambria Math" panose="02040503050406030204" pitchFamily="18" charset="0"/>
                            <a:ea typeface="Cambria Math" panose="02040503050406030204" pitchFamily="18" charset="0"/>
                            <a:cs typeface="Times New Roman" panose="02020603050405020304" pitchFamily="18" charset="0"/>
                          </a:rPr>
                          <m:t>𝑟</m:t>
                        </m:r>
                      </m:sub>
                    </m:sSub>
                    <m:r>
                      <a:rPr lang="fr-FR" b="0" i="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fr-FR" dirty="0" smtClean="0">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fr-FR" i="1">
                            <a:latin typeface="Cambria Math" panose="02040503050406030204" pitchFamily="18" charset="0"/>
                            <a:ea typeface="Cambria Math" panose="02040503050406030204" pitchFamily="18" charset="0"/>
                            <a:cs typeface="Times New Roman" panose="02020603050405020304" pitchFamily="18" charset="0"/>
                          </a:rPr>
                        </m:ctrlPr>
                      </m:sSubPr>
                      <m:e>
                        <m:r>
                          <a:rPr lang="fr-FR" i="1">
                            <a:latin typeface="Cambria Math" panose="02040503050406030204" pitchFamily="18" charset="0"/>
                            <a:ea typeface="Cambria Math" panose="02040503050406030204" pitchFamily="18" charset="0"/>
                            <a:cs typeface="Times New Roman" panose="02020603050405020304" pitchFamily="18" charset="0"/>
                          </a:rPr>
                          <m:t>𝜏</m:t>
                        </m:r>
                      </m:e>
                      <m:sub>
                        <m:r>
                          <a:rPr lang="fr-FR" i="1">
                            <a:latin typeface="Cambria Math" panose="02040503050406030204" pitchFamily="18" charset="0"/>
                            <a:ea typeface="Cambria Math" panose="02040503050406030204" pitchFamily="18" charset="0"/>
                            <a:cs typeface="Times New Roman" panose="02020603050405020304" pitchFamily="18" charset="0"/>
                          </a:rPr>
                          <m:t>𝑟</m:t>
                        </m:r>
                      </m:sub>
                    </m:sSub>
                  </m:oMath>
                </a14:m>
                <a:r>
                  <a:rPr lang="fr-FR" dirty="0" smtClean="0">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nombre de sauts réussis exécutés par </a:t>
                </a:r>
                <a:r>
                  <a:rPr lang="fr-FR" dirty="0" smtClean="0">
                    <a:latin typeface="Times New Roman" panose="02020603050405020304" pitchFamily="18" charset="0"/>
                    <a:cs typeface="Times New Roman" panose="02020603050405020304" pitchFamily="18" charset="0"/>
                  </a:rPr>
                  <a:t>un atome </a:t>
                </a:r>
                <a:r>
                  <a:rPr lang="fr-FR" dirty="0">
                    <a:latin typeface="Times New Roman" panose="02020603050405020304" pitchFamily="18" charset="0"/>
                    <a:cs typeface="Times New Roman" panose="02020603050405020304" pitchFamily="18" charset="0"/>
                  </a:rPr>
                  <a:t>ayant la bonne énergie pour surmonter </a:t>
                </a:r>
                <a:r>
                  <a:rPr lang="fr-FR" dirty="0" smtClean="0">
                    <a:latin typeface="Times New Roman" panose="02020603050405020304" pitchFamily="18" charset="0"/>
                    <a:cs typeface="Times New Roman" panose="02020603050405020304" pitchFamily="18" charset="0"/>
                  </a:rPr>
                  <a:t>barrière d'énergie libre )*(</a:t>
                </a:r>
                <a:r>
                  <a:rPr lang="fr-FR" dirty="0">
                    <a:latin typeface="Times New Roman" panose="02020603050405020304" pitchFamily="18" charset="0"/>
                    <a:cs typeface="Times New Roman" panose="02020603050405020304" pitchFamily="18" charset="0"/>
                  </a:rPr>
                  <a:t>probabilité qu'un atome exécute un saut en </a:t>
                </a:r>
                <a:r>
                  <a:rPr lang="fr-FR" dirty="0" smtClean="0">
                    <a:latin typeface="Times New Roman" panose="02020603050405020304" pitchFamily="18" charset="0"/>
                    <a:cs typeface="Times New Roman" panose="02020603050405020304" pitchFamily="18" charset="0"/>
                  </a:rPr>
                  <a:t>tout direction </a:t>
                </a:r>
                <a:r>
                  <a:rPr lang="fr-FR" dirty="0">
                    <a:latin typeface="Times New Roman" panose="02020603050405020304" pitchFamily="18" charset="0"/>
                    <a:cs typeface="Times New Roman" panose="02020603050405020304" pitchFamily="18" charset="0"/>
                  </a:rPr>
                  <a:t>dans </a:t>
                </a:r>
                <a:r>
                  <a:rPr lang="fr-FR" dirty="0" smtClean="0">
                    <a:latin typeface="Times New Roman" panose="02020603050405020304" pitchFamily="18" charset="0"/>
                    <a:cs typeface="Times New Roman" panose="02020603050405020304" pitchFamily="18" charset="0"/>
                  </a:rPr>
                  <a:t>l’anneau)</a:t>
                </a:r>
              </a:p>
              <a:p>
                <a:pPr algn="just"/>
                <a:endParaRPr lang="fr-FR" dirty="0" smtClean="0">
                  <a:latin typeface="Times New Roman" panose="02020603050405020304" pitchFamily="18" charset="0"/>
                  <a:cs typeface="Times New Roman" panose="02020603050405020304" pitchFamily="18" charset="0"/>
                </a:endParaRPr>
              </a:p>
              <a:p>
                <a:pPr algn="just"/>
                <a:r>
                  <a:rPr lang="fr-FR" dirty="0" smtClean="0">
                    <a:latin typeface="Times New Roman" panose="02020603050405020304" pitchFamily="18" charset="0"/>
                    <a:cs typeface="Times New Roman" panose="02020603050405020304" pitchFamily="18" charset="0"/>
                  </a:rPr>
                  <a:t>Encore : </a:t>
                </a:r>
                <a:endParaRPr lang="fr-FR" dirty="0"/>
              </a:p>
              <a:p>
                <a:pPr algn="just"/>
                <a:endParaRPr lang="fr-FR"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169791" y="796612"/>
                <a:ext cx="8072871" cy="2462213"/>
              </a:xfrm>
              <a:prstGeom prst="rect">
                <a:avLst/>
              </a:prstGeom>
              <a:blipFill>
                <a:blip r:embed="rId3"/>
                <a:stretch>
                  <a:fillRect l="-227" t="-495" r="-22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083621" y="1300014"/>
                <a:ext cx="1675715" cy="5231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1∗</m:t>
                      </m:r>
                      <m:f>
                        <m:fPr>
                          <m:ctrlPr>
                            <a:rPr lang="fr-FR" i="1">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i="1">
                              <a:latin typeface="Cambria Math" panose="02040503050406030204" pitchFamily="18" charset="0"/>
                            </a:rPr>
                            <m:t>𝑁</m:t>
                          </m:r>
                        </m:den>
                      </m:f>
                      <m:r>
                        <a:rPr lang="fr-FR" i="1">
                          <a:latin typeface="Cambria Math" panose="02040503050406030204" pitchFamily="18" charset="0"/>
                        </a:rPr>
                        <m:t>=</m:t>
                      </m:r>
                      <m:sSup>
                        <m:sSupPr>
                          <m:ctrlPr>
                            <a:rPr lang="fr-FR" i="1">
                              <a:latin typeface="Cambria Math" panose="02040503050406030204" pitchFamily="18" charset="0"/>
                            </a:rPr>
                          </m:ctrlPr>
                        </m:sSupPr>
                        <m:e>
                          <m:r>
                            <a:rPr lang="fr-FR" b="0" i="1" smtClean="0">
                              <a:latin typeface="Cambria Math" panose="02040503050406030204" pitchFamily="18" charset="0"/>
                            </a:rPr>
                            <m:t>1∗</m:t>
                          </m:r>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oMath>
                  </m:oMathPara>
                </a14:m>
                <a:endParaRPr lang="fr-FR" dirty="0"/>
              </a:p>
            </p:txBody>
          </p:sp>
        </mc:Choice>
        <mc:Fallback xmlns="">
          <p:sp>
            <p:nvSpPr>
              <p:cNvPr id="4" name="Rectangle 3"/>
              <p:cNvSpPr>
                <a:spLocks noRot="1" noChangeAspect="1" noMove="1" noResize="1" noEditPoints="1" noAdjustHandles="1" noChangeArrowheads="1" noChangeShapeType="1" noTextEdit="1"/>
              </p:cNvSpPr>
              <p:nvPr/>
            </p:nvSpPr>
            <p:spPr>
              <a:xfrm>
                <a:off x="6083621" y="1300014"/>
                <a:ext cx="1675715" cy="523157"/>
              </a:xfrm>
              <a:prstGeom prst="rect">
                <a:avLst/>
              </a:prstGeom>
              <a:blipFill>
                <a:blip r:embed="rId4"/>
                <a:stretch>
                  <a:fillRect b="-116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905867" y="2549186"/>
                <a:ext cx="4567470" cy="493340"/>
              </a:xfrm>
              <a:prstGeom prst="rect">
                <a:avLst/>
              </a:prstGeom>
            </p:spPr>
            <p:txBody>
              <a:bodyPr wrap="square">
                <a:spAutoFit/>
              </a:bodyPr>
              <a:lstStyle/>
              <a:p>
                <a14:m>
                  <m:oMath xmlns:m="http://schemas.openxmlformats.org/officeDocument/2006/math">
                    <m:sSub>
                      <m:sSubPr>
                        <m:ctrlPr>
                          <a:rPr lang="fr-FR"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i="1">
                            <a:latin typeface="Cambria Math" panose="02040503050406030204" pitchFamily="18" charset="0"/>
                            <a:ea typeface="Cambria Math" panose="02040503050406030204" pitchFamily="18" charset="0"/>
                            <a:cs typeface="Times New Roman" panose="02020603050405020304" pitchFamily="18" charset="0"/>
                          </a:rPr>
                          <m:t>𝜏</m:t>
                        </m:r>
                      </m:e>
                      <m:sub>
                        <m:r>
                          <a:rPr lang="fr-FR" i="1">
                            <a:latin typeface="Cambria Math" panose="02040503050406030204" pitchFamily="18" charset="0"/>
                            <a:ea typeface="Cambria Math" panose="02040503050406030204" pitchFamily="18" charset="0"/>
                            <a:cs typeface="Times New Roman" panose="02020603050405020304" pitchFamily="18" charset="0"/>
                          </a:rPr>
                          <m:t>𝑟</m:t>
                        </m:r>
                      </m:sub>
                    </m:sSub>
                  </m:oMath>
                </a14:m>
                <a:r>
                  <a:rPr lang="fr-FR" dirty="0">
                    <a:latin typeface="Times New Roman" panose="02020603050405020304" pitchFamily="18" charset="0"/>
                    <a:cs typeface="Times New Roman" panose="02020603050405020304" pitchFamily="18" charset="0"/>
                  </a:rPr>
                  <a:t> =</a:t>
                </a:r>
                <a14:m>
                  <m:oMath xmlns:m="http://schemas.openxmlformats.org/officeDocument/2006/math">
                    <m:r>
                      <a:rPr lang="fr-FR" i="1">
                        <a:latin typeface="Cambria Math" panose="02040503050406030204" pitchFamily="18" charset="0"/>
                      </a:rPr>
                      <m:t>1∗</m:t>
                    </m:r>
                    <m:f>
                      <m:fPr>
                        <m:ctrlPr>
                          <a:rPr lang="fr-FR" i="1">
                            <a:latin typeface="Cambria Math" panose="02040503050406030204" pitchFamily="18" charset="0"/>
                          </a:rPr>
                        </m:ctrlPr>
                      </m:fPr>
                      <m:num>
                        <m:sSub>
                          <m:sSubPr>
                            <m:ctrlPr>
                              <a:rPr lang="fr-FR" i="1">
                                <a:latin typeface="Cambria Math" panose="02040503050406030204" pitchFamily="18" charset="0"/>
                                <a:cs typeface="Times New Roman" panose="02020603050405020304" pitchFamily="18" charset="0"/>
                              </a:rPr>
                            </m:ctrlPr>
                          </m:sSubPr>
                          <m:e>
                            <m:r>
                              <a:rPr lang="fr-FR" i="1">
                                <a:latin typeface="Cambria Math" panose="02040503050406030204" pitchFamily="18" charset="0"/>
                                <a:cs typeface="Times New Roman" panose="02020603050405020304" pitchFamily="18" charset="0"/>
                              </a:rPr>
                              <m:t>𝑛</m:t>
                            </m:r>
                          </m:e>
                          <m:sub>
                            <m:r>
                              <a:rPr lang="fr-FR" i="1">
                                <a:latin typeface="Cambria Math" panose="02040503050406030204" pitchFamily="18" charset="0"/>
                                <a:cs typeface="Times New Roman" panose="02020603050405020304" pitchFamily="18" charset="0"/>
                              </a:rPr>
                              <m:t>𝑣</m:t>
                            </m:r>
                          </m:sub>
                        </m:sSub>
                      </m:num>
                      <m:den>
                        <m:r>
                          <a:rPr lang="fr-FR" i="1">
                            <a:latin typeface="Cambria Math" panose="02040503050406030204" pitchFamily="18" charset="0"/>
                          </a:rPr>
                          <m:t>𝑁</m:t>
                        </m:r>
                      </m:den>
                    </m:f>
                    <m:r>
                      <a:rPr lang="fr-FR" i="1">
                        <a:latin typeface="Cambria Math" panose="02040503050406030204" pitchFamily="18" charset="0"/>
                        <a:ea typeface="Cambria Math" panose="02040503050406030204" pitchFamily="18" charset="0"/>
                      </a:rPr>
                      <m:t>× </m:t>
                    </m:r>
                    <m:r>
                      <a:rPr lang="fr-FR" i="1" dirty="0">
                        <a:latin typeface="Cambria Math" panose="02040503050406030204" pitchFamily="18" charset="0"/>
                        <a:ea typeface="Cambria Math" panose="02040503050406030204" pitchFamily="18" charset="0"/>
                        <a:cs typeface="Times New Roman" panose="02020603050405020304" pitchFamily="18" charset="0"/>
                      </a:rPr>
                      <m:t>𝜈</m:t>
                    </m:r>
                    <m:f>
                      <m:fPr>
                        <m:ctrlPr>
                          <a:rPr lang="fr-FR" i="1">
                            <a:latin typeface="Cambria Math" panose="02040503050406030204" pitchFamily="18" charset="0"/>
                          </a:rPr>
                        </m:ctrlPr>
                      </m:fPr>
                      <m:num>
                        <m:sSup>
                          <m:sSupPr>
                            <m:ctrlPr>
                              <a:rPr lang="fr-FR" i="1">
                                <a:latin typeface="Cambria Math" panose="02040503050406030204" pitchFamily="18" charset="0"/>
                              </a:rPr>
                            </m:ctrlPr>
                          </m:sSupPr>
                          <m:e>
                            <m:r>
                              <a:rPr lang="fr-FR" i="1">
                                <a:latin typeface="Cambria Math" panose="02040503050406030204" pitchFamily="18" charset="0"/>
                              </a:rPr>
                              <m:t>𝑛</m:t>
                            </m:r>
                          </m:e>
                          <m:sup>
                            <m:r>
                              <a:rPr lang="fr-FR" i="1">
                                <a:latin typeface="Cambria Math" panose="02040503050406030204" pitchFamily="18" charset="0"/>
                              </a:rPr>
                              <m:t>∗</m:t>
                            </m:r>
                          </m:sup>
                        </m:sSup>
                      </m:num>
                      <m:den>
                        <m:r>
                          <a:rPr lang="fr-FR" i="1">
                            <a:latin typeface="Cambria Math" panose="02040503050406030204" pitchFamily="18" charset="0"/>
                          </a:rPr>
                          <m:t>𝑁</m:t>
                        </m:r>
                      </m:den>
                    </m:f>
                    <m:r>
                      <a:rPr lang="fr-FR" i="1">
                        <a:latin typeface="Cambria Math" panose="02040503050406030204" pitchFamily="18" charset="0"/>
                      </a:rPr>
                      <m:t>=</m:t>
                    </m:r>
                    <m:r>
                      <a:rPr lang="fr-FR" i="1" dirty="0">
                        <a:latin typeface="Cambria Math" panose="02040503050406030204" pitchFamily="18" charset="0"/>
                        <a:ea typeface="Cambria Math" panose="02040503050406030204" pitchFamily="18" charset="0"/>
                        <a:cs typeface="Times New Roman" panose="02020603050405020304" pitchFamily="18" charset="0"/>
                      </a:rPr>
                      <m:t>𝜈</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sSup>
                      <m:sSupPr>
                        <m:ctrlPr>
                          <a:rPr lang="fr-FR" i="1">
                            <a:latin typeface="Cambria Math" panose="02040503050406030204" pitchFamily="18" charset="0"/>
                          </a:rPr>
                        </m:ctrlPr>
                      </m:sSupPr>
                      <m:e>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rPr>
                          <m:t>1∗</m:t>
                        </m:r>
                        <m:r>
                          <a:rPr lang="fr-FR" i="1">
                            <a:latin typeface="Cambria Math" panose="02040503050406030204" pitchFamily="18" charset="0"/>
                          </a:rPr>
                          <m:t>𝑒</m:t>
                        </m:r>
                      </m:e>
                      <m:sup>
                        <m:r>
                          <a:rPr lang="fr-FR" i="1">
                            <a:latin typeface="Cambria Math" panose="02040503050406030204" pitchFamily="18" charset="0"/>
                          </a:rPr>
                          <m:t>−</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r>
                      <a:rPr lang="fr-FR" b="0" i="1" smtClean="0">
                        <a:latin typeface="Cambria Math" panose="02040503050406030204" pitchFamily="18" charset="0"/>
                      </a:rPr>
                      <m:t>=</m:t>
                    </m:r>
                    <m:r>
                      <a:rPr lang="fr-FR" i="1" dirty="0">
                        <a:latin typeface="Cambria Math" panose="02040503050406030204" pitchFamily="18" charset="0"/>
                        <a:ea typeface="Cambria Math" panose="02040503050406030204" pitchFamily="18" charset="0"/>
                        <a:cs typeface="Times New Roman" panose="02020603050405020304" pitchFamily="18" charset="0"/>
                      </a:rPr>
                      <m:t>𝜈</m:t>
                    </m:r>
                    <m:sSup>
                      <m:sSupPr>
                        <m:ctrlPr>
                          <a:rPr lang="fr-FR" i="1">
                            <a:latin typeface="Cambria Math" panose="02040503050406030204" pitchFamily="18" charset="0"/>
                          </a:rPr>
                        </m:ctrlPr>
                      </m:sSupPr>
                      <m:e>
                        <m:r>
                          <a:rPr lang="fr-FR" i="1">
                            <a:latin typeface="Cambria Math" panose="02040503050406030204" pitchFamily="18" charset="0"/>
                          </a:rPr>
                          <m:t>𝑒</m:t>
                        </m:r>
                      </m:e>
                      <m:sup>
                        <m:r>
                          <a:rPr lang="fr-FR" i="1">
                            <a:latin typeface="Cambria Math" panose="02040503050406030204" pitchFamily="18" charset="0"/>
                          </a:rPr>
                          <m:t>−</m:t>
                        </m:r>
                        <m:r>
                          <a:rPr lang="fr-FR" b="0" i="1" smtClean="0">
                            <a:latin typeface="Cambria Math" panose="02040503050406030204" pitchFamily="18" charset="0"/>
                          </a:rPr>
                          <m:t>2</m:t>
                        </m:r>
                        <m:f>
                          <m:fPr>
                            <m:ctrlPr>
                              <a:rPr lang="fr-FR" i="1">
                                <a:latin typeface="Cambria Math" panose="02040503050406030204" pitchFamily="18" charset="0"/>
                              </a:rPr>
                            </m:ctrlPr>
                          </m:fPr>
                          <m:num>
                            <m:r>
                              <a:rPr lang="fr-FR">
                                <a:latin typeface="Cambria Math" panose="02040503050406030204" pitchFamily="18" charset="0"/>
                                <a:ea typeface="Cambria Math" panose="02040503050406030204" pitchFamily="18" charset="0"/>
                                <a:cs typeface="Times New Roman" panose="02020603050405020304" pitchFamily="18" charset="0"/>
                              </a:rPr>
                              <m:t>∆</m:t>
                            </m:r>
                            <m:r>
                              <m:rPr>
                                <m:nor/>
                              </m:rPr>
                              <a:rPr lang="fr-FR">
                                <a:latin typeface="Cambria Math" panose="02040503050406030204" pitchFamily="18" charset="0"/>
                                <a:ea typeface="Cambria Math" panose="02040503050406030204" pitchFamily="18" charset="0"/>
                                <a:cs typeface="Times New Roman" panose="02020603050405020304" pitchFamily="18" charset="0"/>
                              </a:rPr>
                              <m:t>G</m:t>
                            </m:r>
                            <m:r>
                              <m:rPr>
                                <m:nor/>
                              </m:rPr>
                              <a:rPr lang="fr-FR"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i="1">
                                <a:latin typeface="Cambria Math" panose="02040503050406030204" pitchFamily="18" charset="0"/>
                              </a:rPr>
                              <m:t>𝑅𝑇</m:t>
                            </m:r>
                          </m:den>
                        </m:f>
                      </m:sup>
                    </m:sSup>
                  </m:oMath>
                </a14:m>
                <a:endParaRPr lang="fr-FR" dirty="0"/>
              </a:p>
            </p:txBody>
          </p:sp>
        </mc:Choice>
        <mc:Fallback xmlns="">
          <p:sp>
            <p:nvSpPr>
              <p:cNvPr id="5" name="Rectangle 4"/>
              <p:cNvSpPr>
                <a:spLocks noRot="1" noChangeAspect="1" noMove="1" noResize="1" noEditPoints="1" noAdjustHandles="1" noChangeArrowheads="1" noChangeShapeType="1" noTextEdit="1"/>
              </p:cNvSpPr>
              <p:nvPr/>
            </p:nvSpPr>
            <p:spPr>
              <a:xfrm>
                <a:off x="905867" y="2549186"/>
                <a:ext cx="4567470" cy="493340"/>
              </a:xfrm>
              <a:prstGeom prst="rect">
                <a:avLst/>
              </a:prstGeom>
              <a:blipFill>
                <a:blip r:embed="rId5"/>
                <a:stretch>
                  <a:fillRect b="-2469"/>
                </a:stretch>
              </a:blipFill>
            </p:spPr>
            <p:txBody>
              <a:bodyPr/>
              <a:lstStyle/>
              <a:p>
                <a:r>
                  <a:rPr lang="fr-FR">
                    <a:noFill/>
                  </a:rPr>
                  <a:t> </a:t>
                </a:r>
              </a:p>
            </p:txBody>
          </p:sp>
        </mc:Fallback>
      </mc:AlternateContent>
      <p:sp>
        <p:nvSpPr>
          <p:cNvPr id="3" name="Rectangle 2"/>
          <p:cNvSpPr/>
          <p:nvPr/>
        </p:nvSpPr>
        <p:spPr>
          <a:xfrm>
            <a:off x="169791" y="3371970"/>
            <a:ext cx="2771913" cy="307777"/>
          </a:xfrm>
          <a:prstGeom prst="rect">
            <a:avLst/>
          </a:prstGeom>
        </p:spPr>
        <p:txBody>
          <a:bodyPr wrap="none">
            <a:spAutoFit/>
          </a:bodyPr>
          <a:lstStyle/>
          <a:p>
            <a:r>
              <a:rPr lang="fr-FR" dirty="0" smtClean="0">
                <a:latin typeface="Times New Roman" panose="02020603050405020304" pitchFamily="18" charset="0"/>
                <a:cs typeface="Times New Roman" panose="02020603050405020304" pitchFamily="18" charset="0"/>
              </a:rPr>
              <a:t>Et donc le coefficient de diffusion : </a:t>
            </a:r>
            <a:endParaRPr lang="fr-FR" dirty="0"/>
          </a:p>
        </p:txBody>
      </p:sp>
      <mc:AlternateContent xmlns:mc="http://schemas.openxmlformats.org/markup-compatibility/2006" xmlns:a14="http://schemas.microsoft.com/office/drawing/2010/main">
        <mc:Choice Requires="a14">
          <p:sp>
            <p:nvSpPr>
              <p:cNvPr id="6" name="Rectangle 5"/>
              <p:cNvSpPr/>
              <p:nvPr/>
            </p:nvSpPr>
            <p:spPr>
              <a:xfrm>
                <a:off x="3453043" y="3198738"/>
                <a:ext cx="2392322" cy="552074"/>
              </a:xfrm>
              <a:prstGeom prst="rect">
                <a:avLst/>
              </a:prstGeom>
            </p:spPr>
            <p:txBody>
              <a:bodyPr wrap="none">
                <a:spAutoFit/>
              </a:bodyPr>
              <a:lstStyle/>
              <a:p>
                <a14:m>
                  <m:oMath xmlns:m="http://schemas.openxmlformats.org/officeDocument/2006/math">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𝐷</m:t>
                        </m:r>
                        <m:r>
                          <a:rPr lang="fr-FR"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fr-FR"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fr-FR" sz="1600" b="0" i="1" smtClean="0">
                                <a:latin typeface="Cambria Math" panose="02040503050406030204" pitchFamily="18" charset="0"/>
                                <a:ea typeface="Cambria Math" panose="02040503050406030204" pitchFamily="18" charset="0"/>
                                <a:cs typeface="Times New Roman" panose="02020603050405020304" pitchFamily="18" charset="0"/>
                              </a:rPr>
                              <m:t>6</m:t>
                            </m:r>
                          </m:den>
                        </m:f>
                        <m:sSup>
                          <m:sSup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fr-FR" sz="1600" i="1">
                            <a:latin typeface="Cambria Math" panose="02040503050406030204" pitchFamily="18" charset="0"/>
                            <a:ea typeface="Cambria Math" panose="02040503050406030204" pitchFamily="18" charset="0"/>
                            <a:cs typeface="Times New Roman" panose="02020603050405020304" pitchFamily="18" charset="0"/>
                          </a:rPr>
                          <m:t>𝜏</m:t>
                        </m:r>
                      </m:e>
                      <m:sub>
                        <m:r>
                          <a:rPr lang="fr-FR" sz="1600" i="1">
                            <a:latin typeface="Cambria Math" panose="02040503050406030204" pitchFamily="18" charset="0"/>
                            <a:ea typeface="Cambria Math" panose="02040503050406030204" pitchFamily="18" charset="0"/>
                            <a:cs typeface="Times New Roman" panose="02020603050405020304" pitchFamily="18" charset="0"/>
                          </a:rPr>
                          <m:t>𝑟</m:t>
                        </m:r>
                      </m:sub>
                    </m:sSub>
                  </m:oMath>
                </a14:m>
                <a:r>
                  <a:rPr lang="fr-FR" sz="1600" dirty="0">
                    <a:latin typeface="Times New Roman" panose="02020603050405020304" pitchFamily="18" charset="0"/>
                    <a:cs typeface="Times New Roman" panose="02020603050405020304" pitchFamily="18" charset="0"/>
                  </a:rPr>
                  <a:t> =</a:t>
                </a:r>
                <a14:m>
                  <m:oMath xmlns:m="http://schemas.openxmlformats.org/officeDocument/2006/math">
                    <m:f>
                      <m:fPr>
                        <m:ctrlPr>
                          <a:rPr lang="fr-FR" sz="1600" b="0" i="1" smtClean="0">
                            <a:latin typeface="Cambria Math" panose="02040503050406030204" pitchFamily="18" charset="0"/>
                          </a:rPr>
                        </m:ctrlPr>
                      </m:fPr>
                      <m:num>
                        <m:r>
                          <a:rPr lang="fr-FR" sz="1600" i="1">
                            <a:latin typeface="Cambria Math" panose="02040503050406030204" pitchFamily="18" charset="0"/>
                          </a:rPr>
                          <m:t>1</m:t>
                        </m:r>
                      </m:num>
                      <m:den>
                        <m:r>
                          <a:rPr lang="fr-FR" sz="1600" b="0" i="1" smtClean="0">
                            <a:latin typeface="Cambria Math" panose="02040503050406030204" pitchFamily="18" charset="0"/>
                          </a:rPr>
                          <m:t>6</m:t>
                        </m:r>
                      </m:den>
                    </m:f>
                    <m:r>
                      <a:rPr lang="fr-FR" sz="1600" i="1" dirty="0">
                        <a:latin typeface="Cambria Math" panose="02040503050406030204" pitchFamily="18" charset="0"/>
                        <a:ea typeface="Cambria Math" panose="02040503050406030204" pitchFamily="18" charset="0"/>
                        <a:cs typeface="Times New Roman" panose="02020603050405020304" pitchFamily="18" charset="0"/>
                      </a:rPr>
                      <m:t>𝜈</m:t>
                    </m:r>
                    <m:sSup>
                      <m:sSupPr>
                        <m:ctrlPr>
                          <a:rPr lang="fr-FR" sz="1600" i="1">
                            <a:latin typeface="Cambria Math" panose="02040503050406030204" pitchFamily="18" charset="0"/>
                          </a:rPr>
                        </m:ctrlPr>
                      </m:sSupPr>
                      <m:e>
                        <m:r>
                          <a:rPr lang="fr-FR" sz="1600" i="1">
                            <a:latin typeface="Cambria Math" panose="02040503050406030204" pitchFamily="18" charset="0"/>
                          </a:rPr>
                          <m:t>𝑒</m:t>
                        </m:r>
                      </m:e>
                      <m:sup>
                        <m:r>
                          <a:rPr lang="fr-FR" sz="1600" i="1">
                            <a:latin typeface="Cambria Math" panose="02040503050406030204" pitchFamily="18" charset="0"/>
                          </a:rPr>
                          <m:t>−</m:t>
                        </m:r>
                        <m:r>
                          <a:rPr lang="fr-FR" sz="1600" b="0" i="1" smtClean="0">
                            <a:latin typeface="Cambria Math" panose="02040503050406030204" pitchFamily="18" charset="0"/>
                          </a:rPr>
                          <m:t>2</m:t>
                        </m:r>
                        <m:f>
                          <m:fPr>
                            <m:ctrlPr>
                              <a:rPr lang="fr-FR" sz="1600" i="1">
                                <a:latin typeface="Cambria Math" panose="02040503050406030204" pitchFamily="18" charset="0"/>
                              </a:rPr>
                            </m:ctrlPr>
                          </m:fPr>
                          <m:num>
                            <m:r>
                              <a:rPr lang="fr-FR" sz="1600">
                                <a:latin typeface="Cambria Math" panose="02040503050406030204" pitchFamily="18" charset="0"/>
                                <a:ea typeface="Cambria Math" panose="02040503050406030204" pitchFamily="18" charset="0"/>
                                <a:cs typeface="Times New Roman" panose="02020603050405020304" pitchFamily="18" charset="0"/>
                              </a:rPr>
                              <m:t>∆</m:t>
                            </m:r>
                            <m:r>
                              <m:rPr>
                                <m:nor/>
                              </m:rPr>
                              <a:rPr lang="fr-FR" sz="1600">
                                <a:latin typeface="Cambria Math" panose="02040503050406030204" pitchFamily="18" charset="0"/>
                                <a:ea typeface="Cambria Math" panose="02040503050406030204" pitchFamily="18" charset="0"/>
                                <a:cs typeface="Times New Roman" panose="02020603050405020304" pitchFamily="18" charset="0"/>
                              </a:rPr>
                              <m:t>G</m:t>
                            </m:r>
                            <m:r>
                              <m:rPr>
                                <m:nor/>
                              </m:rPr>
                              <a:rPr lang="fr-FR" sz="1600" baseline="-25000">
                                <a:latin typeface="Cambria Math" panose="02040503050406030204" pitchFamily="18" charset="0"/>
                                <a:ea typeface="Cambria Math" panose="02040503050406030204" pitchFamily="18" charset="0"/>
                                <a:cs typeface="Times New Roman" panose="02020603050405020304" pitchFamily="18" charset="0"/>
                              </a:rPr>
                              <m:t>m</m:t>
                            </m:r>
                          </m:num>
                          <m:den>
                            <m:r>
                              <a:rPr lang="fr-FR" sz="1600" i="1">
                                <a:latin typeface="Cambria Math" panose="02040503050406030204" pitchFamily="18" charset="0"/>
                              </a:rPr>
                              <m:t>𝑅𝑇</m:t>
                            </m:r>
                          </m:den>
                        </m:f>
                      </m:sup>
                    </m:sSup>
                    <m:r>
                      <a:rPr lang="fr-FR" sz="1600" b="0" i="1" smtClean="0">
                        <a:latin typeface="Cambria Math" panose="02040503050406030204" pitchFamily="18" charset="0"/>
                      </a:rPr>
                      <m:t> </m:t>
                    </m:r>
                    <m:r>
                      <a:rPr lang="fr-FR" sz="1600" b="0" i="1" smtClean="0">
                        <a:latin typeface="Cambria Math" panose="02040503050406030204" pitchFamily="18" charset="0"/>
                      </a:rPr>
                      <m:t>𝑎</m:t>
                    </m:r>
                    <m:r>
                      <a:rPr lang="fr-FR" sz="1600" b="0" i="1" smtClean="0">
                        <a:latin typeface="Cambria Math" panose="02040503050406030204" pitchFamily="18" charset="0"/>
                      </a:rPr>
                      <m:t>²</m:t>
                    </m:r>
                  </m:oMath>
                </a14:m>
                <a:endParaRPr lang="fr-FR" sz="1600" dirty="0"/>
              </a:p>
            </p:txBody>
          </p:sp>
        </mc:Choice>
        <mc:Fallback xmlns="">
          <p:sp>
            <p:nvSpPr>
              <p:cNvPr id="6" name="Rectangle 5"/>
              <p:cNvSpPr>
                <a:spLocks noRot="1" noChangeAspect="1" noMove="1" noResize="1" noEditPoints="1" noAdjustHandles="1" noChangeArrowheads="1" noChangeShapeType="1" noTextEdit="1"/>
              </p:cNvSpPr>
              <p:nvPr/>
            </p:nvSpPr>
            <p:spPr>
              <a:xfrm>
                <a:off x="3453043" y="3198738"/>
                <a:ext cx="2392322" cy="552074"/>
              </a:xfrm>
              <a:prstGeom prst="rect">
                <a:avLst/>
              </a:prstGeom>
              <a:blipFill>
                <a:blip r:embed="rId6"/>
                <a:stretch>
                  <a:fillRect b="-4444"/>
                </a:stretch>
              </a:blipFill>
            </p:spPr>
            <p:txBody>
              <a:bodyPr/>
              <a:lstStyle/>
              <a:p>
                <a:r>
                  <a:rPr lang="fr-FR">
                    <a:noFill/>
                  </a:rPr>
                  <a:t> </a:t>
                </a:r>
              </a:p>
            </p:txBody>
          </p:sp>
        </mc:Fallback>
      </mc:AlternateContent>
      <p:sp>
        <p:nvSpPr>
          <p:cNvPr id="9"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a:latin typeface="Times New Roman" panose="02020603050405020304" pitchFamily="18" charset="0"/>
                <a:cs typeface="Times New Roman" panose="02020603050405020304" pitchFamily="18" charset="0"/>
              </a:rPr>
              <a:t>Le mécanisme </a:t>
            </a:r>
            <a:r>
              <a:rPr lang="fr-FR" sz="2400" b="1" dirty="0" smtClean="0">
                <a:latin typeface="Times New Roman" panose="02020603050405020304" pitchFamily="18" charset="0"/>
                <a:cs typeface="Times New Roman" panose="02020603050405020304" pitchFamily="18" charset="0"/>
              </a:rPr>
              <a:t>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3615" y="2221067"/>
            <a:ext cx="2970602" cy="1411865"/>
          </a:xfrm>
          <a:prstGeom prst="rect">
            <a:avLst/>
          </a:prstGeom>
          <a:ln w="19050" cap="sq">
            <a:solidFill>
              <a:srgbClr val="000000"/>
            </a:solidFill>
            <a:miter lim="800000"/>
          </a:ln>
          <a:effectLst>
            <a:outerShdw blurRad="57150" dist="50800" dir="2700000" algn="tl" rotWithShape="0">
              <a:srgbClr val="000000">
                <a:alpha val="40000"/>
              </a:srgbClr>
            </a:outerShdw>
          </a:effectLst>
        </p:spPr>
      </p:pic>
      <p:sp>
        <p:nvSpPr>
          <p:cNvPr id="2" name="Rectangle 1"/>
          <p:cNvSpPr/>
          <p:nvPr/>
        </p:nvSpPr>
        <p:spPr>
          <a:xfrm>
            <a:off x="996043" y="1138972"/>
            <a:ext cx="7151914" cy="523220"/>
          </a:xfrm>
          <a:prstGeom prst="rect">
            <a:avLst/>
          </a:prstGeom>
        </p:spPr>
        <p:txBody>
          <a:bodyPr wrap="square">
            <a:spAutoFit/>
          </a:bodyPr>
          <a:lstStyle/>
          <a:p>
            <a:pPr algn="just"/>
            <a:r>
              <a:rPr lang="fr-FR" dirty="0">
                <a:latin typeface="Times New Roman" panose="02020603050405020304" pitchFamily="18" charset="0"/>
                <a:cs typeface="Times New Roman" panose="02020603050405020304" pitchFamily="18" charset="0"/>
              </a:rPr>
              <a:t>Comme dans la figure </a:t>
            </a:r>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l'atome </a:t>
            </a:r>
            <a:r>
              <a:rPr lang="fr-FR" dirty="0" smtClean="0">
                <a:latin typeface="Times New Roman" panose="02020603050405020304" pitchFamily="18" charset="0"/>
                <a:cs typeface="Times New Roman" panose="02020603050405020304" pitchFamily="18" charset="0"/>
              </a:rPr>
              <a:t>coloré en vert </a:t>
            </a:r>
            <a:r>
              <a:rPr lang="fr-FR" dirty="0">
                <a:latin typeface="Times New Roman" panose="02020603050405020304" pitchFamily="18" charset="0"/>
                <a:cs typeface="Times New Roman" panose="02020603050405020304" pitchFamily="18" charset="0"/>
              </a:rPr>
              <a:t>tourne </a:t>
            </a:r>
            <a:r>
              <a:rPr lang="fr-FR" dirty="0" smtClean="0">
                <a:latin typeface="Times New Roman" panose="02020603050405020304" pitchFamily="18" charset="0"/>
                <a:cs typeface="Times New Roman" panose="02020603050405020304" pitchFamily="18" charset="0"/>
              </a:rPr>
              <a:t>d'abord (selon </a:t>
            </a:r>
            <a:r>
              <a:rPr lang="fr-FR" dirty="0">
                <a:latin typeface="Times New Roman" panose="02020603050405020304" pitchFamily="18" charset="0"/>
                <a:cs typeface="Times New Roman" panose="02020603050405020304" pitchFamily="18" charset="0"/>
              </a:rPr>
              <a:t>le mécanisme </a:t>
            </a:r>
            <a:r>
              <a:rPr lang="fr-FR" dirty="0" smtClean="0">
                <a:latin typeface="Times New Roman" panose="02020603050405020304" pitchFamily="18" charset="0"/>
                <a:cs typeface="Times New Roman" panose="02020603050405020304" pitchFamily="18" charset="0"/>
              </a:rPr>
              <a:t>d'anneau</a:t>
            </a:r>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et saute </a:t>
            </a:r>
            <a:r>
              <a:rPr lang="fr-FR" dirty="0">
                <a:latin typeface="Times New Roman" panose="02020603050405020304" pitchFamily="18" charset="0"/>
                <a:cs typeface="Times New Roman" panose="02020603050405020304" pitchFamily="18" charset="0"/>
              </a:rPr>
              <a:t>ensuite à la </a:t>
            </a:r>
            <a:r>
              <a:rPr lang="fr-FR" dirty="0" smtClean="0">
                <a:latin typeface="Times New Roman" panose="02020603050405020304" pitchFamily="18" charset="0"/>
                <a:cs typeface="Times New Roman" panose="02020603050405020304" pitchFamily="18" charset="0"/>
              </a:rPr>
              <a:t>lacune </a:t>
            </a:r>
            <a:r>
              <a:rPr lang="fr-FR" dirty="0">
                <a:latin typeface="Times New Roman" panose="02020603050405020304" pitchFamily="18" charset="0"/>
                <a:cs typeface="Times New Roman" panose="02020603050405020304" pitchFamily="18" charset="0"/>
              </a:rPr>
              <a:t>(représentée) par des </a:t>
            </a:r>
            <a:r>
              <a:rPr lang="fr-FR" dirty="0" smtClean="0">
                <a:latin typeface="Times New Roman" panose="02020603050405020304" pitchFamily="18" charset="0"/>
                <a:cs typeface="Times New Roman" panose="02020603050405020304" pitchFamily="18" charset="0"/>
              </a:rPr>
              <a:t>pointillés lignes.</a:t>
            </a:r>
            <a:endParaRPr lang="fr-FR" dirty="0">
              <a:latin typeface="Times New Roman" panose="02020603050405020304" pitchFamily="18" charset="0"/>
              <a:cs typeface="Times New Roman" panose="02020603050405020304" pitchFamily="18" charset="0"/>
            </a:endParaRPr>
          </a:p>
        </p:txBody>
      </p:sp>
      <p:sp>
        <p:nvSpPr>
          <p:cNvPr id="6"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7"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smtClean="0">
                <a:latin typeface="Times New Roman" panose="02020603050405020304" pitchFamily="18" charset="0"/>
                <a:cs typeface="Times New Roman" panose="02020603050405020304" pitchFamily="18" charset="0"/>
              </a:rPr>
              <a:t>Le </a:t>
            </a:r>
            <a:r>
              <a:rPr lang="fr-FR" sz="2400" b="1" dirty="0">
                <a:latin typeface="Times New Roman" panose="02020603050405020304" pitchFamily="18" charset="0"/>
                <a:cs typeface="Times New Roman" panose="02020603050405020304" pitchFamily="18" charset="0"/>
              </a:rPr>
              <a:t>mécanisme </a:t>
            </a:r>
            <a:r>
              <a:rPr lang="fr-FR" sz="2400" b="1" dirty="0" smtClean="0">
                <a:latin typeface="Times New Roman" panose="02020603050405020304" pitchFamily="18" charset="0"/>
                <a:cs typeface="Times New Roman" panose="02020603050405020304" pitchFamily="18" charset="0"/>
              </a:rPr>
              <a:t>lacunaire 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2"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lvl="0" algn="ctr"/>
            <a:r>
              <a:rPr lang="fr-FR" sz="2400" b="1" dirty="0" smtClean="0">
                <a:latin typeface="Times New Roman" panose="02020603050405020304" pitchFamily="18" charset="0"/>
                <a:cs typeface="Times New Roman" panose="02020603050405020304" pitchFamily="18" charset="0"/>
              </a:rPr>
              <a:t>Le </a:t>
            </a:r>
            <a:r>
              <a:rPr lang="fr-FR" sz="2400" b="1" dirty="0">
                <a:latin typeface="Times New Roman" panose="02020603050405020304" pitchFamily="18" charset="0"/>
                <a:cs typeface="Times New Roman" panose="02020603050405020304" pitchFamily="18" charset="0"/>
              </a:rPr>
              <a:t>mécanisme </a:t>
            </a:r>
            <a:r>
              <a:rPr lang="fr-FR" sz="2400" b="1" dirty="0" smtClean="0">
                <a:latin typeface="Times New Roman" panose="02020603050405020304" pitchFamily="18" charset="0"/>
                <a:cs typeface="Times New Roman" panose="02020603050405020304" pitchFamily="18" charset="0"/>
              </a:rPr>
              <a:t>lacunaire d'anneau</a:t>
            </a:r>
            <a:endParaRPr sz="2400" b="1" dirty="0">
              <a:solidFill>
                <a:schemeClr val="dk1"/>
              </a:solidFill>
              <a:latin typeface="Times New Roman" panose="02020603050405020304" pitchFamily="18" charset="0"/>
              <a:ea typeface="Old Standard TT"/>
              <a:cs typeface="Times New Roman" panose="02020603050405020304" pitchFamily="18" charset="0"/>
              <a:sym typeface="Old Standard TT"/>
            </a:endParaRPr>
          </a:p>
        </p:txBody>
      </p:sp>
      <mc:AlternateContent xmlns:mc="http://schemas.openxmlformats.org/markup-compatibility/2006" xmlns:a14="http://schemas.microsoft.com/office/drawing/2010/main">
        <mc:Choice Requires="a14">
          <p:sp>
            <p:nvSpPr>
              <p:cNvPr id="3" name="Rectangle 2"/>
              <p:cNvSpPr/>
              <p:nvPr/>
            </p:nvSpPr>
            <p:spPr>
              <a:xfrm>
                <a:off x="163285" y="619355"/>
                <a:ext cx="8183881" cy="1169551"/>
              </a:xfrm>
              <a:prstGeom prst="rect">
                <a:avLst/>
              </a:prstGeom>
            </p:spPr>
            <p:txBody>
              <a:bodyPr wrap="square">
                <a:spAutoFit/>
              </a:bodyPr>
              <a:lstStyle/>
              <a:p>
                <a:pPr algn="just"/>
                <a:endParaRPr lang="fr-FR" dirty="0" smtClean="0">
                  <a:latin typeface="Times New Roman" panose="02020603050405020304" pitchFamily="18" charset="0"/>
                  <a:cs typeface="Times New Roman" panose="02020603050405020304" pitchFamily="18" charset="0"/>
                </a:endParaRPr>
              </a:p>
              <a:p>
                <a:pPr algn="just"/>
                <a14:m>
                  <m:oMath xmlns:m="http://schemas.openxmlformats.org/officeDocument/2006/math">
                    <m:r>
                      <a:rPr lang="fr-FR" i="1" smtClean="0">
                        <a:latin typeface="Cambria Math" panose="02040503050406030204" pitchFamily="18" charset="0"/>
                        <a:ea typeface="Cambria Math" panose="02040503050406030204" pitchFamily="18" charset="0"/>
                        <a:cs typeface="Times New Roman" panose="02020603050405020304" pitchFamily="18" charset="0"/>
                      </a:rPr>
                      <m:t>𝜏</m:t>
                    </m:r>
                    <m:r>
                      <a:rPr lang="fr-FR" b="0" i="1" baseline="-25000" smtClean="0">
                        <a:latin typeface="Cambria Math" panose="02040503050406030204" pitchFamily="18" charset="0"/>
                        <a:ea typeface="Cambria Math" panose="02040503050406030204" pitchFamily="18" charset="0"/>
                        <a:cs typeface="Times New Roman" panose="02020603050405020304" pitchFamily="18" charset="0"/>
                      </a:rPr>
                      <m:t>𝑅</m:t>
                    </m:r>
                  </m:oMath>
                </a14:m>
                <a:r>
                  <a:rPr lang="fr-FR" dirty="0">
                    <a:latin typeface="Times New Roman" panose="02020603050405020304" pitchFamily="18" charset="0"/>
                    <a:cs typeface="Times New Roman" panose="02020603050405020304" pitchFamily="18" charset="0"/>
                  </a:rPr>
                  <a:t> le nombre de sauts réussis </a:t>
                </a:r>
                <a:r>
                  <a:rPr lang="fr-FR" dirty="0" smtClean="0">
                    <a:latin typeface="Times New Roman" panose="02020603050405020304" pitchFamily="18" charset="0"/>
                    <a:cs typeface="Times New Roman" panose="02020603050405020304" pitchFamily="18" charset="0"/>
                  </a:rPr>
                  <a:t>exécuté </a:t>
                </a:r>
                <a:r>
                  <a:rPr lang="fr-FR" dirty="0">
                    <a:latin typeface="Times New Roman" panose="02020603050405020304" pitchFamily="18" charset="0"/>
                    <a:cs typeface="Times New Roman" panose="02020603050405020304" pitchFamily="18" charset="0"/>
                  </a:rPr>
                  <a:t>par un atome par </a:t>
                </a:r>
                <a:r>
                  <a:rPr lang="fr-FR" dirty="0" smtClean="0">
                    <a:latin typeface="Times New Roman" panose="02020603050405020304" pitchFamily="18" charset="0"/>
                    <a:cs typeface="Times New Roman" panose="02020603050405020304" pitchFamily="18" charset="0"/>
                  </a:rPr>
                  <a:t>seconde dans </a:t>
                </a:r>
                <a:r>
                  <a:rPr lang="fr-FR" dirty="0">
                    <a:latin typeface="Times New Roman" panose="02020603050405020304" pitchFamily="18" charset="0"/>
                    <a:cs typeface="Times New Roman" panose="02020603050405020304" pitchFamily="18" charset="0"/>
                  </a:rPr>
                  <a:t>le mécanisme </a:t>
                </a:r>
                <a:r>
                  <a:rPr lang="fr-FR" dirty="0" smtClean="0">
                    <a:latin typeface="Times New Roman" panose="02020603050405020304" pitchFamily="18" charset="0"/>
                    <a:cs typeface="Times New Roman" panose="02020603050405020304" pitchFamily="18" charset="0"/>
                  </a:rPr>
                  <a:t>d'anneau. </a:t>
                </a:r>
              </a:p>
              <a:p>
                <a:pPr algn="just"/>
                <a14:m>
                  <m:oMath xmlns:m="http://schemas.openxmlformats.org/officeDocument/2006/math">
                    <m:r>
                      <a:rPr lang="fr-FR" i="1">
                        <a:latin typeface="Cambria Math" panose="02040503050406030204" pitchFamily="18" charset="0"/>
                        <a:ea typeface="Cambria Math" panose="02040503050406030204" pitchFamily="18" charset="0"/>
                        <a:cs typeface="Times New Roman" panose="02020603050405020304" pitchFamily="18" charset="0"/>
                      </a:rPr>
                      <m:t>𝜏</m:t>
                    </m:r>
                    <m:r>
                      <a:rPr lang="fr-FR" b="0" i="1" baseline="-25000" smtClean="0">
                        <a:latin typeface="Cambria Math" panose="02040503050406030204" pitchFamily="18" charset="0"/>
                        <a:ea typeface="Cambria Math" panose="02040503050406030204" pitchFamily="18" charset="0"/>
                        <a:cs typeface="Times New Roman" panose="02020603050405020304" pitchFamily="18" charset="0"/>
                      </a:rPr>
                      <m:t>𝑉</m:t>
                    </m:r>
                  </m:oMath>
                </a14:m>
                <a:r>
                  <a:rPr lang="fr-FR" dirty="0" smtClean="0">
                    <a:latin typeface="Times New Roman" panose="02020603050405020304" pitchFamily="18" charset="0"/>
                    <a:cs typeface="Times New Roman" panose="02020603050405020304" pitchFamily="18" charset="0"/>
                  </a:rPr>
                  <a:t> le </a:t>
                </a:r>
                <a:r>
                  <a:rPr lang="fr-FR" dirty="0">
                    <a:latin typeface="Times New Roman" panose="02020603050405020304" pitchFamily="18" charset="0"/>
                    <a:cs typeface="Times New Roman" panose="02020603050405020304" pitchFamily="18" charset="0"/>
                  </a:rPr>
                  <a:t>nombre de sauts réussis par seconde exécutés par un atome dans le </a:t>
                </a:r>
                <a:r>
                  <a:rPr lang="fr-FR" dirty="0" smtClean="0">
                    <a:latin typeface="Times New Roman" panose="02020603050405020304" pitchFamily="18" charset="0"/>
                    <a:ea typeface="Tahoma" panose="020B0604030504040204" pitchFamily="34" charset="0"/>
                    <a:cs typeface="Times New Roman" panose="02020603050405020304" pitchFamily="18" charset="0"/>
                  </a:rPr>
                  <a:t>mécanisme lacunaire.</a:t>
                </a:r>
              </a:p>
              <a:p>
                <a:pPr algn="just"/>
                <a:r>
                  <a:rPr lang="fr-FR" dirty="0" smtClean="0">
                    <a:latin typeface="Times New Roman" panose="02020603050405020304" pitchFamily="18" charset="0"/>
                    <a:cs typeface="Times New Roman" panose="02020603050405020304" pitchFamily="18" charset="0"/>
                  </a:rPr>
                  <a:t>On </a:t>
                </a:r>
                <a:r>
                  <a:rPr lang="fr-FR" dirty="0">
                    <a:latin typeface="Times New Roman" panose="02020603050405020304" pitchFamily="18" charset="0"/>
                    <a:cs typeface="Times New Roman" panose="02020603050405020304" pitchFamily="18" charset="0"/>
                  </a:rPr>
                  <a:t>trouvera donc le nombre de sauts réussis par </a:t>
                </a:r>
                <a:r>
                  <a:rPr lang="fr-FR" dirty="0" smtClean="0">
                    <a:latin typeface="Times New Roman" panose="02020603050405020304" pitchFamily="18" charset="0"/>
                    <a:cs typeface="Times New Roman" panose="02020603050405020304" pitchFamily="18" charset="0"/>
                  </a:rPr>
                  <a:t>seconde exécuté </a:t>
                </a:r>
                <a:r>
                  <a:rPr lang="fr-FR" dirty="0">
                    <a:latin typeface="Times New Roman" panose="02020603050405020304" pitchFamily="18" charset="0"/>
                    <a:cs typeface="Times New Roman" panose="02020603050405020304" pitchFamily="18" charset="0"/>
                  </a:rPr>
                  <a:t>par un atome pour ce mécanisme </a:t>
                </a:r>
                <a:r>
                  <a:rPr lang="fr-FR" dirty="0" smtClean="0">
                    <a:latin typeface="Times New Roman" panose="02020603050405020304" pitchFamily="18" charset="0"/>
                    <a:cs typeface="Times New Roman" panose="02020603050405020304" pitchFamily="18" charset="0"/>
                  </a:rPr>
                  <a:t>noté </a:t>
                </a:r>
                <a14:m>
                  <m:oMath xmlns:m="http://schemas.openxmlformats.org/officeDocument/2006/math">
                    <m:r>
                      <a:rPr lang="fr-FR" i="1">
                        <a:latin typeface="Cambria Math" panose="02040503050406030204" pitchFamily="18" charset="0"/>
                        <a:ea typeface="Cambria Math" panose="02040503050406030204" pitchFamily="18" charset="0"/>
                        <a:cs typeface="Times New Roman" panose="02020603050405020304" pitchFamily="18" charset="0"/>
                      </a:rPr>
                      <m:t>𝜏</m:t>
                    </m:r>
                  </m:oMath>
                </a14:m>
                <a:r>
                  <a:rPr lang="fr-FR" baseline="-25000" dirty="0" smtClean="0">
                    <a:latin typeface="Times New Roman" panose="02020603050405020304" pitchFamily="18" charset="0"/>
                    <a:cs typeface="Times New Roman" panose="02020603050405020304" pitchFamily="18" charset="0"/>
                  </a:rPr>
                  <a:t>mix</a:t>
                </a:r>
                <a:endParaRPr lang="fr-FR" baseline="-25000" dirty="0">
                  <a:latin typeface="Times New Roman" panose="02020603050405020304" pitchFamily="18" charset="0"/>
                  <a:cs typeface="Times New Roman" panose="02020603050405020304" pitchFamily="18" charset="0"/>
                </a:endParaRPr>
              </a:p>
              <a:p>
                <a:pPr algn="just"/>
                <a:endParaRPr lang="fr-FR" dirty="0">
                  <a:latin typeface="Times New Roman" panose="02020603050405020304" pitchFamily="18" charset="0"/>
                  <a:cs typeface="Times New Roman" panose="02020603050405020304" pitchFamily="18"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163285" y="619355"/>
                <a:ext cx="8183881" cy="1169551"/>
              </a:xfrm>
              <a:prstGeom prst="rect">
                <a:avLst/>
              </a:prstGeom>
              <a:blipFill>
                <a:blip r:embed="rId3"/>
                <a:stretch>
                  <a:fillRect l="-22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115828" y="1862757"/>
                <a:ext cx="4103046" cy="5386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ea typeface="Cambria Math" panose="02040503050406030204" pitchFamily="18" charset="0"/>
                          <a:cs typeface="Times New Roman" panose="02020603050405020304" pitchFamily="18" charset="0"/>
                        </a:rPr>
                        <m:t>𝜏</m:t>
                      </m:r>
                      <m:r>
                        <m:rPr>
                          <m:nor/>
                        </m:rPr>
                        <a:rPr lang="fr-FR" baseline="-25000" dirty="0">
                          <a:latin typeface="Times New Roman" panose="02020603050405020304" pitchFamily="18" charset="0"/>
                          <a:cs typeface="Times New Roman" panose="02020603050405020304" pitchFamily="18" charset="0"/>
                        </a:rPr>
                        <m:t>mix</m:t>
                      </m:r>
                      <m:r>
                        <a:rPr lang="fr-FR" i="1">
                          <a:latin typeface="Cambria Math" panose="02040503050406030204" pitchFamily="18" charset="0"/>
                        </a:rPr>
                        <m:t>= </m:t>
                      </m:r>
                      <m:f>
                        <m:fPr>
                          <m:ctrlPr>
                            <a:rPr lang="fr-FR" i="1">
                              <a:latin typeface="Cambria Math" panose="02040503050406030204" pitchFamily="18" charset="0"/>
                            </a:rPr>
                          </m:ctrlPr>
                        </m:fPr>
                        <m:num>
                          <m:r>
                            <a:rPr lang="fr-FR" i="1">
                              <a:latin typeface="Cambria Math" panose="02040503050406030204" pitchFamily="18" charset="0"/>
                            </a:rPr>
                            <m:t>𝑛𝑜𝑚𝑏𝑟𝑒</m:t>
                          </m:r>
                          <m:r>
                            <a:rPr lang="fr-FR" i="1">
                              <a:latin typeface="Cambria Math" panose="02040503050406030204" pitchFamily="18" charset="0"/>
                            </a:rPr>
                            <m:t> </m:t>
                          </m:r>
                          <m:r>
                            <a:rPr lang="fr-FR" i="1">
                              <a:latin typeface="Cambria Math" panose="02040503050406030204" pitchFamily="18" charset="0"/>
                            </a:rPr>
                            <m:t>𝑡𝑜𝑡𝑎𝑙</m:t>
                          </m:r>
                          <m:r>
                            <a:rPr lang="fr-FR" i="1">
                              <a:latin typeface="Cambria Math" panose="02040503050406030204" pitchFamily="18" charset="0"/>
                            </a:rPr>
                            <m:t> </m:t>
                          </m:r>
                          <m:r>
                            <a:rPr lang="fr-FR" i="1">
                              <a:latin typeface="Cambria Math" panose="02040503050406030204" pitchFamily="18" charset="0"/>
                            </a:rPr>
                            <m:t>𝑑𝑒</m:t>
                          </m:r>
                          <m:r>
                            <a:rPr lang="fr-FR" i="1">
                              <a:latin typeface="Cambria Math" panose="02040503050406030204" pitchFamily="18" charset="0"/>
                            </a:rPr>
                            <m:t> </m:t>
                          </m:r>
                          <m:r>
                            <a:rPr lang="fr-FR" i="1">
                              <a:latin typeface="Cambria Math" panose="02040503050406030204" pitchFamily="18" charset="0"/>
                            </a:rPr>
                            <m:t>𝑠𝑎𝑢𝑡𝑠</m:t>
                          </m:r>
                          <m:r>
                            <a:rPr lang="fr-FR" i="1">
                              <a:latin typeface="Cambria Math" panose="02040503050406030204" pitchFamily="18" charset="0"/>
                            </a:rPr>
                            <m:t> </m:t>
                          </m:r>
                          <m:r>
                            <a:rPr lang="fr-FR" i="1">
                              <a:latin typeface="Cambria Math" panose="02040503050406030204" pitchFamily="18" charset="0"/>
                            </a:rPr>
                            <m:t>𝑟</m:t>
                          </m:r>
                          <m:r>
                            <a:rPr lang="fr-FR" i="1">
                              <a:latin typeface="Cambria Math" panose="02040503050406030204" pitchFamily="18" charset="0"/>
                            </a:rPr>
                            <m:t>é</m:t>
                          </m:r>
                          <m:r>
                            <a:rPr lang="fr-FR" i="1">
                              <a:latin typeface="Cambria Math" panose="02040503050406030204" pitchFamily="18" charset="0"/>
                            </a:rPr>
                            <m:t>𝑢𝑠𝑠𝑖𝑠</m:t>
                          </m:r>
                        </m:num>
                        <m:den>
                          <m:r>
                            <a:rPr lang="fr-FR" i="1">
                              <a:latin typeface="Cambria Math" panose="02040503050406030204" pitchFamily="18" charset="0"/>
                            </a:rPr>
                            <m:t>𝑡𝑒𝑚𝑝𝑠</m:t>
                          </m:r>
                          <m:r>
                            <a:rPr lang="fr-FR" i="1">
                              <a:latin typeface="Cambria Math" panose="02040503050406030204" pitchFamily="18" charset="0"/>
                            </a:rPr>
                            <m:t> </m:t>
                          </m:r>
                          <m:r>
                            <a:rPr lang="fr-FR" i="1">
                              <a:latin typeface="Cambria Math" panose="02040503050406030204" pitchFamily="18" charset="0"/>
                            </a:rPr>
                            <m:t>𝑡𝑜𝑡𝑎𝑙</m:t>
                          </m:r>
                          <m:r>
                            <a:rPr lang="fr-FR" i="1">
                              <a:latin typeface="Cambria Math" panose="02040503050406030204" pitchFamily="18" charset="0"/>
                            </a:rPr>
                            <m:t> é</m:t>
                          </m:r>
                          <m:r>
                            <a:rPr lang="fr-FR" i="1">
                              <a:latin typeface="Cambria Math" panose="02040503050406030204" pitchFamily="18" charset="0"/>
                            </a:rPr>
                            <m:t>𝑐𝑜𝑢𝑙</m:t>
                          </m:r>
                          <m:r>
                            <a:rPr lang="fr-FR" i="1">
                              <a:latin typeface="Cambria Math" panose="02040503050406030204" pitchFamily="18" charset="0"/>
                            </a:rPr>
                            <m:t>é </m:t>
                          </m:r>
                          <m:r>
                            <a:rPr lang="fr-FR" i="1">
                              <a:latin typeface="Cambria Math" panose="02040503050406030204" pitchFamily="18" charset="0"/>
                            </a:rPr>
                            <m:t>𝑝𝑜𝑢𝑟</m:t>
                          </m:r>
                          <m:r>
                            <a:rPr lang="fr-FR" i="1">
                              <a:latin typeface="Cambria Math" panose="02040503050406030204" pitchFamily="18" charset="0"/>
                            </a:rPr>
                            <m:t> </m:t>
                          </m:r>
                          <m:r>
                            <a:rPr lang="fr-FR" i="1">
                              <a:latin typeface="Cambria Math" panose="02040503050406030204" pitchFamily="18" charset="0"/>
                            </a:rPr>
                            <m:t>𝑐𝑒𝑠</m:t>
                          </m:r>
                          <m:r>
                            <a:rPr lang="fr-FR" i="1">
                              <a:latin typeface="Cambria Math" panose="02040503050406030204" pitchFamily="18" charset="0"/>
                            </a:rPr>
                            <m:t> </m:t>
                          </m:r>
                          <m:r>
                            <a:rPr lang="fr-FR" i="1">
                              <a:latin typeface="Cambria Math" panose="02040503050406030204" pitchFamily="18" charset="0"/>
                            </a:rPr>
                            <m:t>𝑠𝑎𝑢𝑡𝑠</m:t>
                          </m:r>
                          <m:r>
                            <a:rPr lang="fr-FR" i="1">
                              <a:latin typeface="Cambria Math" panose="02040503050406030204" pitchFamily="18" charset="0"/>
                            </a:rPr>
                            <m:t> </m:t>
                          </m:r>
                          <m:r>
                            <a:rPr lang="fr-FR" i="1">
                              <a:latin typeface="Cambria Math" panose="02040503050406030204" pitchFamily="18" charset="0"/>
                            </a:rPr>
                            <m:t>𝑟</m:t>
                          </m:r>
                          <m:r>
                            <a:rPr lang="fr-FR" i="1">
                              <a:latin typeface="Cambria Math" panose="02040503050406030204" pitchFamily="18" charset="0"/>
                            </a:rPr>
                            <m:t>é</m:t>
                          </m:r>
                          <m:r>
                            <a:rPr lang="fr-FR" i="1">
                              <a:latin typeface="Cambria Math" panose="02040503050406030204" pitchFamily="18" charset="0"/>
                            </a:rPr>
                            <m:t>𝑢𝑠𝑠𝑖𝑠</m:t>
                          </m:r>
                        </m:den>
                      </m:f>
                    </m:oMath>
                  </m:oMathPara>
                </a14:m>
                <a:endParaRPr lang="fr-FR" dirty="0"/>
              </a:p>
            </p:txBody>
          </p:sp>
        </mc:Choice>
        <mc:Fallback xmlns="">
          <p:sp>
            <p:nvSpPr>
              <p:cNvPr id="5" name="Rectangle 4"/>
              <p:cNvSpPr>
                <a:spLocks noRot="1" noChangeAspect="1" noMove="1" noResize="1" noEditPoints="1" noAdjustHandles="1" noChangeArrowheads="1" noChangeShapeType="1" noTextEdit="1"/>
              </p:cNvSpPr>
              <p:nvPr/>
            </p:nvSpPr>
            <p:spPr>
              <a:xfrm>
                <a:off x="2115828" y="1862757"/>
                <a:ext cx="4103046" cy="538674"/>
              </a:xfrm>
              <a:prstGeom prst="rect">
                <a:avLst/>
              </a:prstGeom>
              <a:blipFill>
                <a:blip r:embed="rId4"/>
                <a:stretch>
                  <a:fillRect b="-4545"/>
                </a:stretch>
              </a:blipFill>
            </p:spPr>
            <p:txBody>
              <a:bodyPr/>
              <a:lstStyle/>
              <a:p>
                <a:r>
                  <a:rPr lang="fr-FR">
                    <a:noFill/>
                  </a:rPr>
                  <a:t> </a:t>
                </a:r>
              </a:p>
            </p:txBody>
          </p:sp>
        </mc:Fallback>
      </mc:AlternateContent>
      <p:sp>
        <p:nvSpPr>
          <p:cNvPr id="6" name="Google Shape;369;p35"/>
          <p:cNvSpPr txBox="1"/>
          <p:nvPr/>
        </p:nvSpPr>
        <p:spPr>
          <a:xfrm>
            <a:off x="1482586" y="4775557"/>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mc:AlternateContent xmlns:mc="http://schemas.openxmlformats.org/markup-compatibility/2006" xmlns:a14="http://schemas.microsoft.com/office/drawing/2010/main">
        <mc:Choice Requires="a14">
          <p:sp>
            <p:nvSpPr>
              <p:cNvPr id="7" name="Rectangle 6"/>
              <p:cNvSpPr/>
              <p:nvPr/>
            </p:nvSpPr>
            <p:spPr>
              <a:xfrm>
                <a:off x="163285" y="2621080"/>
                <a:ext cx="8268789" cy="1068113"/>
              </a:xfrm>
              <a:prstGeom prst="rect">
                <a:avLst/>
              </a:prstGeom>
            </p:spPr>
            <p:txBody>
              <a:bodyPr wrap="square">
                <a:spAutoFit/>
              </a:bodyPr>
              <a:lstStyle/>
              <a:p>
                <a:pPr algn="just"/>
                <a:r>
                  <a:rPr lang="fr-FR" dirty="0">
                    <a:latin typeface="Times New Roman" panose="02020603050405020304" pitchFamily="18" charset="0"/>
                    <a:cs typeface="Times New Roman" panose="02020603050405020304" pitchFamily="18" charset="0"/>
                  </a:rPr>
                  <a:t>S</a:t>
                </a:r>
                <a:r>
                  <a:rPr lang="fr-FR" dirty="0" smtClean="0">
                    <a:latin typeface="Times New Roman" panose="02020603050405020304" pitchFamily="18" charset="0"/>
                    <a:cs typeface="Times New Roman" panose="02020603050405020304" pitchFamily="18" charset="0"/>
                  </a:rPr>
                  <a:t>oit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a:latin typeface="Cambria Math" panose="02040503050406030204" pitchFamily="18" charset="0"/>
                            <a:cs typeface="Times New Roman" panose="02020603050405020304" pitchFamily="18" charset="0"/>
                          </a:rPr>
                          <m:t>𝑛</m:t>
                        </m:r>
                      </m:e>
                      <m:sub>
                        <m:r>
                          <a:rPr lang="fr-FR">
                            <a:latin typeface="Cambria Math" panose="02040503050406030204" pitchFamily="18" charset="0"/>
                            <a:cs typeface="Times New Roman" panose="02020603050405020304" pitchFamily="18" charset="0"/>
                          </a:rPr>
                          <m:t>𝑟</m:t>
                        </m:r>
                      </m:sub>
                    </m:sSub>
                  </m:oMath>
                </a14:m>
                <a:r>
                  <a:rPr lang="fr-FR" dirty="0">
                    <a:latin typeface="Times New Roman" panose="02020603050405020304" pitchFamily="18" charset="0"/>
                    <a:cs typeface="Times New Roman" panose="02020603050405020304" pitchFamily="18" charset="0"/>
                  </a:rPr>
                  <a:t> le nombre de sauts d'anneaux (sauts pendant </a:t>
                </a:r>
                <a:r>
                  <a:rPr lang="fr-FR" dirty="0" smtClean="0">
                    <a:latin typeface="Times New Roman" panose="02020603050405020304" pitchFamily="18" charset="0"/>
                    <a:cs typeface="Times New Roman" panose="02020603050405020304" pitchFamily="18" charset="0"/>
                  </a:rPr>
                  <a:t>le rotation </a:t>
                </a:r>
                <a:r>
                  <a:rPr lang="fr-FR" dirty="0">
                    <a:latin typeface="Times New Roman" panose="02020603050405020304" pitchFamily="18" charset="0"/>
                    <a:cs typeface="Times New Roman" panose="02020603050405020304" pitchFamily="18" charset="0"/>
                  </a:rPr>
                  <a:t>de </a:t>
                </a:r>
                <a:r>
                  <a:rPr lang="fr-FR" dirty="0" smtClean="0">
                    <a:latin typeface="Times New Roman" panose="02020603050405020304" pitchFamily="18" charset="0"/>
                    <a:cs typeface="Times New Roman" panose="02020603050405020304" pitchFamily="18" charset="0"/>
                  </a:rPr>
                  <a:t>l’anneau) </a:t>
                </a:r>
                <a:r>
                  <a:rPr lang="fr-FR" dirty="0">
                    <a:latin typeface="Times New Roman" panose="02020603050405020304" pitchFamily="18" charset="0"/>
                    <a:cs typeface="Times New Roman" panose="02020603050405020304" pitchFamily="18" charset="0"/>
                  </a:rPr>
                  <a:t>et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a:latin typeface="Cambria Math" panose="02040503050406030204" pitchFamily="18" charset="0"/>
                            <a:cs typeface="Times New Roman" panose="02020603050405020304" pitchFamily="18" charset="0"/>
                          </a:rPr>
                          <m:t>𝑛</m:t>
                        </m:r>
                      </m:e>
                      <m:sub>
                        <m:r>
                          <a:rPr lang="fr-FR">
                            <a:latin typeface="Cambria Math" panose="02040503050406030204" pitchFamily="18" charset="0"/>
                            <a:cs typeface="Times New Roman" panose="02020603050405020304" pitchFamily="18" charset="0"/>
                          </a:rPr>
                          <m:t>𝑣</m:t>
                        </m:r>
                      </m:sub>
                    </m:sSub>
                  </m:oMath>
                </a14:m>
                <a:r>
                  <a:rPr lang="fr-FR" dirty="0">
                    <a:latin typeface="Times New Roman" panose="02020603050405020304" pitchFamily="18" charset="0"/>
                    <a:cs typeface="Times New Roman" panose="02020603050405020304" pitchFamily="18" charset="0"/>
                  </a:rPr>
                  <a:t> le nombre de sauts </a:t>
                </a:r>
                <a:r>
                  <a:rPr lang="fr-FR" dirty="0" smtClean="0">
                    <a:latin typeface="Times New Roman" panose="02020603050405020304" pitchFamily="18" charset="0"/>
                    <a:cs typeface="Times New Roman" panose="02020603050405020304" pitchFamily="18" charset="0"/>
                  </a:rPr>
                  <a:t>lacunaires (sauts </a:t>
                </a:r>
                <a:r>
                  <a:rPr lang="fr-FR" dirty="0">
                    <a:latin typeface="Times New Roman" panose="02020603050405020304" pitchFamily="18" charset="0"/>
                    <a:cs typeface="Times New Roman" panose="02020603050405020304" pitchFamily="18" charset="0"/>
                  </a:rPr>
                  <a:t>dans le </a:t>
                </a:r>
                <a:r>
                  <a:rPr lang="fr-FR" dirty="0" smtClean="0">
                    <a:latin typeface="Times New Roman" panose="02020603050405020304" pitchFamily="18" charset="0"/>
                    <a:cs typeface="Times New Roman" panose="02020603050405020304" pitchFamily="18" charset="0"/>
                  </a:rPr>
                  <a:t>poste vacant) </a:t>
                </a:r>
                <a:r>
                  <a:rPr lang="fr-FR" dirty="0" err="1" smtClean="0">
                    <a:latin typeface="Times New Roman" panose="02020603050405020304" pitchFamily="18" charset="0"/>
                    <a:cs typeface="Times New Roman" panose="02020603050405020304" pitchFamily="18" charset="0"/>
                  </a:rPr>
                  <a:t>càd</a:t>
                </a:r>
                <a:r>
                  <a:rPr lang="fr-FR" dirty="0" smtClean="0">
                    <a:latin typeface="Times New Roman" panose="02020603050405020304" pitchFamily="18" charset="0"/>
                    <a:cs typeface="Times New Roman" panose="02020603050405020304" pitchFamily="18" charset="0"/>
                  </a:rPr>
                  <a:t> la somme de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a:latin typeface="Cambria Math" panose="02040503050406030204" pitchFamily="18" charset="0"/>
                            <a:cs typeface="Times New Roman" panose="02020603050405020304" pitchFamily="18" charset="0"/>
                          </a:rPr>
                          <m:t>𝑛</m:t>
                        </m:r>
                      </m:e>
                      <m:sub>
                        <m:r>
                          <a:rPr lang="fr-FR">
                            <a:latin typeface="Cambria Math" panose="02040503050406030204" pitchFamily="18" charset="0"/>
                            <a:cs typeface="Times New Roman" panose="02020603050405020304" pitchFamily="18" charset="0"/>
                          </a:rPr>
                          <m:t>𝑟</m:t>
                        </m:r>
                      </m:sub>
                    </m:sSub>
                  </m:oMath>
                </a14:m>
                <a:r>
                  <a:rPr lang="fr-FR" dirty="0" smtClean="0">
                    <a:latin typeface="Times New Roman" panose="02020603050405020304" pitchFamily="18" charset="0"/>
                    <a:cs typeface="Times New Roman" panose="02020603050405020304" pitchFamily="18" charset="0"/>
                  </a:rPr>
                  <a:t> +  </a:t>
                </a:r>
                <a14:m>
                  <m:oMath xmlns:m="http://schemas.openxmlformats.org/officeDocument/2006/math">
                    <m:sSub>
                      <m:sSubPr>
                        <m:ctrlPr>
                          <a:rPr lang="fr-FR" i="1">
                            <a:latin typeface="Cambria Math" panose="02040503050406030204" pitchFamily="18" charset="0"/>
                            <a:cs typeface="Times New Roman" panose="02020603050405020304" pitchFamily="18" charset="0"/>
                          </a:rPr>
                        </m:ctrlPr>
                      </m:sSubPr>
                      <m:e>
                        <m:r>
                          <a:rPr lang="fr-FR">
                            <a:latin typeface="Cambria Math" panose="02040503050406030204" pitchFamily="18" charset="0"/>
                            <a:cs typeface="Times New Roman" panose="02020603050405020304" pitchFamily="18" charset="0"/>
                          </a:rPr>
                          <m:t>𝑛</m:t>
                        </m:r>
                      </m:e>
                      <m:sub>
                        <m:r>
                          <a:rPr lang="fr-FR">
                            <a:latin typeface="Cambria Math" panose="02040503050406030204" pitchFamily="18" charset="0"/>
                            <a:cs typeface="Times New Roman" panose="02020603050405020304" pitchFamily="18" charset="0"/>
                          </a:rPr>
                          <m:t>𝑣</m:t>
                        </m:r>
                      </m:sub>
                    </m:sSub>
                  </m:oMath>
                </a14:m>
                <a:r>
                  <a:rPr lang="fr-FR" dirty="0" smtClean="0">
                    <a:latin typeface="Times New Roman" panose="02020603050405020304" pitchFamily="18" charset="0"/>
                    <a:cs typeface="Times New Roman" panose="02020603050405020304" pitchFamily="18" charset="0"/>
                  </a:rPr>
                  <a:t> saute </a:t>
                </a:r>
                <a:r>
                  <a:rPr lang="fr-FR" dirty="0">
                    <a:latin typeface="Times New Roman" panose="02020603050405020304" pitchFamily="18" charset="0"/>
                    <a:cs typeface="Times New Roman" panose="02020603050405020304" pitchFamily="18" charset="0"/>
                  </a:rPr>
                  <a:t>pour </a:t>
                </a:r>
                <a:r>
                  <a:rPr lang="fr-FR" dirty="0" smtClean="0">
                    <a:latin typeface="Times New Roman" panose="02020603050405020304" pitchFamily="18" charset="0"/>
                    <a:cs typeface="Times New Roman" panose="02020603050405020304" pitchFamily="18" charset="0"/>
                  </a:rPr>
                  <a:t>le mixte </a:t>
                </a:r>
                <a:r>
                  <a:rPr lang="fr-FR" dirty="0">
                    <a:latin typeface="Times New Roman" panose="02020603050405020304" pitchFamily="18" charset="0"/>
                    <a:cs typeface="Times New Roman" panose="02020603050405020304" pitchFamily="18" charset="0"/>
                  </a:rPr>
                  <a:t>(mécanisme d'anneau et </a:t>
                </a:r>
                <a:r>
                  <a:rPr lang="fr-FR" dirty="0" smtClean="0">
                    <a:latin typeface="Times New Roman" panose="02020603050405020304" pitchFamily="18" charset="0"/>
                    <a:cs typeface="Times New Roman" panose="02020603050405020304" pitchFamily="18" charset="0"/>
                  </a:rPr>
                  <a:t>lacunaire).</a:t>
                </a:r>
                <a:endParaRPr lang="fr-FR" dirty="0">
                  <a:latin typeface="Times New Roman" panose="02020603050405020304" pitchFamily="18" charset="0"/>
                  <a:cs typeface="Times New Roman" panose="02020603050405020304" pitchFamily="18" charset="0"/>
                </a:endParaRPr>
              </a:p>
              <a:p>
                <a:pPr algn="just"/>
                <a:r>
                  <a:rPr lang="fr-FR" dirty="0">
                    <a:latin typeface="Times New Roman" panose="02020603050405020304" pitchFamily="18" charset="0"/>
                    <a:cs typeface="Times New Roman" panose="02020603050405020304" pitchFamily="18" charset="0"/>
                  </a:rPr>
                  <a:t>Donc le temps total écoulé </a:t>
                </a:r>
                <a:r>
                  <a:rPr lang="fr-FR" dirty="0" smtClean="0">
                    <a:latin typeface="Times New Roman" panose="02020603050405020304" pitchFamily="18" charset="0"/>
                    <a:cs typeface="Times New Roman" panose="02020603050405020304" pitchFamily="18" charset="0"/>
                  </a:rPr>
                  <a:t>est  </a:t>
                </a:r>
                <a14:m>
                  <m:oMath xmlns:m="http://schemas.openxmlformats.org/officeDocument/2006/math">
                    <m:f>
                      <m:fPr>
                        <m:ctrlPr>
                          <a:rPr lang="fr-FR" sz="1600" i="1" smtClean="0">
                            <a:latin typeface="Cambria Math" panose="02040503050406030204" pitchFamily="18" charset="0"/>
                            <a:cs typeface="Times New Roman" panose="02020603050405020304" pitchFamily="18" charset="0"/>
                          </a:rPr>
                        </m:ctrlPr>
                      </m:fPr>
                      <m:num>
                        <m:sSub>
                          <m:sSubPr>
                            <m:ctrlPr>
                              <a:rPr lang="fr-FR" sz="1600" i="1">
                                <a:latin typeface="Cambria Math" panose="02040503050406030204" pitchFamily="18" charset="0"/>
                                <a:cs typeface="Times New Roman" panose="02020603050405020304" pitchFamily="18" charset="0"/>
                              </a:rPr>
                            </m:ctrlPr>
                          </m:sSubPr>
                          <m:e>
                            <m:r>
                              <a:rPr lang="fr-FR" sz="1600">
                                <a:latin typeface="Cambria Math" panose="02040503050406030204" pitchFamily="18" charset="0"/>
                                <a:cs typeface="Times New Roman" panose="02020603050405020304" pitchFamily="18" charset="0"/>
                              </a:rPr>
                              <m:t>𝑛</m:t>
                            </m:r>
                          </m:e>
                          <m:sub>
                            <m:r>
                              <a:rPr lang="fr-FR" sz="1600">
                                <a:latin typeface="Cambria Math" panose="02040503050406030204" pitchFamily="18" charset="0"/>
                                <a:cs typeface="Times New Roman" panose="02020603050405020304" pitchFamily="18" charset="0"/>
                              </a:rPr>
                              <m:t>𝑟</m:t>
                            </m:r>
                          </m:sub>
                        </m:sSub>
                      </m:num>
                      <m:den>
                        <m:r>
                          <a:rPr lang="fr-FR" sz="1600" i="1">
                            <a:latin typeface="Cambria Math" panose="02040503050406030204" pitchFamily="18" charset="0"/>
                            <a:ea typeface="Cambria Math" panose="02040503050406030204" pitchFamily="18" charset="0"/>
                            <a:cs typeface="Times New Roman" panose="02020603050405020304" pitchFamily="18" charset="0"/>
                          </a:rPr>
                          <m:t>𝜏</m:t>
                        </m:r>
                        <m:r>
                          <a:rPr lang="fr-FR" sz="1600" i="1" baseline="-25000">
                            <a:latin typeface="Cambria Math" panose="02040503050406030204" pitchFamily="18" charset="0"/>
                            <a:ea typeface="Cambria Math" panose="02040503050406030204" pitchFamily="18" charset="0"/>
                            <a:cs typeface="Times New Roman" panose="02020603050405020304" pitchFamily="18" charset="0"/>
                          </a:rPr>
                          <m:t>𝑅</m:t>
                        </m:r>
                      </m:den>
                    </m:f>
                  </m:oMath>
                </a14:m>
                <a:r>
                  <a:rPr lang="fr-FR" dirty="0">
                    <a:latin typeface="Times New Roman" panose="02020603050405020304" pitchFamily="18" charset="0"/>
                    <a:cs typeface="Times New Roman" panose="02020603050405020304" pitchFamily="18" charset="0"/>
                  </a:rPr>
                  <a:t> </a:t>
                </a:r>
                <a:r>
                  <a:rPr lang="fr-FR" dirty="0" smtClean="0">
                    <a:latin typeface="Times New Roman" panose="02020603050405020304" pitchFamily="18" charset="0"/>
                    <a:cs typeface="Times New Roman" panose="02020603050405020304" pitchFamily="18" charset="0"/>
                  </a:rPr>
                  <a:t> secondes </a:t>
                </a:r>
                <a:r>
                  <a:rPr lang="fr-FR" dirty="0">
                    <a:latin typeface="Times New Roman" panose="02020603050405020304" pitchFamily="18" charset="0"/>
                    <a:cs typeface="Times New Roman" panose="02020603050405020304" pitchFamily="18" charset="0"/>
                  </a:rPr>
                  <a:t>pour la rotation de l'anneau </a:t>
                </a:r>
                <a:r>
                  <a:rPr lang="fr-FR" dirty="0" smtClean="0">
                    <a:latin typeface="Times New Roman" panose="02020603050405020304" pitchFamily="18" charset="0"/>
                    <a:cs typeface="Times New Roman" panose="02020603050405020304" pitchFamily="18" charset="0"/>
                  </a:rPr>
                  <a:t>et  </a:t>
                </a:r>
                <a14:m>
                  <m:oMath xmlns:m="http://schemas.openxmlformats.org/officeDocument/2006/math">
                    <m:f>
                      <m:fPr>
                        <m:ctrlPr>
                          <a:rPr lang="fr-FR" sz="1600" i="1">
                            <a:latin typeface="Cambria Math" panose="02040503050406030204" pitchFamily="18" charset="0"/>
                            <a:cs typeface="Times New Roman" panose="02020603050405020304" pitchFamily="18" charset="0"/>
                          </a:rPr>
                        </m:ctrlPr>
                      </m:fPr>
                      <m:num>
                        <m:sSub>
                          <m:sSubPr>
                            <m:ctrlPr>
                              <a:rPr lang="fr-FR" sz="1600" i="1">
                                <a:latin typeface="Cambria Math" panose="02040503050406030204" pitchFamily="18" charset="0"/>
                                <a:cs typeface="Times New Roman" panose="02020603050405020304" pitchFamily="18" charset="0"/>
                              </a:rPr>
                            </m:ctrlPr>
                          </m:sSubPr>
                          <m:e>
                            <m:r>
                              <a:rPr lang="fr-FR" sz="1600">
                                <a:latin typeface="Cambria Math" panose="02040503050406030204" pitchFamily="18" charset="0"/>
                                <a:cs typeface="Times New Roman" panose="02020603050405020304" pitchFamily="18" charset="0"/>
                              </a:rPr>
                              <m:t>𝑛</m:t>
                            </m:r>
                          </m:e>
                          <m:sub>
                            <m:r>
                              <a:rPr lang="fr-FR" sz="1600" b="0" i="1" smtClean="0">
                                <a:latin typeface="Cambria Math" panose="02040503050406030204" pitchFamily="18" charset="0"/>
                                <a:cs typeface="Times New Roman" panose="02020603050405020304" pitchFamily="18" charset="0"/>
                              </a:rPr>
                              <m:t>𝑣</m:t>
                            </m:r>
                          </m:sub>
                        </m:sSub>
                      </m:num>
                      <m:den>
                        <m:r>
                          <a:rPr lang="fr-FR" sz="1600" i="1">
                            <a:latin typeface="Cambria Math" panose="02040503050406030204" pitchFamily="18" charset="0"/>
                            <a:ea typeface="Cambria Math" panose="02040503050406030204" pitchFamily="18" charset="0"/>
                            <a:cs typeface="Times New Roman" panose="02020603050405020304" pitchFamily="18" charset="0"/>
                          </a:rPr>
                          <m:t>𝜏</m:t>
                        </m:r>
                        <m:r>
                          <a:rPr lang="fr-FR" sz="1600" b="0" i="1" baseline="-25000" smtClean="0">
                            <a:latin typeface="Cambria Math" panose="02040503050406030204" pitchFamily="18" charset="0"/>
                            <a:ea typeface="Cambria Math" panose="02040503050406030204" pitchFamily="18" charset="0"/>
                            <a:cs typeface="Times New Roman" panose="02020603050405020304" pitchFamily="18" charset="0"/>
                          </a:rPr>
                          <m:t>𝑣</m:t>
                        </m:r>
                      </m:den>
                    </m:f>
                  </m:oMath>
                </a14:m>
                <a:r>
                  <a:rPr lang="fr-FR" dirty="0" smtClean="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secondes pour le saut dans la </a:t>
                </a:r>
                <a:r>
                  <a:rPr lang="fr-FR" dirty="0" smtClean="0">
                    <a:latin typeface="Times New Roman" panose="02020603050405020304" pitchFamily="18" charset="0"/>
                    <a:cs typeface="Times New Roman" panose="02020603050405020304" pitchFamily="18" charset="0"/>
                  </a:rPr>
                  <a:t>lacune.</a:t>
                </a:r>
                <a:r>
                  <a:rPr lang="fr-FR" dirty="0">
                    <a:latin typeface="Times New Roman" panose="02020603050405020304" pitchFamily="18" charset="0"/>
                    <a:cs typeface="Times New Roman" panose="02020603050405020304" pitchFamily="18" charset="0"/>
                  </a:rPr>
                  <a:t> </a:t>
                </a:r>
                <a:endParaRPr lang="fr-FR" i="1" dirty="0">
                  <a:latin typeface="Times New Roman" panose="02020603050405020304" pitchFamily="18"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163285" y="2621080"/>
                <a:ext cx="8268789" cy="1068113"/>
              </a:xfrm>
              <a:prstGeom prst="rect">
                <a:avLst/>
              </a:prstGeom>
              <a:blipFill>
                <a:blip r:embed="rId5"/>
                <a:stretch>
                  <a:fillRect l="-221" t="-1143" r="-221" b="-514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404365" y="3771259"/>
                <a:ext cx="1253035" cy="5657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fr-FR">
                              <a:latin typeface="Cambria Math" panose="02040503050406030204" pitchFamily="18" charset="0"/>
                              <a:ea typeface="Cambria Math" panose="02040503050406030204" pitchFamily="18" charset="0"/>
                              <a:cs typeface="Times New Roman" panose="02020603050405020304" pitchFamily="18" charset="0"/>
                            </a:rPr>
                            <m:t>τ</m:t>
                          </m:r>
                        </m:e>
                        <m:sub>
                          <m:r>
                            <a:rPr lang="fr-FR" b="0" i="1" smtClean="0">
                              <a:latin typeface="Cambria Math" panose="02040503050406030204" pitchFamily="18" charset="0"/>
                            </a:rPr>
                            <m:t>𝑚𝑖𝑥</m:t>
                          </m:r>
                        </m:sub>
                      </m:sSub>
                      <m:r>
                        <a:rPr lang="fr-FR" b="0" i="1" smtClean="0">
                          <a:latin typeface="Cambria Math" panose="02040503050406030204" pitchFamily="18" charset="0"/>
                        </a:rPr>
                        <m:t>= </m:t>
                      </m:r>
                      <m:f>
                        <m:fPr>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𝑟</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𝑣</m:t>
                              </m:r>
                            </m:sub>
                          </m:sSub>
                        </m:num>
                        <m:den>
                          <m:f>
                            <m:fPr>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𝑣</m:t>
                                  </m:r>
                                </m:sub>
                              </m:sSub>
                            </m:num>
                            <m:den>
                              <m:r>
                                <m:rPr>
                                  <m:sty m:val="p"/>
                                </m:rPr>
                                <a:rPr lang="fr-FR">
                                  <a:latin typeface="Cambria Math" panose="02040503050406030204" pitchFamily="18" charset="0"/>
                                  <a:ea typeface="Cambria Math" panose="02040503050406030204" pitchFamily="18" charset="0"/>
                                  <a:cs typeface="Times New Roman" panose="02020603050405020304" pitchFamily="18" charset="0"/>
                                </a:rPr>
                                <m:t>τ</m:t>
                              </m:r>
                              <m:r>
                                <m:rPr>
                                  <m:sty m:val="p"/>
                                </m:rPr>
                                <a:rPr lang="fr-FR" baseline="-25000">
                                  <a:latin typeface="Cambria Math" panose="02040503050406030204" pitchFamily="18" charset="0"/>
                                  <a:ea typeface="Cambria Math" panose="02040503050406030204" pitchFamily="18" charset="0"/>
                                  <a:cs typeface="Times New Roman" panose="02020603050405020304" pitchFamily="18" charset="0"/>
                                </a:rPr>
                                <m:t>v</m:t>
                              </m:r>
                            </m:den>
                          </m:f>
                          <m:r>
                            <a:rPr lang="fr-FR" b="0" i="1" smtClean="0">
                              <a:latin typeface="Cambria Math" panose="02040503050406030204" pitchFamily="18" charset="0"/>
                            </a:rPr>
                            <m:t>+</m:t>
                          </m:r>
                          <m:f>
                            <m:fPr>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b="0" i="1" smtClean="0">
                                      <a:latin typeface="Cambria Math" panose="02040503050406030204" pitchFamily="18" charset="0"/>
                                    </a:rPr>
                                    <m:t>𝑟</m:t>
                                  </m:r>
                                </m:sub>
                              </m:sSub>
                            </m:num>
                            <m:den>
                              <m:sSub>
                                <m:sSubPr>
                                  <m:ctrlPr>
                                    <a:rPr lang="fr-FR" i="1" smtClean="0">
                                      <a:latin typeface="Cambria Math" panose="02040503050406030204" pitchFamily="18" charset="0"/>
                                    </a:rPr>
                                  </m:ctrlPr>
                                </m:sSubPr>
                                <m:e>
                                  <m:r>
                                    <m:rPr>
                                      <m:sty m:val="p"/>
                                    </m:rPr>
                                    <a:rPr lang="fr-FR">
                                      <a:latin typeface="Cambria Math" panose="02040503050406030204" pitchFamily="18" charset="0"/>
                                      <a:ea typeface="Cambria Math" panose="02040503050406030204" pitchFamily="18" charset="0"/>
                                      <a:cs typeface="Times New Roman" panose="02020603050405020304" pitchFamily="18" charset="0"/>
                                    </a:rPr>
                                    <m:t>τ</m:t>
                                  </m:r>
                                </m:e>
                                <m:sub>
                                  <m:r>
                                    <a:rPr lang="fr-FR" b="0" i="1" smtClean="0">
                                      <a:latin typeface="Cambria Math" panose="02040503050406030204" pitchFamily="18" charset="0"/>
                                    </a:rPr>
                                    <m:t>𝑅</m:t>
                                  </m:r>
                                </m:sub>
                              </m:sSub>
                            </m:den>
                          </m:f>
                        </m:den>
                      </m:f>
                    </m:oMath>
                  </m:oMathPara>
                </a14:m>
                <a:endParaRPr lang="fr-FR" dirty="0"/>
              </a:p>
            </p:txBody>
          </p:sp>
        </mc:Choice>
        <mc:Fallback xmlns="">
          <p:sp>
            <p:nvSpPr>
              <p:cNvPr id="8" name="TextBox 7"/>
              <p:cNvSpPr txBox="1">
                <a:spLocks noRot="1" noChangeAspect="1" noMove="1" noResize="1" noEditPoints="1" noAdjustHandles="1" noChangeArrowheads="1" noChangeShapeType="1" noTextEdit="1"/>
              </p:cNvSpPr>
              <p:nvPr/>
            </p:nvSpPr>
            <p:spPr>
              <a:xfrm>
                <a:off x="2404365" y="3771259"/>
                <a:ext cx="1253035" cy="565796"/>
              </a:xfrm>
              <a:prstGeom prst="rect">
                <a:avLst/>
              </a:prstGeom>
              <a:blipFill>
                <a:blip r:embed="rId6"/>
                <a:stretch>
                  <a:fillRect l="-971" b="-869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167351" y="3790843"/>
                <a:ext cx="4470615" cy="441531"/>
              </a:xfrm>
              <a:prstGeom prst="rect">
                <a:avLst/>
              </a:prstGeom>
            </p:spPr>
            <p:txBody>
              <a:bodyPr wrap="square">
                <a:spAutoFit/>
              </a:bodyPr>
              <a:lstStyle/>
              <a:p>
                <a14:m>
                  <m:oMath xmlns:m="http://schemas.openxmlformats.org/officeDocument/2006/math">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𝑚𝑖𝑥</m:t>
                            </m:r>
                          </m:sub>
                        </m:s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fr-FR"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fr-FR" sz="1600" b="0" i="1" smtClean="0">
                                <a:latin typeface="Cambria Math" panose="02040503050406030204" pitchFamily="18" charset="0"/>
                                <a:ea typeface="Cambria Math" panose="02040503050406030204" pitchFamily="18" charset="0"/>
                                <a:cs typeface="Times New Roman" panose="02020603050405020304" pitchFamily="18" charset="0"/>
                              </a:rPr>
                              <m:t>6</m:t>
                            </m:r>
                          </m:den>
                        </m:f>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1600" i="1">
                            <a:latin typeface="Cambria Math" panose="02040503050406030204" pitchFamily="18" charset="0"/>
                            <a:ea typeface="Cambria Math" panose="02040503050406030204" pitchFamily="18" charset="0"/>
                            <a:cs typeface="Times New Roman" panose="02020603050405020304" pitchFamily="18" charset="0"/>
                          </a:rPr>
                          <m:t>𝜏</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𝑚𝑖𝑥</m:t>
                        </m:r>
                      </m:sub>
                    </m:sSub>
                  </m:oMath>
                </a14:m>
                <a:r>
                  <a:rPr lang="fr-FR" sz="1600" dirty="0">
                    <a:latin typeface="Times New Roman" panose="02020603050405020304" pitchFamily="18" charset="0"/>
                    <a:cs typeface="Times New Roman" panose="02020603050405020304" pitchFamily="18" charset="0"/>
                  </a:rPr>
                  <a:t> </a:t>
                </a:r>
                <a:endParaRPr lang="fr-FR" sz="1600" dirty="0"/>
              </a:p>
            </p:txBody>
          </p:sp>
        </mc:Choice>
        <mc:Fallback xmlns="">
          <p:sp>
            <p:nvSpPr>
              <p:cNvPr id="9" name="Rectangle 8"/>
              <p:cNvSpPr>
                <a:spLocks noRot="1" noChangeAspect="1" noMove="1" noResize="1" noEditPoints="1" noAdjustHandles="1" noChangeArrowheads="1" noChangeShapeType="1" noTextEdit="1"/>
              </p:cNvSpPr>
              <p:nvPr/>
            </p:nvSpPr>
            <p:spPr>
              <a:xfrm>
                <a:off x="4167351" y="3790843"/>
                <a:ext cx="4470615" cy="441531"/>
              </a:xfrm>
              <a:prstGeom prst="rect">
                <a:avLst/>
              </a:prstGeom>
              <a:blipFill>
                <a:blip r:embed="rId7"/>
                <a:stretch>
                  <a:fillRect/>
                </a:stretch>
              </a:blipFill>
            </p:spPr>
            <p:txBody>
              <a:bodyPr/>
              <a:lstStyle/>
              <a:p>
                <a:r>
                  <a:rPr lang="fr-FR">
                    <a:noFill/>
                  </a:rPr>
                  <a:t> </a:t>
                </a:r>
              </a:p>
            </p:txBody>
          </p:sp>
        </mc:Fallback>
      </mc:AlternateContent>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8" name="Google Shape;368;p35"/>
          <p:cNvSpPr txBox="1"/>
          <p:nvPr/>
        </p:nvSpPr>
        <p:spPr>
          <a:xfrm>
            <a:off x="1724249" y="0"/>
            <a:ext cx="5695500" cy="535800"/>
          </a:xfrm>
          <a:prstGeom prst="rect">
            <a:avLst/>
          </a:prstGeom>
          <a:noFill/>
          <a:ln>
            <a:noFill/>
          </a:ln>
        </p:spPr>
        <p:txBody>
          <a:bodyPr spcFirstLastPara="1" wrap="square" lIns="91425" tIns="91425" rIns="91425" bIns="91425" anchor="ctr" anchorCtr="0">
            <a:noAutofit/>
          </a:bodyPr>
          <a:lstStyle/>
          <a:p>
            <a:pPr algn="ctr"/>
            <a:r>
              <a:rPr lang="fr-FR" sz="2400" b="1" dirty="0" smtClean="0">
                <a:solidFill>
                  <a:schemeClr val="dk1"/>
                </a:solidFill>
                <a:latin typeface="Old Standard TT" panose="020B0604020202020204" charset="0"/>
                <a:ea typeface="Old Standard TT"/>
                <a:cs typeface="Old Standard TT"/>
              </a:rPr>
              <a:t>Résultat </a:t>
            </a:r>
            <a:endParaRPr lang="fr-FR" sz="2400" b="1" dirty="0">
              <a:solidFill>
                <a:schemeClr val="dk1"/>
              </a:solidFill>
              <a:latin typeface="Old Standard TT" panose="020B0604020202020204" charset="0"/>
              <a:ea typeface="Old Standard TT"/>
              <a:cs typeface="Old Standard TT"/>
            </a:endParaRPr>
          </a:p>
        </p:txBody>
      </p:sp>
      <mc:AlternateContent xmlns:mc="http://schemas.openxmlformats.org/markup-compatibility/2006" xmlns:a14="http://schemas.microsoft.com/office/drawing/2010/main">
        <mc:Choice Requires="a14">
          <p:sp>
            <p:nvSpPr>
              <p:cNvPr id="3" name="Rectangle 2"/>
              <p:cNvSpPr/>
              <p:nvPr/>
            </p:nvSpPr>
            <p:spPr>
              <a:xfrm>
                <a:off x="3641419" y="2950423"/>
                <a:ext cx="1637756" cy="5549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𝑟𝑖𝑛𝑔</m:t>
                              </m:r>
                            </m:sub>
                          </m:s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fr-FR"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fr-FR" sz="1600" b="0" i="1" smtClean="0">
                                  <a:latin typeface="Cambria Math" panose="02040503050406030204" pitchFamily="18" charset="0"/>
                                  <a:ea typeface="Cambria Math" panose="02040503050406030204" pitchFamily="18" charset="0"/>
                                  <a:cs typeface="Times New Roman" panose="02020603050405020304" pitchFamily="18" charset="0"/>
                                </a:rPr>
                                <m:t>6</m:t>
                              </m:r>
                            </m:den>
                          </m:f>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1600" i="1">
                              <a:latin typeface="Cambria Math" panose="02040503050406030204" pitchFamily="18" charset="0"/>
                              <a:ea typeface="Cambria Math" panose="02040503050406030204" pitchFamily="18" charset="0"/>
                              <a:cs typeface="Times New Roman" panose="02020603050405020304" pitchFamily="18" charset="0"/>
                            </a:rPr>
                            <m:t>𝜏</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oMath>
                  </m:oMathPara>
                </a14:m>
                <a:endParaRPr lang="fr-FR" sz="1600" dirty="0"/>
              </a:p>
            </p:txBody>
          </p:sp>
        </mc:Choice>
        <mc:Fallback xmlns="">
          <p:sp>
            <p:nvSpPr>
              <p:cNvPr id="3" name="Rectangle 2"/>
              <p:cNvSpPr>
                <a:spLocks noRot="1" noChangeAspect="1" noMove="1" noResize="1" noEditPoints="1" noAdjustHandles="1" noChangeArrowheads="1" noChangeShapeType="1" noTextEdit="1"/>
              </p:cNvSpPr>
              <p:nvPr/>
            </p:nvSpPr>
            <p:spPr>
              <a:xfrm>
                <a:off x="3641419" y="2950423"/>
                <a:ext cx="1637756" cy="554960"/>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1120288" y="3007138"/>
                <a:ext cx="1517338" cy="441531"/>
              </a:xfrm>
              <a:prstGeom prst="rect">
                <a:avLst/>
              </a:prstGeom>
            </p:spPr>
            <p:txBody>
              <a:bodyPr wrap="none">
                <a:spAutoFit/>
              </a:bodyPr>
              <a:lstStyle/>
              <a:p>
                <a14:m>
                  <m:oMath xmlns:m="http://schemas.openxmlformats.org/officeDocument/2006/math">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𝑣𝑎𝑐</m:t>
                            </m:r>
                          </m:sub>
                        </m:s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fr-FR"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fr-FR" sz="1600" b="0" i="1" smtClean="0">
                                <a:latin typeface="Cambria Math" panose="02040503050406030204" pitchFamily="18" charset="0"/>
                                <a:ea typeface="Cambria Math" panose="02040503050406030204" pitchFamily="18" charset="0"/>
                                <a:cs typeface="Times New Roman" panose="02020603050405020304" pitchFamily="18" charset="0"/>
                              </a:rPr>
                              <m:t>6</m:t>
                            </m:r>
                          </m:den>
                        </m:f>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1600" i="1">
                            <a:latin typeface="Cambria Math" panose="02040503050406030204" pitchFamily="18" charset="0"/>
                            <a:ea typeface="Cambria Math" panose="02040503050406030204" pitchFamily="18" charset="0"/>
                            <a:cs typeface="Times New Roman" panose="02020603050405020304" pitchFamily="18" charset="0"/>
                          </a:rPr>
                          <m:t>𝜏</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𝑣</m:t>
                        </m:r>
                      </m:sub>
                    </m:sSub>
                  </m:oMath>
                </a14:m>
                <a:r>
                  <a:rPr lang="fr-FR" sz="1600" dirty="0">
                    <a:latin typeface="Times New Roman" panose="02020603050405020304" pitchFamily="18" charset="0"/>
                    <a:cs typeface="Times New Roman" panose="02020603050405020304" pitchFamily="18" charset="0"/>
                  </a:rPr>
                  <a:t> </a:t>
                </a:r>
                <a:endParaRPr lang="fr-FR" sz="1600" dirty="0"/>
              </a:p>
            </p:txBody>
          </p:sp>
        </mc:Choice>
        <mc:Fallback xmlns="">
          <p:sp>
            <p:nvSpPr>
              <p:cNvPr id="4" name="Rectangle 3"/>
              <p:cNvSpPr>
                <a:spLocks noRot="1" noChangeAspect="1" noMove="1" noResize="1" noEditPoints="1" noAdjustHandles="1" noChangeArrowheads="1" noChangeShapeType="1" noTextEdit="1"/>
              </p:cNvSpPr>
              <p:nvPr/>
            </p:nvSpPr>
            <p:spPr>
              <a:xfrm>
                <a:off x="1120288" y="3007138"/>
                <a:ext cx="1517338" cy="441531"/>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6156216" y="3007138"/>
                <a:ext cx="4470615" cy="441531"/>
              </a:xfrm>
              <a:prstGeom prst="rect">
                <a:avLst/>
              </a:prstGeom>
            </p:spPr>
            <p:txBody>
              <a:bodyPr wrap="square">
                <a:spAutoFit/>
              </a:bodyPr>
              <a:lstStyle/>
              <a:p>
                <a14:m>
                  <m:oMath xmlns:m="http://schemas.openxmlformats.org/officeDocument/2006/math">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fr-FR"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𝐷</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𝑚𝑖𝑥</m:t>
                            </m:r>
                          </m:sub>
                        </m:s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fr-FR"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fr-FR" sz="1600" b="0" i="1" smtClean="0">
                                <a:latin typeface="Cambria Math" panose="02040503050406030204" pitchFamily="18" charset="0"/>
                                <a:ea typeface="Cambria Math" panose="02040503050406030204" pitchFamily="18" charset="0"/>
                                <a:cs typeface="Times New Roman" panose="02020603050405020304" pitchFamily="18" charset="0"/>
                              </a:rPr>
                              <m:t>6</m:t>
                            </m:r>
                          </m:den>
                        </m:f>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sSup>
                          <m:sSupPr>
                            <m:ctrlPr>
                              <a:rPr lang="fr-FR"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fr-FR"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fr-FR" sz="1600" i="1">
                            <a:latin typeface="Cambria Math" panose="02040503050406030204" pitchFamily="18" charset="0"/>
                            <a:ea typeface="Cambria Math" panose="02040503050406030204" pitchFamily="18" charset="0"/>
                            <a:cs typeface="Times New Roman" panose="02020603050405020304" pitchFamily="18" charset="0"/>
                          </a:rPr>
                          <m:t>𝜏</m:t>
                        </m:r>
                      </m:e>
                      <m:sub>
                        <m:r>
                          <a:rPr lang="fr-FR" sz="1600" b="0" i="1" smtClean="0">
                            <a:latin typeface="Cambria Math" panose="02040503050406030204" pitchFamily="18" charset="0"/>
                            <a:ea typeface="Cambria Math" panose="02040503050406030204" pitchFamily="18" charset="0"/>
                            <a:cs typeface="Times New Roman" panose="02020603050405020304" pitchFamily="18" charset="0"/>
                          </a:rPr>
                          <m:t>𝑚𝑖𝑥</m:t>
                        </m:r>
                      </m:sub>
                    </m:sSub>
                  </m:oMath>
                </a14:m>
                <a:r>
                  <a:rPr lang="fr-FR" sz="1600" dirty="0">
                    <a:latin typeface="Times New Roman" panose="02020603050405020304" pitchFamily="18" charset="0"/>
                    <a:cs typeface="Times New Roman" panose="02020603050405020304" pitchFamily="18" charset="0"/>
                  </a:rPr>
                  <a:t> </a:t>
                </a:r>
                <a:endParaRPr lang="fr-FR" sz="1600" dirty="0"/>
              </a:p>
            </p:txBody>
          </p:sp>
        </mc:Choice>
        <mc:Fallback xmlns="">
          <p:sp>
            <p:nvSpPr>
              <p:cNvPr id="5" name="Rectangle 4"/>
              <p:cNvSpPr>
                <a:spLocks noRot="1" noChangeAspect="1" noMove="1" noResize="1" noEditPoints="1" noAdjustHandles="1" noChangeArrowheads="1" noChangeShapeType="1" noTextEdit="1"/>
              </p:cNvSpPr>
              <p:nvPr/>
            </p:nvSpPr>
            <p:spPr>
              <a:xfrm>
                <a:off x="6156216" y="3007138"/>
                <a:ext cx="4470615" cy="441531"/>
              </a:xfrm>
              <a:prstGeom prst="rect">
                <a:avLst/>
              </a:prstGeom>
              <a:blipFill>
                <a:blip r:embed="rId5"/>
                <a:stretch>
                  <a:fillRect/>
                </a:stretch>
              </a:blipFill>
            </p:spPr>
            <p:txBody>
              <a:bodyPr/>
              <a:lstStyle/>
              <a:p>
                <a:r>
                  <a:rPr lang="fr-FR">
                    <a:noFill/>
                  </a:rPr>
                  <a:t> </a:t>
                </a:r>
              </a:p>
            </p:txBody>
          </p:sp>
        </mc:Fallback>
      </mc:AlternateContent>
      <p:sp>
        <p:nvSpPr>
          <p:cNvPr id="9"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13" name="Rectangle 12"/>
          <p:cNvSpPr/>
          <p:nvPr/>
        </p:nvSpPr>
        <p:spPr>
          <a:xfrm>
            <a:off x="904873" y="1639694"/>
            <a:ext cx="7486651" cy="523220"/>
          </a:xfrm>
          <a:prstGeom prst="rect">
            <a:avLst/>
          </a:prstGeom>
        </p:spPr>
        <p:txBody>
          <a:bodyPr wrap="square">
            <a:spAutoFit/>
          </a:bodyPr>
          <a:lstStyle/>
          <a:p>
            <a:pPr algn="just"/>
            <a:r>
              <a:rPr lang="fr-FR" dirty="0">
                <a:latin typeface="Times New Roman" panose="02020603050405020304" pitchFamily="18" charset="0"/>
                <a:cs typeface="Times New Roman" panose="02020603050405020304" pitchFamily="18" charset="0"/>
              </a:rPr>
              <a:t>Les valeurs théoriques de diffusivité (m2/sec) sont calculées selon leurs expressions mathématiques respectives :</a:t>
            </a:r>
          </a:p>
        </p:txBody>
      </p:sp>
      <p:sp>
        <p:nvSpPr>
          <p:cNvPr id="14" name="Rectangle 13"/>
          <p:cNvSpPr/>
          <p:nvPr/>
        </p:nvSpPr>
        <p:spPr>
          <a:xfrm>
            <a:off x="900111" y="942005"/>
            <a:ext cx="7491413" cy="415498"/>
          </a:xfrm>
          <a:prstGeom prst="rect">
            <a:avLst/>
          </a:prstGeom>
        </p:spPr>
        <p:txBody>
          <a:bodyPr wrap="square">
            <a:spAutoFit/>
          </a:bodyPr>
          <a:lstStyle/>
          <a:p>
            <a:pPr algn="just">
              <a:lnSpc>
                <a:spcPct val="150000"/>
              </a:lnSpc>
            </a:pPr>
            <a:r>
              <a:rPr lang="fr-FR" dirty="0" smtClean="0">
                <a:latin typeface="Times New Roman" panose="02020603050405020304" pitchFamily="18" charset="0"/>
                <a:ea typeface="Tahoma" panose="020B0604030504040204" pitchFamily="34" charset="0"/>
                <a:cs typeface="Times New Roman" panose="02020603050405020304" pitchFamily="18" charset="0"/>
              </a:rPr>
              <a:t>Pour discuter les différences entres les 3 mécanismes, on va calculer leur coefficients de diffusion D. </a:t>
            </a:r>
            <a:endParaRPr lang="fr-FR"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2409049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14" name="Google Shape;369;p35"/>
          <p:cNvSpPr txBox="1"/>
          <p:nvPr/>
        </p:nvSpPr>
        <p:spPr>
          <a:xfrm>
            <a:off x="1694791" y="476369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17" name="Google Shape;368;p35"/>
          <p:cNvSpPr txBox="1"/>
          <p:nvPr/>
        </p:nvSpPr>
        <p:spPr>
          <a:xfrm>
            <a:off x="1724249" y="0"/>
            <a:ext cx="5695500" cy="535800"/>
          </a:xfrm>
          <a:prstGeom prst="rect">
            <a:avLst/>
          </a:prstGeom>
          <a:noFill/>
          <a:ln>
            <a:noFill/>
          </a:ln>
        </p:spPr>
        <p:txBody>
          <a:bodyPr spcFirstLastPara="1" wrap="square" lIns="91425" tIns="91425" rIns="91425" bIns="91425" anchor="ctr" anchorCtr="0">
            <a:noAutofit/>
          </a:bodyPr>
          <a:lstStyle/>
          <a:p>
            <a:pPr algn="ctr"/>
            <a:r>
              <a:rPr lang="fr-FR" sz="2400" b="1" dirty="0" smtClean="0">
                <a:solidFill>
                  <a:schemeClr val="dk1"/>
                </a:solidFill>
                <a:latin typeface="Old Standard TT" panose="020B0604020202020204" charset="0"/>
                <a:ea typeface="Old Standard TT"/>
                <a:cs typeface="Old Standard TT"/>
              </a:rPr>
              <a:t>Résultat</a:t>
            </a:r>
            <a:endParaRPr lang="fr-FR" sz="2400" b="1" dirty="0">
              <a:solidFill>
                <a:schemeClr val="dk1"/>
              </a:solidFill>
              <a:latin typeface="Old Standard TT" panose="020B0604020202020204" charset="0"/>
              <a:ea typeface="Old Standard TT"/>
              <a:cs typeface="Old Standard TT"/>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3395" y="672034"/>
            <a:ext cx="3175516" cy="1578174"/>
          </a:xfrm>
          <a:prstGeom prst="rect">
            <a:avLst/>
          </a:prstGeom>
        </p:spPr>
      </p:pic>
      <p:sp>
        <p:nvSpPr>
          <p:cNvPr id="19" name="Rectangle 18"/>
          <p:cNvSpPr/>
          <p:nvPr/>
        </p:nvSpPr>
        <p:spPr>
          <a:xfrm>
            <a:off x="759717" y="811660"/>
            <a:ext cx="3051344" cy="1384995"/>
          </a:xfrm>
          <a:prstGeom prst="rect">
            <a:avLst/>
          </a:prstGeom>
        </p:spPr>
        <p:txBody>
          <a:bodyPr wrap="square">
            <a:spAutoFit/>
          </a:bodyPr>
          <a:lstStyle/>
          <a:p>
            <a:pPr algn="just"/>
            <a:r>
              <a:rPr lang="fr-FR" dirty="0">
                <a:latin typeface="Times New Roman" panose="02020603050405020304" pitchFamily="18" charset="0"/>
                <a:cs typeface="Times New Roman" panose="02020603050405020304" pitchFamily="18" charset="0"/>
              </a:rPr>
              <a:t>Le </a:t>
            </a:r>
            <a:r>
              <a:rPr lang="fr-FR" dirty="0" smtClean="0">
                <a:latin typeface="Times New Roman" panose="02020603050405020304" pitchFamily="18" charset="0"/>
                <a:cs typeface="Times New Roman" panose="02020603050405020304" pitchFamily="18" charset="0"/>
              </a:rPr>
              <a:t>tableau montre </a:t>
            </a:r>
            <a:r>
              <a:rPr lang="fr-FR" dirty="0">
                <a:latin typeface="Times New Roman" panose="02020603050405020304" pitchFamily="18" charset="0"/>
                <a:cs typeface="Times New Roman" panose="02020603050405020304" pitchFamily="18" charset="0"/>
              </a:rPr>
              <a:t>les données expérimentales de diffusivité comme ainsi que des données de diffusivité déterminées théoriquement (</a:t>
            </a:r>
            <a:r>
              <a:rPr lang="fr-FR" dirty="0" smtClean="0">
                <a:latin typeface="Times New Roman" panose="02020603050405020304" pitchFamily="18" charset="0"/>
                <a:cs typeface="Times New Roman" panose="02020603050405020304" pitchFamily="18" charset="0"/>
              </a:rPr>
              <a:t>lacunaire, </a:t>
            </a:r>
            <a:r>
              <a:rPr lang="fr-FR" dirty="0">
                <a:latin typeface="Times New Roman" panose="02020603050405020304" pitchFamily="18" charset="0"/>
                <a:cs typeface="Times New Roman" panose="02020603050405020304" pitchFamily="18" charset="0"/>
              </a:rPr>
              <a:t>anneau et mécanisme mixte) au niveau expérimental </a:t>
            </a:r>
            <a:r>
              <a:rPr lang="fr-FR" dirty="0" smtClean="0">
                <a:latin typeface="Times New Roman" panose="02020603050405020304" pitchFamily="18" charset="0"/>
                <a:cs typeface="Times New Roman" panose="02020603050405020304" pitchFamily="18" charset="0"/>
              </a:rPr>
              <a:t>températures.</a:t>
            </a:r>
            <a:endParaRPr lang="fr-FR" dirty="0">
              <a:latin typeface="Times New Roman" panose="02020603050405020304" pitchFamily="18" charset="0"/>
              <a:cs typeface="Times New Roman" panose="02020603050405020304" pitchFamily="18" charset="0"/>
            </a:endParaRPr>
          </a:p>
        </p:txBody>
      </p:sp>
      <p:sp>
        <p:nvSpPr>
          <p:cNvPr id="20" name="Rounded Rectangle 19"/>
          <p:cNvSpPr/>
          <p:nvPr/>
        </p:nvSpPr>
        <p:spPr>
          <a:xfrm>
            <a:off x="705911" y="777430"/>
            <a:ext cx="3105150" cy="141922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fr-FR"/>
          </a:p>
        </p:txBody>
      </p:sp>
      <p:sp>
        <p:nvSpPr>
          <p:cNvPr id="21" name="Right Arrow 20"/>
          <p:cNvSpPr/>
          <p:nvPr/>
        </p:nvSpPr>
        <p:spPr>
          <a:xfrm>
            <a:off x="4122925" y="1332533"/>
            <a:ext cx="589410" cy="257175"/>
          </a:xfrm>
          <a:prstGeom prst="rightArrow">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6163" y="2386444"/>
            <a:ext cx="2831467" cy="2232227"/>
          </a:xfrm>
          <a:prstGeom prst="rect">
            <a:avLst/>
          </a:prstGeom>
        </p:spPr>
      </p:pic>
      <p:pic>
        <p:nvPicPr>
          <p:cNvPr id="23" name="Picture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83820" y="2386444"/>
            <a:ext cx="2684536" cy="223222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13" name="Rectangle 12"/>
          <p:cNvSpPr/>
          <p:nvPr/>
        </p:nvSpPr>
        <p:spPr>
          <a:xfrm>
            <a:off x="327113" y="1873431"/>
            <a:ext cx="8007533" cy="1077218"/>
          </a:xfrm>
          <a:prstGeom prst="rect">
            <a:avLst/>
          </a:prstGeom>
        </p:spPr>
        <p:txBody>
          <a:bodyPr wrap="square">
            <a:spAutoFit/>
          </a:bodyPr>
          <a:lstStyle/>
          <a:p>
            <a:pPr algn="just"/>
            <a:r>
              <a:rPr lang="fr-FR" sz="1600" dirty="0">
                <a:latin typeface="Times New Roman" panose="02020603050405020304" pitchFamily="18" charset="0"/>
                <a:cs typeface="Times New Roman" panose="02020603050405020304" pitchFamily="18" charset="0"/>
              </a:rPr>
              <a:t>Le mécanisme de diffusion des lacunes n'est pas le seul mécanisme principal entraînant l'autodiffusion dans </a:t>
            </a:r>
            <a:r>
              <a:rPr lang="fr-FR" sz="1600" dirty="0" smtClean="0">
                <a:latin typeface="Times New Roman" panose="02020603050405020304" pitchFamily="18" charset="0"/>
                <a:cs typeface="Times New Roman" panose="02020603050405020304" pitchFamily="18" charset="0"/>
              </a:rPr>
              <a:t>les </a:t>
            </a:r>
            <a:r>
              <a:rPr lang="fr-FR" sz="1600" dirty="0">
                <a:latin typeface="Times New Roman" panose="02020603050405020304" pitchFamily="18" charset="0"/>
                <a:cs typeface="Times New Roman" panose="02020603050405020304" pitchFamily="18" charset="0"/>
              </a:rPr>
              <a:t>FCC pur métaux en particulier à des températures plus basses où le la concentration des postes vacants est très moindre. </a:t>
            </a:r>
            <a:endParaRPr lang="fr-FR" sz="1600" dirty="0" smtClean="0">
              <a:latin typeface="Times New Roman" panose="02020603050405020304" pitchFamily="18" charset="0"/>
              <a:cs typeface="Times New Roman" panose="02020603050405020304" pitchFamily="18" charset="0"/>
            </a:endParaRPr>
          </a:p>
          <a:p>
            <a:pPr algn="just"/>
            <a:endParaRPr lang="fr-FR" sz="1600" dirty="0">
              <a:latin typeface="Times New Roman" panose="02020603050405020304" pitchFamily="18" charset="0"/>
              <a:cs typeface="Times New Roman" panose="02020603050405020304" pitchFamily="18" charset="0"/>
            </a:endParaRPr>
          </a:p>
        </p:txBody>
      </p:sp>
      <p:sp>
        <p:nvSpPr>
          <p:cNvPr id="4" name="Google Shape;368;p35"/>
          <p:cNvSpPr txBox="1"/>
          <p:nvPr/>
        </p:nvSpPr>
        <p:spPr>
          <a:xfrm>
            <a:off x="1724250" y="-7954"/>
            <a:ext cx="5695500" cy="535800"/>
          </a:xfrm>
          <a:prstGeom prst="rect">
            <a:avLst/>
          </a:prstGeom>
          <a:noFill/>
          <a:ln>
            <a:noFill/>
          </a:ln>
        </p:spPr>
        <p:txBody>
          <a:bodyPr spcFirstLastPara="1" wrap="square" lIns="91425" tIns="91425" rIns="91425" bIns="91425" anchor="ctr" anchorCtr="0">
            <a:noAutofit/>
          </a:bodyPr>
          <a:lstStyle/>
          <a:p>
            <a:pPr algn="ctr"/>
            <a:r>
              <a:rPr lang="fr-FR" sz="2400" b="1" dirty="0">
                <a:solidFill>
                  <a:schemeClr val="dk1"/>
                </a:solidFill>
                <a:latin typeface="Old Standard TT" panose="020B0604020202020204" charset="0"/>
                <a:ea typeface="Old Standard TT"/>
                <a:cs typeface="Old Standard TT"/>
              </a:rPr>
              <a:t>Conclusion</a:t>
            </a:r>
            <a:endParaRPr lang="fr-FR" sz="2400" dirty="0"/>
          </a:p>
        </p:txBody>
      </p:sp>
      <p:sp>
        <p:nvSpPr>
          <p:cNvPr id="5"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10" name="Google Shape;369;p35"/>
          <p:cNvSpPr txBox="1"/>
          <p:nvPr/>
        </p:nvSpPr>
        <p:spPr>
          <a:xfrm>
            <a:off x="1724249" y="4618671"/>
            <a:ext cx="6035087" cy="535800"/>
          </a:xfrm>
          <a:prstGeom prst="rect">
            <a:avLst/>
          </a:prstGeom>
          <a:noFill/>
          <a:ln>
            <a:noFill/>
          </a:ln>
        </p:spPr>
        <p:txBody>
          <a:bodyPr spcFirstLastPara="1" wrap="square" lIns="91425" tIns="91425" rIns="91425" bIns="91425" anchor="ctr" anchorCtr="0">
            <a:noAutofit/>
          </a:bodyPr>
          <a:lstStyle/>
          <a:p>
            <a:pPr lvl="0" algn="ctr"/>
            <a:r>
              <a:rPr lang="fr-FR" sz="1050" dirty="0">
                <a:latin typeface="Times New Roman" panose="02020603050405020304" pitchFamily="18" charset="0"/>
                <a:cs typeface="Times New Roman" panose="02020603050405020304" pitchFamily="18" charset="0"/>
              </a:rPr>
              <a:t>Le mécanisme de diffusion de l'anneau et de la vacance </a:t>
            </a:r>
            <a:r>
              <a:rPr lang="fr-FR" sz="1050" dirty="0" smtClean="0">
                <a:latin typeface="Times New Roman" panose="02020603050405020304" pitchFamily="18" charset="0"/>
                <a:cs typeface="Times New Roman" panose="02020603050405020304" pitchFamily="18" charset="0"/>
              </a:rPr>
              <a:t>dans métaux </a:t>
            </a:r>
            <a:r>
              <a:rPr lang="fr-FR" sz="1050" dirty="0">
                <a:latin typeface="Times New Roman" panose="02020603050405020304" pitchFamily="18" charset="0"/>
                <a:cs typeface="Times New Roman" panose="02020603050405020304" pitchFamily="18" charset="0"/>
              </a:rPr>
              <a:t>purs</a:t>
            </a:r>
            <a:endParaRPr sz="1050" i="1" dirty="0">
              <a:solidFill>
                <a:srgbClr val="191919"/>
              </a:solidFill>
              <a:latin typeface="Times New Roman" panose="02020603050405020304" pitchFamily="18" charset="0"/>
              <a:ea typeface="Old Standard TT"/>
              <a:cs typeface="Times New Roman" panose="02020603050405020304" pitchFamily="18" charset="0"/>
              <a:sym typeface="Old Standard TT"/>
            </a:endParaRPr>
          </a:p>
        </p:txBody>
      </p:sp>
      <p:sp>
        <p:nvSpPr>
          <p:cNvPr id="3" name="Google Shape;301;p30"/>
          <p:cNvSpPr txBox="1">
            <a:spLocks/>
          </p:cNvSpPr>
          <p:nvPr/>
        </p:nvSpPr>
        <p:spPr>
          <a:xfrm>
            <a:off x="1465050" y="1031550"/>
            <a:ext cx="6175800" cy="1640400"/>
          </a:xfrm>
          <a:prstGeom prst="rect">
            <a:avLst/>
          </a:prstGeom>
          <a:noFill/>
          <a:ln>
            <a:noFill/>
          </a:ln>
        </p:spPr>
        <p:txBody>
          <a:bodyPr spcFirstLastPara="1" wrap="square" lIns="0"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Old Standard TT"/>
              <a:buNone/>
              <a:defRPr sz="11200" b="1" i="0" u="none" strike="noStrike" cap="none">
                <a:solidFill>
                  <a:schemeClr val="dk1"/>
                </a:solidFill>
                <a:latin typeface="Old Standard TT"/>
                <a:ea typeface="Old Standard TT"/>
                <a:cs typeface="Old Standard TT"/>
                <a:sym typeface="Old Standard TT"/>
              </a:defRPr>
            </a:lvl1pPr>
            <a:lvl2pPr marR="0" lvl="1"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2pPr>
            <a:lvl3pPr marR="0" lvl="2"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3pPr>
            <a:lvl4pPr marR="0" lvl="3"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4pPr>
            <a:lvl5pPr marR="0" lvl="4"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5pPr>
            <a:lvl6pPr marR="0" lvl="5"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6pPr>
            <a:lvl7pPr marR="0" lvl="6"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7pPr>
            <a:lvl8pPr marR="0" lvl="7"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8pPr>
            <a:lvl9pPr marR="0" lvl="8" algn="ctr" rtl="0">
              <a:lnSpc>
                <a:spcPct val="100000"/>
              </a:lnSpc>
              <a:spcBef>
                <a:spcPts val="0"/>
              </a:spcBef>
              <a:spcAft>
                <a:spcPts val="0"/>
              </a:spcAft>
              <a:buClr>
                <a:schemeClr val="dk1"/>
              </a:buClr>
              <a:buSzPts val="9600"/>
              <a:buFont typeface="Old Standard TT"/>
              <a:buNone/>
              <a:defRPr sz="9600" b="1" i="0" u="none" strike="noStrike" cap="none">
                <a:solidFill>
                  <a:schemeClr val="dk1"/>
                </a:solidFill>
                <a:latin typeface="Old Standard TT"/>
                <a:ea typeface="Old Standard TT"/>
                <a:cs typeface="Old Standard TT"/>
                <a:sym typeface="Old Standard TT"/>
              </a:defRPr>
            </a:lvl9pPr>
          </a:lstStyle>
          <a:p>
            <a:r>
              <a:rPr lang="fr-FR" sz="3200" dirty="0" smtClean="0">
                <a:latin typeface="Hotel De Paris" pitchFamily="50" charset="0"/>
                <a:cs typeface="Times New Roman" panose="02020603050405020304" pitchFamily="18" charset="0"/>
              </a:rPr>
              <a:t>Merci pour votre attention !</a:t>
            </a:r>
            <a:endParaRPr lang="fr-FR" sz="3200" dirty="0">
              <a:latin typeface="Hotel De Paris" pitchFamily="50" charset="0"/>
              <a:cs typeface="Times New Roman" panose="02020603050405020304" pitchFamily="18" charset="0"/>
            </a:endParaRPr>
          </a:p>
        </p:txBody>
      </p:sp>
    </p:spTree>
    <p:extLst>
      <p:ext uri="{BB962C8B-B14F-4D97-AF65-F5344CB8AC3E}">
        <p14:creationId xmlns:p14="http://schemas.microsoft.com/office/powerpoint/2010/main" val="329250548"/>
      </p:ext>
    </p:extLst>
  </p:cSld>
  <p:clrMapOvr>
    <a:masterClrMapping/>
  </p:clrMapOvr>
  <p:timing>
    <p:tnLst>
      <p:par>
        <p:cTn id="1" dur="indefinite" restart="never" nodeType="tmRoot"/>
      </p:par>
    </p:tnLst>
  </p:timing>
</p:sld>
</file>

<file path=ppt/theme/theme1.xml><?xml version="1.0" encoding="utf-8"?>
<a:theme xmlns:a="http://schemas.openxmlformats.org/drawingml/2006/main" name="Formal Research Paper Slideshow by Slidesgo">
  <a:themeElements>
    <a:clrScheme name="Simple Light">
      <a:dk1>
        <a:srgbClr val="191919"/>
      </a:dk1>
      <a:lt1>
        <a:srgbClr val="FFFFFF"/>
      </a:lt1>
      <a:dk2>
        <a:srgbClr val="DDD9D5"/>
      </a:dk2>
      <a:lt2>
        <a:srgbClr val="FFFFFF"/>
      </a:lt2>
      <a:accent1>
        <a:srgbClr val="FFFFFF"/>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2271</TotalTime>
  <Words>1782</Words>
  <Application>Microsoft Office PowerPoint</Application>
  <PresentationFormat>On-screen Show (16:9)</PresentationFormat>
  <Paragraphs>129</Paragraphs>
  <Slides>13</Slides>
  <Notes>13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Didact Gothic</vt:lpstr>
      <vt:lpstr>Arial</vt:lpstr>
      <vt:lpstr>Roboto Condensed Light</vt:lpstr>
      <vt:lpstr>Wingdings</vt:lpstr>
      <vt:lpstr>Times New Roman</vt:lpstr>
      <vt:lpstr>Anaheim</vt:lpstr>
      <vt:lpstr>Cambria Math</vt:lpstr>
      <vt:lpstr>Old Standard TT</vt:lpstr>
      <vt:lpstr>Tahoma</vt:lpstr>
      <vt:lpstr>Yu Gothic</vt:lpstr>
      <vt:lpstr>Montserrat ExtraBold</vt:lpstr>
      <vt:lpstr>Hotel De Paris</vt:lpstr>
      <vt:lpstr>Formal Research Paper Slideshow by Slidesgo</vt:lpstr>
      <vt:lpstr>Le mécanisme d'anneau et lacunaire d’anneau dans les Métaux purs</vt:lpstr>
      <vt:lpstr>-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mécanisme de diffusion de l'anneau et de la vacance dans Métaux purs</dc:title>
  <cp:lastModifiedBy>Younes M</cp:lastModifiedBy>
  <cp:revision>108</cp:revision>
  <dcterms:modified xsi:type="dcterms:W3CDTF">2023-02-16T13:07:00Z</dcterms:modified>
</cp:coreProperties>
</file>