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56" r:id="rId2"/>
    <p:sldId id="273" r:id="rId3"/>
    <p:sldId id="258" r:id="rId4"/>
    <p:sldId id="259" r:id="rId5"/>
    <p:sldId id="260" r:id="rId6"/>
    <p:sldId id="262" r:id="rId7"/>
    <p:sldId id="263" r:id="rId8"/>
    <p:sldId id="264" r:id="rId9"/>
    <p:sldId id="265" r:id="rId10"/>
    <p:sldId id="266" r:id="rId11"/>
    <p:sldId id="267" r:id="rId12"/>
    <p:sldId id="274" r:id="rId13"/>
    <p:sldId id="268" r:id="rId14"/>
    <p:sldId id="275" r:id="rId15"/>
    <p:sldId id="277" r:id="rId16"/>
    <p:sldId id="270" r:id="rId17"/>
    <p:sldId id="276" r:id="rId18"/>
    <p:sldId id="271" r:id="rId19"/>
    <p:sldId id="278" r:id="rId20"/>
    <p:sldId id="272" r:id="rId21"/>
  </p:sldIdLst>
  <p:sldSz cx="12192000" cy="6858000"/>
  <p:notesSz cx="6858000" cy="9144000"/>
  <p:defaultTextStyle>
    <a:defPPr lvl="0" rtl="0">
      <a:defRPr lang="fr-FR"/>
    </a:defPPr>
    <a:lvl1pPr marL="0" lvl="0" algn="l" defTabSz="457200" rtl="0" eaLnBrk="1" latinLnBrk="0" hangingPunct="1">
      <a:defRPr sz="1800" kern="1200">
        <a:solidFill>
          <a:schemeClr val="tx1"/>
        </a:solidFill>
        <a:latin typeface="+mn-lt"/>
        <a:ea typeface="+mn-ea"/>
        <a:cs typeface="+mn-cs"/>
      </a:defRPr>
    </a:lvl1pPr>
    <a:lvl2pPr marL="457200" lvl="1" algn="l" defTabSz="457200" rtl="0" eaLnBrk="1" latinLnBrk="0" hangingPunct="1">
      <a:defRPr sz="1800" kern="1200">
        <a:solidFill>
          <a:schemeClr val="tx1"/>
        </a:solidFill>
        <a:latin typeface="+mn-lt"/>
        <a:ea typeface="+mn-ea"/>
        <a:cs typeface="+mn-cs"/>
      </a:defRPr>
    </a:lvl2pPr>
    <a:lvl3pPr marL="914400" lvl="2" algn="l" defTabSz="457200" rtl="0" eaLnBrk="1" latinLnBrk="0" hangingPunct="1">
      <a:defRPr sz="1800" kern="1200">
        <a:solidFill>
          <a:schemeClr val="tx1"/>
        </a:solidFill>
        <a:latin typeface="+mn-lt"/>
        <a:ea typeface="+mn-ea"/>
        <a:cs typeface="+mn-cs"/>
      </a:defRPr>
    </a:lvl3pPr>
    <a:lvl4pPr marL="1371600" lvl="3" algn="l" defTabSz="457200" rtl="0" eaLnBrk="1" latinLnBrk="0" hangingPunct="1">
      <a:defRPr sz="1800" kern="1200">
        <a:solidFill>
          <a:schemeClr val="tx1"/>
        </a:solidFill>
        <a:latin typeface="+mn-lt"/>
        <a:ea typeface="+mn-ea"/>
        <a:cs typeface="+mn-cs"/>
      </a:defRPr>
    </a:lvl4pPr>
    <a:lvl5pPr marL="1828800" lvl="4" algn="l" defTabSz="457200" rtl="0" eaLnBrk="1" latinLnBrk="0" hangingPunct="1">
      <a:defRPr sz="1800" kern="1200">
        <a:solidFill>
          <a:schemeClr val="tx1"/>
        </a:solidFill>
        <a:latin typeface="+mn-lt"/>
        <a:ea typeface="+mn-ea"/>
        <a:cs typeface="+mn-cs"/>
      </a:defRPr>
    </a:lvl5pPr>
    <a:lvl6pPr marL="2286000" lvl="5" algn="l" defTabSz="457200" rtl="0" eaLnBrk="1" latinLnBrk="0" hangingPunct="1">
      <a:defRPr sz="1800" kern="1200">
        <a:solidFill>
          <a:schemeClr val="tx1"/>
        </a:solidFill>
        <a:latin typeface="+mn-lt"/>
        <a:ea typeface="+mn-ea"/>
        <a:cs typeface="+mn-cs"/>
      </a:defRPr>
    </a:lvl6pPr>
    <a:lvl7pPr marL="2743200" lvl="6" algn="l" defTabSz="457200" rtl="0" eaLnBrk="1" latinLnBrk="0" hangingPunct="1">
      <a:defRPr sz="1800" kern="1200">
        <a:solidFill>
          <a:schemeClr val="tx1"/>
        </a:solidFill>
        <a:latin typeface="+mn-lt"/>
        <a:ea typeface="+mn-ea"/>
        <a:cs typeface="+mn-cs"/>
      </a:defRPr>
    </a:lvl7pPr>
    <a:lvl8pPr marL="3200400" lvl="7" algn="l" defTabSz="457200" rtl="0" eaLnBrk="1" latinLnBrk="0" hangingPunct="1">
      <a:defRPr sz="1800" kern="1200">
        <a:solidFill>
          <a:schemeClr val="tx1"/>
        </a:solidFill>
        <a:latin typeface="+mn-lt"/>
        <a:ea typeface="+mn-ea"/>
        <a:cs typeface="+mn-cs"/>
      </a:defRPr>
    </a:lvl8pPr>
    <a:lvl9pPr marL="3657600" lvl="8"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78" d="100"/>
          <a:sy n="78" d="100"/>
        </p:scale>
        <p:origin x="43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noProof="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FB662F-A056-4D8D-8CEC-2270ED665265}" type="datetime1">
              <a:rPr lang="fr-FR" smtClean="0"/>
              <a:pPr/>
              <a:t>22/12/2022</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noProof="0"/>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noProof="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A82D82-B130-4D47-B3C3-FB640EA70541}" type="slidenum">
              <a:rPr lang="fr-FR" noProof="0" smtClean="0"/>
              <a:t>‹#›</a:t>
            </a:fld>
            <a:endParaRPr lang="fr-FR" noProof="0"/>
          </a:p>
        </p:txBody>
      </p:sp>
    </p:spTree>
    <p:extLst>
      <p:ext uri="{BB962C8B-B14F-4D97-AF65-F5344CB8AC3E}">
        <p14:creationId xmlns:p14="http://schemas.microsoft.com/office/powerpoint/2010/main" val="390774620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AEA82D82-B130-4D47-B3C3-FB640EA70541}" type="slidenum">
              <a:rPr lang="fr-FR" smtClean="0"/>
              <a:t>1</a:t>
            </a:fld>
            <a:endParaRPr lang="fr-FR"/>
          </a:p>
        </p:txBody>
      </p:sp>
    </p:spTree>
    <p:extLst>
      <p:ext uri="{BB962C8B-B14F-4D97-AF65-F5344CB8AC3E}">
        <p14:creationId xmlns:p14="http://schemas.microsoft.com/office/powerpoint/2010/main" val="671138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1915128" y="1788454"/>
            <a:ext cx="8361229" cy="2098226"/>
          </a:xfrm>
        </p:spPr>
        <p:txBody>
          <a:bodyPr rtlCol="0" anchor="b">
            <a:noAutofit/>
          </a:bodyPr>
          <a:lstStyle>
            <a:lvl1pPr algn="ctr">
              <a:defRPr sz="7200" cap="all" baseline="0">
                <a:solidFill>
                  <a:schemeClr val="tx2"/>
                </a:solidFill>
              </a:defRPr>
            </a:lvl1pPr>
          </a:lstStyle>
          <a:p>
            <a:pPr rtl="0"/>
            <a:r>
              <a:rPr lang="fr-FR" noProof="0"/>
              <a:t>Modifiez le style du titre</a:t>
            </a:r>
          </a:p>
        </p:txBody>
      </p:sp>
      <p:sp>
        <p:nvSpPr>
          <p:cNvPr id="3" name="Sous-titre 2"/>
          <p:cNvSpPr>
            <a:spLocks noGrp="1"/>
          </p:cNvSpPr>
          <p:nvPr>
            <p:ph type="subTitle" idx="1"/>
          </p:nvPr>
        </p:nvSpPr>
        <p:spPr>
          <a:xfrm>
            <a:off x="2679906" y="3956279"/>
            <a:ext cx="6831673" cy="1086237"/>
          </a:xfrm>
        </p:spPr>
        <p:txBody>
          <a:bodyPr rtlCol="0">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FR" noProof="0"/>
              <a:t>Modifiez le style des sous-titres du masque</a:t>
            </a:r>
          </a:p>
        </p:txBody>
      </p:sp>
      <p:sp>
        <p:nvSpPr>
          <p:cNvPr id="4" name="Espace réservé de la date 3"/>
          <p:cNvSpPr>
            <a:spLocks noGrp="1"/>
          </p:cNvSpPr>
          <p:nvPr>
            <p:ph type="dt" sz="half" idx="10"/>
          </p:nvPr>
        </p:nvSpPr>
        <p:spPr>
          <a:xfrm>
            <a:off x="752858" y="6453386"/>
            <a:ext cx="1607944" cy="404614"/>
          </a:xfrm>
        </p:spPr>
        <p:txBody>
          <a:bodyPr rtlCol="0"/>
          <a:lstStyle>
            <a:lvl1pPr>
              <a:defRPr baseline="0">
                <a:solidFill>
                  <a:schemeClr val="tx2"/>
                </a:solidFill>
              </a:defRPr>
            </a:lvl1pPr>
          </a:lstStyle>
          <a:p>
            <a:pPr rtl="0"/>
            <a:fld id="{E6175F0A-14F2-498E-BD08-787A73D4F3B0}" type="datetime1">
              <a:rPr lang="fr-FR" noProof="0" smtClean="0"/>
              <a:t>22/12/2022</a:t>
            </a:fld>
            <a:endParaRPr lang="fr-FR" noProof="0"/>
          </a:p>
        </p:txBody>
      </p:sp>
      <p:sp>
        <p:nvSpPr>
          <p:cNvPr id="5" name="Espace réservé du pied de page 4"/>
          <p:cNvSpPr>
            <a:spLocks noGrp="1"/>
          </p:cNvSpPr>
          <p:nvPr>
            <p:ph type="ftr" sz="quarter" idx="11"/>
          </p:nvPr>
        </p:nvSpPr>
        <p:spPr>
          <a:xfrm>
            <a:off x="2584054" y="6453386"/>
            <a:ext cx="7023377" cy="404614"/>
          </a:xfrm>
        </p:spPr>
        <p:txBody>
          <a:bodyPr rtlCol="0"/>
          <a:lstStyle>
            <a:lvl1pPr algn="ctr">
              <a:defRPr baseline="0">
                <a:solidFill>
                  <a:schemeClr val="tx2"/>
                </a:solidFill>
              </a:defRPr>
            </a:lvl1pPr>
          </a:lstStyle>
          <a:p>
            <a:pPr rtl="0"/>
            <a:endParaRPr lang="fr-FR" noProof="0"/>
          </a:p>
        </p:txBody>
      </p:sp>
      <p:sp>
        <p:nvSpPr>
          <p:cNvPr id="6" name="Espace réservé du numéro de diapositive 5"/>
          <p:cNvSpPr>
            <a:spLocks noGrp="1"/>
          </p:cNvSpPr>
          <p:nvPr>
            <p:ph type="sldNum" sz="quarter" idx="12"/>
          </p:nvPr>
        </p:nvSpPr>
        <p:spPr>
          <a:xfrm>
            <a:off x="9830683" y="6453386"/>
            <a:ext cx="1596292" cy="404614"/>
          </a:xfrm>
        </p:spPr>
        <p:txBody>
          <a:bodyPr rtlCol="0"/>
          <a:lstStyle>
            <a:lvl1pPr>
              <a:defRPr baseline="0">
                <a:solidFill>
                  <a:schemeClr val="tx2"/>
                </a:solidFill>
              </a:defRPr>
            </a:lvl1pPr>
          </a:lstStyle>
          <a:p>
            <a:pPr rtl="0"/>
            <a:fld id="{69E57DC2-970A-4B3E-BB1C-7A09969E49DF}" type="slidenum">
              <a:rPr lang="fr-FR" noProof="0" smtClean="0"/>
              <a:pPr rtl="0"/>
              <a:t>‹#›</a:t>
            </a:fld>
            <a:endParaRPr lang="fr-FR" noProof="0"/>
          </a:p>
        </p:txBody>
      </p:sp>
      <p:grpSp>
        <p:nvGrpSpPr>
          <p:cNvPr id="7" name="Groupe 6"/>
          <p:cNvGrpSpPr/>
          <p:nvPr/>
        </p:nvGrpSpPr>
        <p:grpSpPr>
          <a:xfrm>
            <a:off x="752858" y="744469"/>
            <a:ext cx="10674117" cy="5349671"/>
            <a:chOff x="752858" y="744469"/>
            <a:chExt cx="10674117" cy="5349671"/>
          </a:xfrm>
        </p:grpSpPr>
        <p:sp>
          <p:nvSpPr>
            <p:cNvPr id="11" name="Forme libre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orme libre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noProof="0"/>
              <a:t>Modifiez le style du titre</a:t>
            </a:r>
          </a:p>
        </p:txBody>
      </p:sp>
      <p:sp>
        <p:nvSpPr>
          <p:cNvPr id="3" name="Espace réservé du contenu 2"/>
          <p:cNvSpPr>
            <a:spLocks noGrp="1"/>
          </p:cNvSpPr>
          <p:nvPr>
            <p:ph idx="1" hasCustomPrompt="1"/>
          </p:nvPr>
        </p:nvSpPr>
        <p:spPr/>
        <p:txBody>
          <a:bodyPr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p:cNvSpPr>
            <a:spLocks noGrp="1"/>
          </p:cNvSpPr>
          <p:nvPr>
            <p:ph type="dt" sz="half" idx="10"/>
          </p:nvPr>
        </p:nvSpPr>
        <p:spPr/>
        <p:txBody>
          <a:bodyPr rtlCol="0"/>
          <a:lstStyle/>
          <a:p>
            <a:pPr rtl="0"/>
            <a:fld id="{F84A5D17-961C-4EFC-9D89-2421D956FBD5}" type="datetime1">
              <a:rPr lang="fr-FR" noProof="0" smtClean="0"/>
              <a:t>22/12/2022</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69E57DC2-970A-4B3E-BB1C-7A09969E49DF}" type="slidenum">
              <a:rPr lang="fr-FR" noProof="0" smtClean="0"/>
              <a:t>‹#›</a:t>
            </a:fld>
            <a:endParaRPr lang="fr-FR" noProof="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tête de section">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765025" y="1301360"/>
            <a:ext cx="9612971" cy="2852737"/>
          </a:xfrm>
        </p:spPr>
        <p:txBody>
          <a:bodyPr rtlCol="0" anchor="b">
            <a:normAutofit/>
          </a:bodyPr>
          <a:lstStyle>
            <a:lvl1pPr algn="r">
              <a:defRPr sz="7200" cap="all" baseline="0">
                <a:solidFill>
                  <a:schemeClr val="tx2"/>
                </a:solidFill>
              </a:defRPr>
            </a:lvl1pPr>
          </a:lstStyle>
          <a:p>
            <a:pPr rtl="0"/>
            <a:r>
              <a:rPr lang="fr-FR" noProof="0"/>
              <a:t>Modifiez le style du titre</a:t>
            </a:r>
          </a:p>
        </p:txBody>
      </p:sp>
      <p:sp>
        <p:nvSpPr>
          <p:cNvPr id="3" name="Espace réservé du texte 2"/>
          <p:cNvSpPr>
            <a:spLocks noGrp="1"/>
          </p:cNvSpPr>
          <p:nvPr>
            <p:ph type="body" idx="1" hasCustomPrompt="1"/>
          </p:nvPr>
        </p:nvSpPr>
        <p:spPr>
          <a:xfrm>
            <a:off x="765025" y="4216328"/>
            <a:ext cx="9612971" cy="1143324"/>
          </a:xfrm>
        </p:spPr>
        <p:txBody>
          <a:bodyPr rtlCol="0"/>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fr-FR" noProof="0"/>
              <a:t>Modifiez les styles du texte du masque</a:t>
            </a:r>
          </a:p>
        </p:txBody>
      </p:sp>
      <p:sp>
        <p:nvSpPr>
          <p:cNvPr id="4" name="Espace réservé de la date 3"/>
          <p:cNvSpPr>
            <a:spLocks noGrp="1"/>
          </p:cNvSpPr>
          <p:nvPr>
            <p:ph type="dt" sz="half" idx="10"/>
          </p:nvPr>
        </p:nvSpPr>
        <p:spPr>
          <a:xfrm>
            <a:off x="738908" y="6453386"/>
            <a:ext cx="1622409" cy="404614"/>
          </a:xfrm>
        </p:spPr>
        <p:txBody>
          <a:bodyPr rtlCol="0"/>
          <a:lstStyle>
            <a:lvl1pPr>
              <a:defRPr>
                <a:solidFill>
                  <a:schemeClr val="tx2"/>
                </a:solidFill>
              </a:defRPr>
            </a:lvl1pPr>
          </a:lstStyle>
          <a:p>
            <a:pPr rtl="0"/>
            <a:fld id="{A1C8F8FD-90D2-456B-90F2-9DCF3010EF69}" type="datetime1">
              <a:rPr lang="fr-FR" noProof="0" smtClean="0"/>
              <a:t>22/12/2022</a:t>
            </a:fld>
            <a:endParaRPr lang="fr-FR" noProof="0"/>
          </a:p>
        </p:txBody>
      </p:sp>
      <p:sp>
        <p:nvSpPr>
          <p:cNvPr id="5" name="Espace réservé du pied de page 4"/>
          <p:cNvSpPr>
            <a:spLocks noGrp="1"/>
          </p:cNvSpPr>
          <p:nvPr>
            <p:ph type="ftr" sz="quarter" idx="11"/>
          </p:nvPr>
        </p:nvSpPr>
        <p:spPr>
          <a:xfrm>
            <a:off x="2584312" y="6453386"/>
            <a:ext cx="7023377" cy="404614"/>
          </a:xfrm>
        </p:spPr>
        <p:txBody>
          <a:bodyPr rtlCol="0"/>
          <a:lstStyle>
            <a:lvl1pPr algn="ctr">
              <a:defRPr>
                <a:solidFill>
                  <a:schemeClr val="tx2"/>
                </a:solidFill>
              </a:defRPr>
            </a:lvl1pPr>
          </a:lstStyle>
          <a:p>
            <a:pPr rtl="0"/>
            <a:endParaRPr lang="fr-FR" noProof="0"/>
          </a:p>
        </p:txBody>
      </p:sp>
      <p:sp>
        <p:nvSpPr>
          <p:cNvPr id="6" name="Espace réservé du numéro de diapositive 5"/>
          <p:cNvSpPr>
            <a:spLocks noGrp="1"/>
          </p:cNvSpPr>
          <p:nvPr>
            <p:ph type="sldNum" sz="quarter" idx="12"/>
          </p:nvPr>
        </p:nvSpPr>
        <p:spPr>
          <a:xfrm>
            <a:off x="9830683" y="6453386"/>
            <a:ext cx="1596292" cy="404614"/>
          </a:xfrm>
        </p:spPr>
        <p:txBody>
          <a:bodyPr rtlCol="0"/>
          <a:lstStyle>
            <a:lvl1pPr>
              <a:defRPr>
                <a:solidFill>
                  <a:schemeClr val="tx2"/>
                </a:solidFill>
              </a:defRPr>
            </a:lvl1pPr>
          </a:lstStyle>
          <a:p>
            <a:pPr rtl="0"/>
            <a:fld id="{69E57DC2-970A-4B3E-BB1C-7A09969E49DF}" type="slidenum">
              <a:rPr lang="fr-FR" noProof="0" smtClean="0"/>
              <a:pPr rtl="0"/>
              <a:t>‹#›</a:t>
            </a:fld>
            <a:endParaRPr lang="fr-FR" noProof="0"/>
          </a:p>
        </p:txBody>
      </p:sp>
      <p:sp>
        <p:nvSpPr>
          <p:cNvPr id="7" name="Forme libre 6" title="Repère de rognage"/>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lvl1pPr>
              <a:defRPr>
                <a:solidFill>
                  <a:schemeClr val="tx2"/>
                </a:solidFill>
              </a:defRPr>
            </a:lvl1pPr>
          </a:lstStyle>
          <a:p>
            <a:pPr rtl="0"/>
            <a:r>
              <a:rPr lang="fr-FR" noProof="0"/>
              <a:t>Modifiez le style du titre</a:t>
            </a:r>
          </a:p>
        </p:txBody>
      </p:sp>
      <p:sp>
        <p:nvSpPr>
          <p:cNvPr id="3" name="Espace réservé du contenu 2"/>
          <p:cNvSpPr>
            <a:spLocks noGrp="1"/>
          </p:cNvSpPr>
          <p:nvPr>
            <p:ph sz="half" idx="1" hasCustomPrompt="1"/>
          </p:nvPr>
        </p:nvSpPr>
        <p:spPr>
          <a:xfrm>
            <a:off x="1371600" y="2285999"/>
            <a:ext cx="4447786" cy="3581401"/>
          </a:xfrm>
        </p:spPr>
        <p:txBody>
          <a:bodyPr rtlCol="0"/>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u contenu 3"/>
          <p:cNvSpPr>
            <a:spLocks noGrp="1"/>
          </p:cNvSpPr>
          <p:nvPr>
            <p:ph sz="half" idx="2" hasCustomPrompt="1"/>
          </p:nvPr>
        </p:nvSpPr>
        <p:spPr>
          <a:xfrm>
            <a:off x="6525403" y="2285999"/>
            <a:ext cx="4447786" cy="3581401"/>
          </a:xfrm>
        </p:spPr>
        <p:txBody>
          <a:bodyPr rtlCol="0"/>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5" name="Espace réservé de la date 4"/>
          <p:cNvSpPr>
            <a:spLocks noGrp="1"/>
          </p:cNvSpPr>
          <p:nvPr>
            <p:ph type="dt" sz="half" idx="10"/>
          </p:nvPr>
        </p:nvSpPr>
        <p:spPr/>
        <p:txBody>
          <a:bodyPr rtlCol="0"/>
          <a:lstStyle/>
          <a:p>
            <a:pPr rtl="0"/>
            <a:fld id="{63AB91CC-8C45-451A-AFB9-3F86C7C329D1}" type="datetime1">
              <a:rPr lang="fr-FR" noProof="0" smtClean="0"/>
              <a:t>22/12/2022</a:t>
            </a:fld>
            <a:endParaRPr lang="fr-FR" noProof="0"/>
          </a:p>
        </p:txBody>
      </p:sp>
      <p:sp>
        <p:nvSpPr>
          <p:cNvPr id="6" name="Espace réservé du pied de page 5"/>
          <p:cNvSpPr>
            <a:spLocks noGrp="1"/>
          </p:cNvSpPr>
          <p:nvPr>
            <p:ph type="ftr" sz="quarter" idx="11"/>
          </p:nvPr>
        </p:nvSpPr>
        <p:spPr/>
        <p:txBody>
          <a:bodyPr rtlCol="0"/>
          <a:lstStyle/>
          <a:p>
            <a:pPr rtl="0"/>
            <a:endParaRPr lang="fr-FR" noProof="0"/>
          </a:p>
        </p:txBody>
      </p:sp>
      <p:sp>
        <p:nvSpPr>
          <p:cNvPr id="7" name="Espace réservé du numéro de diapositive 6"/>
          <p:cNvSpPr>
            <a:spLocks noGrp="1"/>
          </p:cNvSpPr>
          <p:nvPr>
            <p:ph type="sldNum" sz="quarter" idx="12"/>
          </p:nvPr>
        </p:nvSpPr>
        <p:spPr/>
        <p:txBody>
          <a:bodyPr rtlCol="0"/>
          <a:lstStyle/>
          <a:p>
            <a:pPr rtl="0"/>
            <a:fld id="{69E57DC2-970A-4B3E-BB1C-7A09969E49DF}" type="slidenum">
              <a:rPr lang="fr-FR" noProof="0" smtClean="0"/>
              <a:t>‹#›</a:t>
            </a:fld>
            <a:endParaRPr lang="fr-FR" noProof="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1371600" y="685800"/>
            <a:ext cx="9601200" cy="1485900"/>
          </a:xfrm>
        </p:spPr>
        <p:txBody>
          <a:bodyPr rtlCol="0"/>
          <a:lstStyle>
            <a:lvl1pPr>
              <a:defRPr>
                <a:solidFill>
                  <a:schemeClr val="tx2"/>
                </a:solidFill>
              </a:defRPr>
            </a:lvl1pPr>
          </a:lstStyle>
          <a:p>
            <a:pPr rtl="0"/>
            <a:r>
              <a:rPr lang="fr-FR" noProof="0"/>
              <a:t>Modifiez le style du titre</a:t>
            </a:r>
          </a:p>
        </p:txBody>
      </p:sp>
      <p:sp>
        <p:nvSpPr>
          <p:cNvPr id="3" name="Espace réservé du texte 2"/>
          <p:cNvSpPr>
            <a:spLocks noGrp="1"/>
          </p:cNvSpPr>
          <p:nvPr>
            <p:ph type="body" idx="1" hasCustomPrompt="1"/>
          </p:nvPr>
        </p:nvSpPr>
        <p:spPr>
          <a:xfrm>
            <a:off x="1371600" y="2340864"/>
            <a:ext cx="4443984" cy="823912"/>
          </a:xfrm>
        </p:spPr>
        <p:txBody>
          <a:bodyPr rtlCol="0"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Modifiez les styles du texte du masque</a:t>
            </a:r>
          </a:p>
        </p:txBody>
      </p:sp>
      <p:sp>
        <p:nvSpPr>
          <p:cNvPr id="4" name="Espace réservé du contenu 3"/>
          <p:cNvSpPr>
            <a:spLocks noGrp="1"/>
          </p:cNvSpPr>
          <p:nvPr>
            <p:ph sz="half" idx="2" hasCustomPrompt="1"/>
          </p:nvPr>
        </p:nvSpPr>
        <p:spPr>
          <a:xfrm>
            <a:off x="1371600" y="3305207"/>
            <a:ext cx="4443984" cy="2562193"/>
          </a:xfrm>
        </p:spPr>
        <p:txBody>
          <a:bodyPr rtlCol="0"/>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5" name="Espace réservé du texte 4"/>
          <p:cNvSpPr>
            <a:spLocks noGrp="1"/>
          </p:cNvSpPr>
          <p:nvPr>
            <p:ph type="body" sz="quarter" idx="3" hasCustomPrompt="1"/>
          </p:nvPr>
        </p:nvSpPr>
        <p:spPr>
          <a:xfrm>
            <a:off x="6525014" y="2340864"/>
            <a:ext cx="4443984" cy="823912"/>
          </a:xfrm>
        </p:spPr>
        <p:txBody>
          <a:bodyPr rtlCol="0"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Modifiez les styles du texte du masque</a:t>
            </a:r>
          </a:p>
        </p:txBody>
      </p:sp>
      <p:sp>
        <p:nvSpPr>
          <p:cNvPr id="6" name="Espace réservé du contenu 5"/>
          <p:cNvSpPr>
            <a:spLocks noGrp="1"/>
          </p:cNvSpPr>
          <p:nvPr>
            <p:ph sz="quarter" idx="4" hasCustomPrompt="1"/>
          </p:nvPr>
        </p:nvSpPr>
        <p:spPr>
          <a:xfrm>
            <a:off x="6525014" y="3305207"/>
            <a:ext cx="4443984" cy="2562193"/>
          </a:xfrm>
        </p:spPr>
        <p:txBody>
          <a:bodyPr rtlCol="0"/>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7" name="Espace réservé de la date 6"/>
          <p:cNvSpPr>
            <a:spLocks noGrp="1"/>
          </p:cNvSpPr>
          <p:nvPr>
            <p:ph type="dt" sz="half" idx="10"/>
          </p:nvPr>
        </p:nvSpPr>
        <p:spPr/>
        <p:txBody>
          <a:bodyPr rtlCol="0"/>
          <a:lstStyle/>
          <a:p>
            <a:pPr rtl="0"/>
            <a:fld id="{D191D6B8-2326-4674-BC4B-602CC66947AD}" type="datetime1">
              <a:rPr lang="fr-FR" noProof="0" smtClean="0"/>
              <a:t>22/12/2022</a:t>
            </a:fld>
            <a:endParaRPr lang="fr-FR" noProof="0"/>
          </a:p>
        </p:txBody>
      </p:sp>
      <p:sp>
        <p:nvSpPr>
          <p:cNvPr id="8" name="Espace réservé du pied de page 7"/>
          <p:cNvSpPr>
            <a:spLocks noGrp="1"/>
          </p:cNvSpPr>
          <p:nvPr>
            <p:ph type="ftr" sz="quarter" idx="11"/>
          </p:nvPr>
        </p:nvSpPr>
        <p:spPr/>
        <p:txBody>
          <a:bodyPr rtlCol="0"/>
          <a:lstStyle/>
          <a:p>
            <a:pPr rtl="0"/>
            <a:endParaRPr lang="fr-FR" noProof="0"/>
          </a:p>
        </p:txBody>
      </p:sp>
      <p:sp>
        <p:nvSpPr>
          <p:cNvPr id="9" name="Espace réservé du numéro de diapositive 8"/>
          <p:cNvSpPr>
            <a:spLocks noGrp="1"/>
          </p:cNvSpPr>
          <p:nvPr>
            <p:ph type="sldNum" sz="quarter" idx="12"/>
          </p:nvPr>
        </p:nvSpPr>
        <p:spPr/>
        <p:txBody>
          <a:bodyPr rtlCol="0"/>
          <a:lstStyle/>
          <a:p>
            <a:pPr rtl="0"/>
            <a:fld id="{69E57DC2-970A-4B3E-BB1C-7A09969E49DF}" type="slidenum">
              <a:rPr lang="fr-FR" noProof="0" smtClean="0"/>
              <a:t>‹#›</a:t>
            </a:fld>
            <a:endParaRPr lang="fr-FR" noProof="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uniquement">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noProof="0"/>
              <a:t>Modifiez le style du titre</a:t>
            </a:r>
          </a:p>
        </p:txBody>
      </p:sp>
      <p:sp>
        <p:nvSpPr>
          <p:cNvPr id="3" name="Espace réservé de la date 2"/>
          <p:cNvSpPr>
            <a:spLocks noGrp="1"/>
          </p:cNvSpPr>
          <p:nvPr>
            <p:ph type="dt" sz="half" idx="10"/>
          </p:nvPr>
        </p:nvSpPr>
        <p:spPr/>
        <p:txBody>
          <a:bodyPr rtlCol="0"/>
          <a:lstStyle/>
          <a:p>
            <a:pPr rtl="0"/>
            <a:fld id="{8849161C-FC7D-4E8C-9C89-91928E6E4ECF}" type="datetime1">
              <a:rPr lang="fr-FR" noProof="0" smtClean="0"/>
              <a:t>22/12/2022</a:t>
            </a:fld>
            <a:endParaRPr lang="fr-FR" noProof="0"/>
          </a:p>
        </p:txBody>
      </p:sp>
      <p:sp>
        <p:nvSpPr>
          <p:cNvPr id="4" name="Espace réservé du pied de page 3"/>
          <p:cNvSpPr>
            <a:spLocks noGrp="1"/>
          </p:cNvSpPr>
          <p:nvPr>
            <p:ph type="ftr" sz="quarter" idx="11"/>
          </p:nvPr>
        </p:nvSpPr>
        <p:spPr/>
        <p:txBody>
          <a:bodyPr rtlCol="0"/>
          <a:lstStyle/>
          <a:p>
            <a:pPr rtl="0"/>
            <a:endParaRPr lang="fr-FR" noProof="0"/>
          </a:p>
        </p:txBody>
      </p:sp>
      <p:sp>
        <p:nvSpPr>
          <p:cNvPr id="5" name="Espace réservé du numéro de diapositive 4"/>
          <p:cNvSpPr>
            <a:spLocks noGrp="1"/>
          </p:cNvSpPr>
          <p:nvPr>
            <p:ph type="sldNum" sz="quarter" idx="12"/>
          </p:nvPr>
        </p:nvSpPr>
        <p:spPr/>
        <p:txBody>
          <a:bodyPr rtlCol="0"/>
          <a:lstStyle/>
          <a:p>
            <a:pPr rtl="0"/>
            <a:fld id="{69E57DC2-970A-4B3E-BB1C-7A09969E49DF}" type="slidenum">
              <a:rPr lang="fr-FR" noProof="0" smtClean="0"/>
              <a:t>‹#›</a:t>
            </a:fld>
            <a:endParaRPr lang="fr-FR" noProof="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rtlCol="0"/>
          <a:lstStyle/>
          <a:p>
            <a:pPr rtl="0"/>
            <a:fld id="{EC85C1DD-BE4A-4348-BB59-8885FB49B3FF}" type="datetime1">
              <a:rPr lang="fr-FR" noProof="0" smtClean="0"/>
              <a:t>22/12/2022</a:t>
            </a:fld>
            <a:endParaRPr lang="fr-FR" noProof="0"/>
          </a:p>
        </p:txBody>
      </p:sp>
      <p:sp>
        <p:nvSpPr>
          <p:cNvPr id="3" name="Espace réservé du pied de page 2"/>
          <p:cNvSpPr>
            <a:spLocks noGrp="1"/>
          </p:cNvSpPr>
          <p:nvPr>
            <p:ph type="ftr" sz="quarter" idx="11"/>
          </p:nvPr>
        </p:nvSpPr>
        <p:spPr/>
        <p:txBody>
          <a:bodyPr rtlCol="0"/>
          <a:lstStyle/>
          <a:p>
            <a:pPr rtl="0"/>
            <a:endParaRPr lang="fr-FR" noProof="0"/>
          </a:p>
        </p:txBody>
      </p:sp>
      <p:sp>
        <p:nvSpPr>
          <p:cNvPr id="4" name="Espace réservé du numéro de diapositive 3"/>
          <p:cNvSpPr>
            <a:spLocks noGrp="1"/>
          </p:cNvSpPr>
          <p:nvPr>
            <p:ph type="sldNum" sz="quarter" idx="12"/>
          </p:nvPr>
        </p:nvSpPr>
        <p:spPr/>
        <p:txBody>
          <a:bodyPr rtlCol="0"/>
          <a:lstStyle/>
          <a:p>
            <a:pPr rtl="0"/>
            <a:fld id="{69E57DC2-970A-4B3E-BB1C-7A09969E49DF}" type="slidenum">
              <a:rPr lang="fr-FR" noProof="0" smtClean="0"/>
              <a:t>‹#›</a:t>
            </a:fld>
            <a:endParaRPr lang="fr-FR" noProof="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8" name="Rectangle 7" title="Forme d’arrière-plan"/>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re 1"/>
          <p:cNvSpPr>
            <a:spLocks noGrp="1"/>
          </p:cNvSpPr>
          <p:nvPr>
            <p:ph type="title"/>
          </p:nvPr>
        </p:nvSpPr>
        <p:spPr>
          <a:xfrm>
            <a:off x="723900" y="685800"/>
            <a:ext cx="3855720" cy="2157884"/>
          </a:xfrm>
        </p:spPr>
        <p:txBody>
          <a:bodyPr rtlCol="0" anchor="t">
            <a:noAutofit/>
          </a:bodyPr>
          <a:lstStyle>
            <a:lvl1pPr>
              <a:lnSpc>
                <a:spcPct val="84000"/>
              </a:lnSpc>
              <a:defRPr sz="4800" baseline="0">
                <a:solidFill>
                  <a:schemeClr val="tx2"/>
                </a:solidFill>
              </a:defRPr>
            </a:lvl1pPr>
          </a:lstStyle>
          <a:p>
            <a:pPr rtl="0"/>
            <a:r>
              <a:rPr lang="fr-FR" noProof="0"/>
              <a:t>Modifiez le style du titre</a:t>
            </a:r>
          </a:p>
        </p:txBody>
      </p:sp>
      <p:sp>
        <p:nvSpPr>
          <p:cNvPr id="3" name="Espace réservé du contenu 2"/>
          <p:cNvSpPr>
            <a:spLocks noGrp="1"/>
          </p:cNvSpPr>
          <p:nvPr>
            <p:ph idx="1" hasCustomPrompt="1"/>
          </p:nvPr>
        </p:nvSpPr>
        <p:spPr>
          <a:xfrm>
            <a:off x="6256020" y="685801"/>
            <a:ext cx="5212080" cy="5175250"/>
          </a:xfrm>
        </p:spPr>
        <p:txBody>
          <a:bodyPr rtlCol="0"/>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u texte 3"/>
          <p:cNvSpPr>
            <a:spLocks noGrp="1"/>
          </p:cNvSpPr>
          <p:nvPr>
            <p:ph type="body" sz="half" idx="2" hasCustomPrompt="1"/>
          </p:nvPr>
        </p:nvSpPr>
        <p:spPr>
          <a:xfrm>
            <a:off x="723900" y="2856344"/>
            <a:ext cx="3855720" cy="3011056"/>
          </a:xfrm>
        </p:spPr>
        <p:txBody>
          <a:bodyPr rtlCol="0"/>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FR" noProof="0"/>
              <a:t>Modifiez les styles du texte du masque</a:t>
            </a:r>
          </a:p>
        </p:txBody>
      </p:sp>
      <p:sp>
        <p:nvSpPr>
          <p:cNvPr id="5" name="Espace réservé de la date 4"/>
          <p:cNvSpPr>
            <a:spLocks noGrp="1"/>
          </p:cNvSpPr>
          <p:nvPr>
            <p:ph type="dt" sz="half" idx="10"/>
          </p:nvPr>
        </p:nvSpPr>
        <p:spPr>
          <a:xfrm>
            <a:off x="723900" y="6453386"/>
            <a:ext cx="1204572" cy="404614"/>
          </a:xfrm>
        </p:spPr>
        <p:txBody>
          <a:bodyPr rtlCol="0"/>
          <a:lstStyle>
            <a:lvl1pPr>
              <a:defRPr>
                <a:solidFill>
                  <a:schemeClr val="tx2"/>
                </a:solidFill>
              </a:defRPr>
            </a:lvl1pPr>
          </a:lstStyle>
          <a:p>
            <a:pPr rtl="0"/>
            <a:fld id="{46BE5C80-0F1C-48E3-BECE-810F44D4E21C}" type="datetime1">
              <a:rPr lang="fr-FR" noProof="0" smtClean="0"/>
              <a:t>22/12/2022</a:t>
            </a:fld>
            <a:endParaRPr lang="fr-FR" noProof="0"/>
          </a:p>
        </p:txBody>
      </p:sp>
      <p:sp>
        <p:nvSpPr>
          <p:cNvPr id="6" name="Espace réservé du pied de page 5"/>
          <p:cNvSpPr>
            <a:spLocks noGrp="1"/>
          </p:cNvSpPr>
          <p:nvPr>
            <p:ph type="ftr" sz="quarter" idx="11"/>
          </p:nvPr>
        </p:nvSpPr>
        <p:spPr>
          <a:xfrm>
            <a:off x="2205945" y="6453386"/>
            <a:ext cx="2373675" cy="404614"/>
          </a:xfrm>
        </p:spPr>
        <p:txBody>
          <a:bodyPr rtlCol="0"/>
          <a:lstStyle>
            <a:lvl1pPr>
              <a:defRPr>
                <a:solidFill>
                  <a:schemeClr val="tx2"/>
                </a:solidFill>
              </a:defRPr>
            </a:lvl1pPr>
          </a:lstStyle>
          <a:p>
            <a:pPr rtl="0"/>
            <a:endParaRPr lang="fr-FR" noProof="0"/>
          </a:p>
        </p:txBody>
      </p:sp>
      <p:sp>
        <p:nvSpPr>
          <p:cNvPr id="7" name="Espace réservé du numéro de diapositive 6"/>
          <p:cNvSpPr>
            <a:spLocks noGrp="1"/>
          </p:cNvSpPr>
          <p:nvPr>
            <p:ph type="sldNum" sz="quarter" idx="12"/>
          </p:nvPr>
        </p:nvSpPr>
        <p:spPr>
          <a:xfrm>
            <a:off x="9883140" y="6453386"/>
            <a:ext cx="1596292" cy="404614"/>
          </a:xfrm>
        </p:spPr>
        <p:txBody>
          <a:bodyPr rtlCol="0"/>
          <a:lstStyle>
            <a:lvl1pPr>
              <a:defRPr>
                <a:solidFill>
                  <a:schemeClr val="tx2"/>
                </a:solidFill>
              </a:defRPr>
            </a:lvl1pPr>
          </a:lstStyle>
          <a:p>
            <a:pPr rtl="0"/>
            <a:fld id="{69E57DC2-970A-4B3E-BB1C-7A09969E49DF}" type="slidenum">
              <a:rPr lang="fr-FR" noProof="0" smtClean="0"/>
              <a:pPr rtl="0"/>
              <a:t>‹#›</a:t>
            </a:fld>
            <a:endParaRPr lang="fr-FR" noProof="0"/>
          </a:p>
        </p:txBody>
      </p:sp>
      <p:sp>
        <p:nvSpPr>
          <p:cNvPr id="9" name="Rectangle 8" title="Barre de séparation"/>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8" name="Rectangle 7" title="Forme d’arrière-plan"/>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re 1"/>
          <p:cNvSpPr>
            <a:spLocks noGrp="1"/>
          </p:cNvSpPr>
          <p:nvPr>
            <p:ph type="title"/>
          </p:nvPr>
        </p:nvSpPr>
        <p:spPr>
          <a:xfrm>
            <a:off x="723900" y="685800"/>
            <a:ext cx="3855720" cy="2157884"/>
          </a:xfrm>
        </p:spPr>
        <p:txBody>
          <a:bodyPr rtlCol="0" anchor="t">
            <a:normAutofit/>
          </a:bodyPr>
          <a:lstStyle>
            <a:lvl1pPr>
              <a:lnSpc>
                <a:spcPct val="84000"/>
              </a:lnSpc>
              <a:defRPr sz="4800" baseline="0"/>
            </a:lvl1pPr>
          </a:lstStyle>
          <a:p>
            <a:pPr rtl="0"/>
            <a:r>
              <a:rPr lang="fr-FR" noProof="0"/>
              <a:t>Modifiez le style du titre</a:t>
            </a:r>
          </a:p>
        </p:txBody>
      </p:sp>
      <p:sp>
        <p:nvSpPr>
          <p:cNvPr id="3" name="Espace réservé d’image 2"/>
          <p:cNvSpPr>
            <a:spLocks noGrp="1" noChangeAspect="1"/>
          </p:cNvSpPr>
          <p:nvPr>
            <p:ph type="pic" idx="1" hasCustomPrompt="1"/>
          </p:nvPr>
        </p:nvSpPr>
        <p:spPr>
          <a:xfrm>
            <a:off x="5532120" y="0"/>
            <a:ext cx="6659880" cy="6857999"/>
          </a:xfrm>
        </p:spPr>
        <p:txBody>
          <a:bodyPr rtlCol="0"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noProof="0"/>
              <a:t>Cliquez sur l’icône pour ajouter une image</a:t>
            </a:r>
          </a:p>
        </p:txBody>
      </p:sp>
      <p:sp>
        <p:nvSpPr>
          <p:cNvPr id="4" name="Espace réservé du texte 3"/>
          <p:cNvSpPr>
            <a:spLocks noGrp="1"/>
          </p:cNvSpPr>
          <p:nvPr>
            <p:ph type="body" sz="half" idx="2" hasCustomPrompt="1"/>
          </p:nvPr>
        </p:nvSpPr>
        <p:spPr>
          <a:xfrm>
            <a:off x="723900" y="2855968"/>
            <a:ext cx="3855720" cy="3011432"/>
          </a:xfrm>
        </p:spPr>
        <p:txBody>
          <a:bodyPr rtlCol="0"/>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FR" noProof="0"/>
              <a:t>Modifiez les styles du texte du masque</a:t>
            </a:r>
          </a:p>
        </p:txBody>
      </p:sp>
      <p:sp>
        <p:nvSpPr>
          <p:cNvPr id="5" name="Espace réservé de la date 4"/>
          <p:cNvSpPr>
            <a:spLocks noGrp="1"/>
          </p:cNvSpPr>
          <p:nvPr>
            <p:ph type="dt" sz="half" idx="10"/>
          </p:nvPr>
        </p:nvSpPr>
        <p:spPr>
          <a:xfrm>
            <a:off x="723900" y="6453386"/>
            <a:ext cx="1204572" cy="404614"/>
          </a:xfrm>
        </p:spPr>
        <p:txBody>
          <a:bodyPr rtlCol="0"/>
          <a:lstStyle>
            <a:lvl1pPr>
              <a:defRPr>
                <a:solidFill>
                  <a:schemeClr val="tx2"/>
                </a:solidFill>
              </a:defRPr>
            </a:lvl1pPr>
          </a:lstStyle>
          <a:p>
            <a:pPr rtl="0"/>
            <a:fld id="{EF709932-EA5D-4F0C-B8B0-48464F21D38C}" type="datetime1">
              <a:rPr lang="fr-FR" noProof="0" smtClean="0"/>
              <a:t>22/12/2022</a:t>
            </a:fld>
            <a:endParaRPr lang="fr-FR" noProof="0"/>
          </a:p>
        </p:txBody>
      </p:sp>
      <p:sp>
        <p:nvSpPr>
          <p:cNvPr id="6" name="Espace réservé du pied de page 5"/>
          <p:cNvSpPr>
            <a:spLocks noGrp="1"/>
          </p:cNvSpPr>
          <p:nvPr>
            <p:ph type="ftr" sz="quarter" idx="11"/>
          </p:nvPr>
        </p:nvSpPr>
        <p:spPr>
          <a:xfrm>
            <a:off x="2205945" y="6453386"/>
            <a:ext cx="2373675" cy="404614"/>
          </a:xfrm>
        </p:spPr>
        <p:txBody>
          <a:bodyPr rtlCol="0"/>
          <a:lstStyle>
            <a:lvl1pPr>
              <a:defRPr>
                <a:solidFill>
                  <a:schemeClr val="tx2"/>
                </a:solidFill>
              </a:defRPr>
            </a:lvl1pPr>
          </a:lstStyle>
          <a:p>
            <a:pPr rtl="0"/>
            <a:endParaRPr lang="fr-FR" noProof="0"/>
          </a:p>
        </p:txBody>
      </p:sp>
      <p:sp>
        <p:nvSpPr>
          <p:cNvPr id="7" name="Espace réservé du numéro de diapositive 6"/>
          <p:cNvSpPr>
            <a:spLocks noGrp="1"/>
          </p:cNvSpPr>
          <p:nvPr>
            <p:ph type="sldNum" sz="quarter" idx="12"/>
          </p:nvPr>
        </p:nvSpPr>
        <p:spPr>
          <a:xfrm>
            <a:off x="9883140" y="6453386"/>
            <a:ext cx="1596292" cy="404614"/>
          </a:xfrm>
        </p:spPr>
        <p:txBody>
          <a:bodyPr rtlCol="0"/>
          <a:lstStyle>
            <a:lvl1pPr>
              <a:defRPr>
                <a:solidFill>
                  <a:schemeClr val="tx2"/>
                </a:solidFill>
              </a:defRPr>
            </a:lvl1pPr>
          </a:lstStyle>
          <a:p>
            <a:pPr rtl="0"/>
            <a:fld id="{69E57DC2-970A-4B3E-BB1C-7A09969E49DF}" type="slidenum">
              <a:rPr lang="fr-FR" noProof="0" smtClean="0"/>
              <a:pPr rtl="0"/>
              <a:t>‹#›</a:t>
            </a:fld>
            <a:endParaRPr lang="fr-FR" noProof="0"/>
          </a:p>
        </p:txBody>
      </p:sp>
      <p:sp>
        <p:nvSpPr>
          <p:cNvPr id="9" name="Rectangle 8" title="Barre de séparation"/>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rtlCol="0"/>
          <a:lstStyle/>
          <a:p>
            <a:pPr rtl="0"/>
            <a:r>
              <a:rPr lang="fr-FR" noProof="0"/>
              <a:t>Modifiez le style du titre</a:t>
            </a:r>
          </a:p>
        </p:txBody>
      </p:sp>
      <p:sp>
        <p:nvSpPr>
          <p:cNvPr id="3" name="Espace réservé du texte vertical 2"/>
          <p:cNvSpPr>
            <a:spLocks noGrp="1"/>
          </p:cNvSpPr>
          <p:nvPr>
            <p:ph type="body" orient="vert" idx="1" hasCustomPrompt="1"/>
          </p:nvPr>
        </p:nvSpPr>
        <p:spPr>
          <a:xfrm>
            <a:off x="1371600" y="2295525"/>
            <a:ext cx="9601200" cy="3571875"/>
          </a:xfrm>
        </p:spPr>
        <p:txBody>
          <a:bodyPr vert="eaVert"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p:cNvSpPr>
            <a:spLocks noGrp="1"/>
          </p:cNvSpPr>
          <p:nvPr>
            <p:ph type="dt" sz="half" idx="10"/>
          </p:nvPr>
        </p:nvSpPr>
        <p:spPr/>
        <p:txBody>
          <a:bodyPr rtlCol="0"/>
          <a:lstStyle/>
          <a:p>
            <a:pPr rtl="0"/>
            <a:fld id="{F0B0DC8C-C2D2-4F29-B42C-AE181B25703A}" type="datetime1">
              <a:rPr lang="fr-FR" noProof="0" smtClean="0"/>
              <a:t>22/12/2022</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69E57DC2-970A-4B3E-BB1C-7A09969E49DF}" type="slidenum">
              <a:rPr lang="fr-FR" noProof="0" smtClean="0"/>
              <a:t>‹#›</a:t>
            </a:fld>
            <a:endParaRPr lang="fr-FR" noProof="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9596561" y="624156"/>
            <a:ext cx="1565766" cy="5243244"/>
          </a:xfrm>
        </p:spPr>
        <p:txBody>
          <a:bodyPr vert="eaVert" rtlCol="0"/>
          <a:lstStyle/>
          <a:p>
            <a:pPr rtl="0"/>
            <a:r>
              <a:rPr lang="fr-FR" noProof="0"/>
              <a:t>Modifiez le style du titre</a:t>
            </a:r>
          </a:p>
        </p:txBody>
      </p:sp>
      <p:sp>
        <p:nvSpPr>
          <p:cNvPr id="3" name="Espace réservé du texte vertical 2"/>
          <p:cNvSpPr>
            <a:spLocks noGrp="1"/>
          </p:cNvSpPr>
          <p:nvPr>
            <p:ph type="body" orient="vert" idx="1" hasCustomPrompt="1"/>
          </p:nvPr>
        </p:nvSpPr>
        <p:spPr>
          <a:xfrm>
            <a:off x="1371600" y="624156"/>
            <a:ext cx="8179641" cy="5243244"/>
          </a:xfrm>
        </p:spPr>
        <p:txBody>
          <a:bodyPr vert="eaVert" rtlCol="0"/>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p:cNvSpPr>
            <a:spLocks noGrp="1"/>
          </p:cNvSpPr>
          <p:nvPr>
            <p:ph type="dt" sz="half" idx="10"/>
          </p:nvPr>
        </p:nvSpPr>
        <p:spPr/>
        <p:txBody>
          <a:bodyPr rtlCol="0"/>
          <a:lstStyle/>
          <a:p>
            <a:pPr rtl="0"/>
            <a:fld id="{D0FA7FB6-569E-46B2-A438-6DF332A64C01}" type="datetime1">
              <a:rPr lang="fr-FR" noProof="0" smtClean="0"/>
              <a:t>22/12/2022</a:t>
            </a:fld>
            <a:endParaRPr lang="fr-FR" noProof="0"/>
          </a:p>
        </p:txBody>
      </p:sp>
      <p:sp>
        <p:nvSpPr>
          <p:cNvPr id="5" name="Espace réservé du pied de page 4"/>
          <p:cNvSpPr>
            <a:spLocks noGrp="1"/>
          </p:cNvSpPr>
          <p:nvPr>
            <p:ph type="ftr" sz="quarter" idx="11"/>
          </p:nvPr>
        </p:nvSpPr>
        <p:spPr/>
        <p:txBody>
          <a:bodyPr rtlCol="0"/>
          <a:lstStyle/>
          <a:p>
            <a:pPr rtl="0"/>
            <a:endParaRPr lang="fr-FR" noProof="0"/>
          </a:p>
        </p:txBody>
      </p:sp>
      <p:sp>
        <p:nvSpPr>
          <p:cNvPr id="6" name="Espace réservé du numéro de diapositive 5"/>
          <p:cNvSpPr>
            <a:spLocks noGrp="1"/>
          </p:cNvSpPr>
          <p:nvPr>
            <p:ph type="sldNum" sz="quarter" idx="12"/>
          </p:nvPr>
        </p:nvSpPr>
        <p:spPr/>
        <p:txBody>
          <a:bodyPr rtlCol="0"/>
          <a:lstStyle/>
          <a:p>
            <a:pPr rtl="0"/>
            <a:fld id="{69E57DC2-970A-4B3E-BB1C-7A09969E49DF}" type="slidenum">
              <a:rPr lang="fr-FR" noProof="0" smtClean="0"/>
              <a:t>‹#›</a:t>
            </a:fld>
            <a:endParaRPr lang="fr-FR" noProof="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pPr rtl="0"/>
            <a:r>
              <a:rPr lang="fr-FR" noProof="0"/>
              <a:t>Modifiez le style du titre</a:t>
            </a:r>
          </a:p>
        </p:txBody>
      </p:sp>
      <p:sp>
        <p:nvSpPr>
          <p:cNvPr id="3" name="Espace réservé du texte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rtl="0"/>
            <a:r>
              <a:rPr lang="fr-FR" noProof="0"/>
              <a:t>Modifiez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p>
        </p:txBody>
      </p:sp>
      <p:sp>
        <p:nvSpPr>
          <p:cNvPr id="4" name="Espace réservé de la date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pPr rtl="0"/>
            <a:fld id="{EDB5BFC5-ABAD-43C7-9FAF-FDF9E1DF2658}" type="datetime1">
              <a:rPr lang="fr-FR" noProof="0" smtClean="0"/>
              <a:t>22/12/2022</a:t>
            </a:fld>
            <a:endParaRPr lang="fr-FR" noProof="0" dirty="0"/>
          </a:p>
        </p:txBody>
      </p:sp>
      <p:sp>
        <p:nvSpPr>
          <p:cNvPr id="5" name="Espace réservé du pied de page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pPr rtl="0"/>
            <a:endParaRPr lang="fr-FR" noProof="0"/>
          </a:p>
        </p:txBody>
      </p:sp>
      <p:sp>
        <p:nvSpPr>
          <p:cNvPr id="6" name="Espace réservé du numéro de diapositive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pPr rtl="0"/>
            <a:fld id="{69E57DC2-970A-4B3E-BB1C-7A09969E49DF}" type="slidenum">
              <a:rPr lang="fr-FR" noProof="0" smtClean="0"/>
              <a:pPr rtl="0"/>
              <a:t>‹#›</a:t>
            </a:fld>
            <a:endParaRPr lang="fr-FR" noProof="0"/>
          </a:p>
        </p:txBody>
      </p:sp>
      <p:sp>
        <p:nvSpPr>
          <p:cNvPr id="9" name="Rectangle 8" title="Barre latérale"/>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2.pn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12.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p:nvPr>
        </p:nvSpPr>
        <p:spPr>
          <a:xfrm>
            <a:off x="1258122" y="1827788"/>
            <a:ext cx="9676261" cy="1965568"/>
          </a:xfrm>
        </p:spPr>
        <p:txBody>
          <a:bodyPr/>
          <a:lstStyle/>
          <a:p>
            <a:r>
              <a:rPr lang="fr-FR" sz="5400" b="1" dirty="0" smtClean="0">
                <a:latin typeface="Times New Roman" panose="02020603050405020304" pitchFamily="18" charset="0"/>
                <a:cs typeface="Times New Roman" panose="02020603050405020304" pitchFamily="18" charset="0"/>
              </a:rPr>
              <a:t>Transistor Bipolaire </a:t>
            </a:r>
            <a:endParaRPr lang="en-GB" sz="5400" b="1" dirty="0">
              <a:latin typeface="Times New Roman" panose="02020603050405020304" pitchFamily="18" charset="0"/>
              <a:cs typeface="Times New Roman" panose="02020603050405020304" pitchFamily="18" charset="0"/>
            </a:endParaRPr>
          </a:p>
        </p:txBody>
      </p:sp>
      <p:sp>
        <p:nvSpPr>
          <p:cNvPr id="5" name="Subtitle 2"/>
          <p:cNvSpPr>
            <a:spLocks noGrp="1"/>
          </p:cNvSpPr>
          <p:nvPr>
            <p:ph type="subTitle" idx="1"/>
          </p:nvPr>
        </p:nvSpPr>
        <p:spPr>
          <a:xfrm>
            <a:off x="1258122" y="4822780"/>
            <a:ext cx="4229100" cy="1498600"/>
          </a:xfrm>
        </p:spPr>
        <p:txBody>
          <a:bodyPr>
            <a:noAutofit/>
          </a:bodyPr>
          <a:lstStyle/>
          <a:p>
            <a:pPr algn="l"/>
            <a:r>
              <a:rPr lang="fr-FR" sz="2000" b="1" dirty="0" smtClean="0"/>
              <a:t>Préparé par :</a:t>
            </a:r>
          </a:p>
          <a:p>
            <a:pPr algn="l"/>
            <a:r>
              <a:rPr lang="fr-FR" sz="1800" dirty="0" smtClean="0"/>
              <a:t>- Younes </a:t>
            </a:r>
            <a:r>
              <a:rPr lang="fr-FR" sz="1800" dirty="0" err="1" smtClean="0"/>
              <a:t>Moukhlij</a:t>
            </a:r>
            <a:endParaRPr lang="fr-FR" sz="1800" dirty="0" smtClean="0"/>
          </a:p>
          <a:p>
            <a:pPr algn="l"/>
            <a:r>
              <a:rPr lang="fr-FR" sz="1800" dirty="0" smtClean="0"/>
              <a:t>- </a:t>
            </a:r>
            <a:r>
              <a:rPr lang="fr-FR" sz="1800" dirty="0" err="1" smtClean="0"/>
              <a:t>Jouad</a:t>
            </a:r>
            <a:r>
              <a:rPr lang="fr-FR" sz="1800" dirty="0" smtClean="0"/>
              <a:t> </a:t>
            </a:r>
            <a:r>
              <a:rPr lang="fr-FR" sz="1800" dirty="0" err="1" smtClean="0"/>
              <a:t>Elhabib</a:t>
            </a:r>
            <a:endParaRPr lang="fr-FR" sz="1800" dirty="0" smtClean="0"/>
          </a:p>
          <a:p>
            <a:pPr algn="l"/>
            <a:r>
              <a:rPr lang="fr-FR" sz="1800" dirty="0" smtClean="0"/>
              <a:t>- Youssef </a:t>
            </a:r>
            <a:r>
              <a:rPr lang="fr-FR" sz="1800" dirty="0" err="1" smtClean="0"/>
              <a:t>Amarchich</a:t>
            </a:r>
            <a:endParaRPr lang="en-GB" sz="1800" dirty="0"/>
          </a:p>
        </p:txBody>
      </p:sp>
      <p:sp>
        <p:nvSpPr>
          <p:cNvPr id="6" name="Subtitle 2"/>
          <p:cNvSpPr txBox="1">
            <a:spLocks/>
          </p:cNvSpPr>
          <p:nvPr/>
        </p:nvSpPr>
        <p:spPr>
          <a:xfrm>
            <a:off x="8504171" y="4822780"/>
            <a:ext cx="4229100" cy="16891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fr-FR" sz="2000" b="1" dirty="0" smtClean="0"/>
              <a:t>Supervisé par :</a:t>
            </a:r>
          </a:p>
          <a:p>
            <a:pPr algn="l"/>
            <a:r>
              <a:rPr lang="fr-FR" sz="1800" dirty="0" smtClean="0"/>
              <a:t>- Pr. Miloud </a:t>
            </a:r>
            <a:r>
              <a:rPr lang="fr-FR" sz="1800" dirty="0" err="1" smtClean="0"/>
              <a:t>Dardouri</a:t>
            </a:r>
            <a:endParaRPr lang="en-GB" sz="1800" dirty="0"/>
          </a:p>
        </p:txBody>
      </p:sp>
      <p:sp>
        <p:nvSpPr>
          <p:cNvPr id="7" name="Subtitle 2"/>
          <p:cNvSpPr txBox="1">
            <a:spLocks/>
          </p:cNvSpPr>
          <p:nvPr/>
        </p:nvSpPr>
        <p:spPr>
          <a:xfrm>
            <a:off x="5340350" y="6502400"/>
            <a:ext cx="1279391" cy="355600"/>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fr-FR" sz="1600" dirty="0" smtClean="0"/>
              <a:t>2022/2023</a:t>
            </a:r>
            <a:endParaRPr lang="en-GB" sz="1600" dirty="0"/>
          </a:p>
        </p:txBody>
      </p:sp>
      <p:pic>
        <p:nvPicPr>
          <p:cNvPr id="8" name="Picture 7"/>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0103067" y="-2036"/>
            <a:ext cx="2273527" cy="1413376"/>
          </a:xfrm>
          <a:prstGeom prst="rect">
            <a:avLst/>
          </a:prstGeom>
        </p:spPr>
      </p:pic>
      <p:pic>
        <p:nvPicPr>
          <p:cNvPr id="9" name="Picture 8"/>
          <p:cNvPicPr>
            <a:picLocks noChangeAspect="1"/>
          </p:cNvPicPr>
          <p:nvPr/>
        </p:nvPicPr>
        <p:blipFill>
          <a:blip r:embed="rId5" cstate="print">
            <a:extLst>
              <a:ext uri="{BEBA8EAE-BF5A-486C-A8C5-ECC9F3942E4B}">
                <a14:imgProps xmlns:a14="http://schemas.microsoft.com/office/drawing/2010/main">
                  <a14:imgLayer r:embed="rId6">
                    <a14:imgEffect>
                      <a14:backgroundRemoval t="0" b="89701" l="9967" r="94352"/>
                    </a14:imgEffect>
                  </a14:imgLayer>
                </a14:imgProps>
              </a:ext>
              <a:ext uri="{28A0092B-C50C-407E-A947-70E740481C1C}">
                <a14:useLocalDpi xmlns:a14="http://schemas.microsoft.com/office/drawing/2010/main" val="0"/>
              </a:ext>
            </a:extLst>
          </a:blip>
          <a:stretch>
            <a:fillRect/>
          </a:stretch>
        </p:blipFill>
        <p:spPr>
          <a:xfrm>
            <a:off x="8818686" y="134217"/>
            <a:ext cx="1242878" cy="1242878"/>
          </a:xfrm>
          <a:prstGeom prst="rect">
            <a:avLst/>
          </a:prstGeom>
        </p:spPr>
      </p:pic>
      <p:sp>
        <p:nvSpPr>
          <p:cNvPr id="10" name="Title 1"/>
          <p:cNvSpPr txBox="1">
            <a:spLocks/>
          </p:cNvSpPr>
          <p:nvPr/>
        </p:nvSpPr>
        <p:spPr>
          <a:xfrm>
            <a:off x="4400550" y="444302"/>
            <a:ext cx="3638550" cy="88780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sz="1200" dirty="0" smtClean="0">
                <a:solidFill>
                  <a:schemeClr val="bg1">
                    <a:lumMod val="65000"/>
                  </a:schemeClr>
                </a:solidFill>
                <a:latin typeface="Times New Roman" panose="02020603050405020304" pitchFamily="18" charset="0"/>
                <a:cs typeface="Times New Roman" panose="02020603050405020304" pitchFamily="18" charset="0"/>
              </a:rPr>
              <a:t>Université Sultane Moulay Slimane</a:t>
            </a:r>
          </a:p>
          <a:p>
            <a:r>
              <a:rPr lang="fr-FR" sz="1600" dirty="0" smtClean="0">
                <a:solidFill>
                  <a:schemeClr val="bg1">
                    <a:lumMod val="65000"/>
                  </a:schemeClr>
                </a:solidFill>
                <a:latin typeface="Times New Roman" panose="02020603050405020304" pitchFamily="18" charset="0"/>
                <a:cs typeface="Times New Roman" panose="02020603050405020304" pitchFamily="18" charset="0"/>
              </a:rPr>
              <a:t>Faculté </a:t>
            </a:r>
            <a:r>
              <a:rPr lang="fr-FR" sz="1600" dirty="0" err="1" smtClean="0">
                <a:solidFill>
                  <a:schemeClr val="bg1">
                    <a:lumMod val="65000"/>
                  </a:schemeClr>
                </a:solidFill>
                <a:latin typeface="Times New Roman" panose="02020603050405020304" pitchFamily="18" charset="0"/>
                <a:cs typeface="Times New Roman" panose="02020603050405020304" pitchFamily="18" charset="0"/>
              </a:rPr>
              <a:t>Polydiscplinaire</a:t>
            </a:r>
            <a:r>
              <a:rPr lang="fr-FR" sz="1600" dirty="0" smtClean="0">
                <a:solidFill>
                  <a:schemeClr val="bg1">
                    <a:lumMod val="65000"/>
                  </a:schemeClr>
                </a:solidFill>
                <a:latin typeface="Times New Roman" panose="02020603050405020304" pitchFamily="18" charset="0"/>
                <a:cs typeface="Times New Roman" panose="02020603050405020304" pitchFamily="18" charset="0"/>
              </a:rPr>
              <a:t> Khouribga</a:t>
            </a:r>
            <a:endParaRPr lang="en-GB" sz="1600" dirty="0">
              <a:solidFill>
                <a:schemeClr val="bg1">
                  <a:lumMod val="65000"/>
                </a:schemeClr>
              </a:solidFill>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7" cstate="print">
            <a:extLst>
              <a:ext uri="{BEBA8EAE-BF5A-486C-A8C5-ECC9F3942E4B}">
                <a14:imgProps xmlns:a14="http://schemas.microsoft.com/office/drawing/2010/main">
                  <a14:imgLayer r:embed="rId8">
                    <a14:imgEffect>
                      <a14:backgroundRemoval t="9873" b="97468" l="3993" r="89837"/>
                    </a14:imgEffect>
                  </a14:imgLayer>
                </a14:imgProps>
              </a:ext>
              <a:ext uri="{28A0092B-C50C-407E-A947-70E740481C1C}">
                <a14:useLocalDpi xmlns:a14="http://schemas.microsoft.com/office/drawing/2010/main" val="0"/>
              </a:ext>
            </a:extLst>
          </a:blip>
          <a:stretch>
            <a:fillRect/>
          </a:stretch>
        </p:blipFill>
        <p:spPr>
          <a:xfrm rot="9393960">
            <a:off x="5057885" y="4587005"/>
            <a:ext cx="1759833" cy="1260040"/>
          </a:xfrm>
          <a:prstGeom prst="rect">
            <a:avLst/>
          </a:prstGeom>
        </p:spPr>
      </p:pic>
      <p:pic>
        <p:nvPicPr>
          <p:cNvPr id="12" name="Picture 11"/>
          <p:cNvPicPr>
            <a:picLocks noChangeAspect="1"/>
          </p:cNvPicPr>
          <p:nvPr/>
        </p:nvPicPr>
        <p:blipFill>
          <a:blip r:embed="rId9" cstate="print">
            <a:extLst>
              <a:ext uri="{BEBA8EAE-BF5A-486C-A8C5-ECC9F3942E4B}">
                <a14:imgProps xmlns:a14="http://schemas.microsoft.com/office/drawing/2010/main">
                  <a14:imgLayer r:embed="rId10">
                    <a14:imgEffect>
                      <a14:backgroundRemoval t="9500" b="90000" l="10000" r="88667"/>
                    </a14:imgEffect>
                  </a14:imgLayer>
                </a14:imgProps>
              </a:ext>
              <a:ext uri="{28A0092B-C50C-407E-A947-70E740481C1C}">
                <a14:useLocalDpi xmlns:a14="http://schemas.microsoft.com/office/drawing/2010/main" val="0"/>
              </a:ext>
            </a:extLst>
          </a:blip>
          <a:stretch>
            <a:fillRect/>
          </a:stretch>
        </p:blipFill>
        <p:spPr>
          <a:xfrm>
            <a:off x="1258122" y="1332110"/>
            <a:ext cx="1825732" cy="1825732"/>
          </a:xfrm>
          <a:prstGeom prst="rect">
            <a:avLst/>
          </a:prstGeom>
        </p:spPr>
      </p:pic>
      <p:sp>
        <p:nvSpPr>
          <p:cNvPr id="13" name="Title 1"/>
          <p:cNvSpPr txBox="1">
            <a:spLocks/>
          </p:cNvSpPr>
          <p:nvPr/>
        </p:nvSpPr>
        <p:spPr>
          <a:xfrm>
            <a:off x="8525385" y="755656"/>
            <a:ext cx="1904421" cy="65568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sz="900" dirty="0" smtClean="0">
                <a:latin typeface="Times New Roman" panose="02020603050405020304" pitchFamily="18" charset="0"/>
                <a:cs typeface="Times New Roman" panose="02020603050405020304" pitchFamily="18" charset="0"/>
              </a:rPr>
              <a:t>Université</a:t>
            </a:r>
          </a:p>
          <a:p>
            <a:r>
              <a:rPr lang="fr-FR" sz="900" dirty="0" smtClean="0">
                <a:latin typeface="Times New Roman" panose="02020603050405020304" pitchFamily="18" charset="0"/>
                <a:cs typeface="Times New Roman" panose="02020603050405020304" pitchFamily="18" charset="0"/>
              </a:rPr>
              <a:t> Sultane Moulay Slimane</a:t>
            </a:r>
          </a:p>
        </p:txBody>
      </p:sp>
      <p:sp>
        <p:nvSpPr>
          <p:cNvPr id="14" name="Title 1"/>
          <p:cNvSpPr txBox="1">
            <a:spLocks/>
          </p:cNvSpPr>
          <p:nvPr/>
        </p:nvSpPr>
        <p:spPr>
          <a:xfrm>
            <a:off x="10287619" y="636038"/>
            <a:ext cx="1904421" cy="655684"/>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sz="900" dirty="0">
                <a:latin typeface="Times New Roman" panose="02020603050405020304" pitchFamily="18" charset="0"/>
                <a:cs typeface="Times New Roman" panose="02020603050405020304" pitchFamily="18" charset="0"/>
              </a:rPr>
              <a:t>Faculté </a:t>
            </a:r>
            <a:r>
              <a:rPr lang="fr-FR" sz="900" dirty="0" err="1">
                <a:latin typeface="Times New Roman" panose="02020603050405020304" pitchFamily="18" charset="0"/>
                <a:cs typeface="Times New Roman" panose="02020603050405020304" pitchFamily="18" charset="0"/>
              </a:rPr>
              <a:t>Polydiscplinaire</a:t>
            </a:r>
            <a:r>
              <a:rPr lang="fr-FR" sz="900" dirty="0">
                <a:latin typeface="Times New Roman" panose="02020603050405020304" pitchFamily="18" charset="0"/>
                <a:cs typeface="Times New Roman" panose="02020603050405020304" pitchFamily="18" charset="0"/>
              </a:rPr>
              <a:t> Khouribga</a:t>
            </a:r>
            <a:endParaRPr lang="en-GB" sz="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108262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PLAN</a:t>
            </a:r>
            <a:endParaRPr lang="en-GB" b="1" dirty="0"/>
          </a:p>
        </p:txBody>
      </p:sp>
      <p:sp>
        <p:nvSpPr>
          <p:cNvPr id="3" name="Content Placeholder 2"/>
          <p:cNvSpPr>
            <a:spLocks noGrp="1"/>
          </p:cNvSpPr>
          <p:nvPr>
            <p:ph idx="1"/>
          </p:nvPr>
        </p:nvSpPr>
        <p:spPr/>
        <p:txBody>
          <a:bodyPr>
            <a:normAutofit fontScale="92500" lnSpcReduction="10000"/>
          </a:bodyPr>
          <a:lstStyle/>
          <a:p>
            <a:r>
              <a:rPr lang="en-US" b="1" dirty="0" smtClean="0">
                <a:latin typeface="Times New Roman" panose="02020603050405020304" pitchFamily="18" charset="0"/>
                <a:cs typeface="Times New Roman" panose="02020603050405020304" pitchFamily="18" charset="0"/>
              </a:rPr>
              <a:t>Introduction</a:t>
            </a:r>
          </a:p>
          <a:p>
            <a:r>
              <a:rPr lang="en-US" b="1" dirty="0" err="1" smtClean="0">
                <a:latin typeface="Times New Roman" panose="02020603050405020304" pitchFamily="18" charset="0"/>
                <a:ea typeface="+mj-lt"/>
                <a:cs typeface="Times New Roman" panose="02020603050405020304" pitchFamily="18" charset="0"/>
              </a:rPr>
              <a:t>Historique</a:t>
            </a:r>
            <a:endParaRPr lang="en-US" b="1" dirty="0" smtClean="0">
              <a:latin typeface="Times New Roman" panose="02020603050405020304" pitchFamily="18" charset="0"/>
              <a:ea typeface="+mj-lt"/>
              <a:cs typeface="Times New Roman" panose="02020603050405020304" pitchFamily="18" charset="0"/>
            </a:endParaRPr>
          </a:p>
          <a:p>
            <a:r>
              <a:rPr lang="en-US" b="1" dirty="0">
                <a:latin typeface="Times New Roman" panose="02020603050405020304" pitchFamily="18" charset="0"/>
                <a:ea typeface="+mj-lt"/>
                <a:cs typeface="Times New Roman" panose="02020603050405020304" pitchFamily="18" charset="0"/>
              </a:rPr>
              <a:t>Description et </a:t>
            </a:r>
            <a:r>
              <a:rPr lang="en-US" b="1" dirty="0" err="1" smtClean="0">
                <a:latin typeface="Times New Roman" panose="02020603050405020304" pitchFamily="18" charset="0"/>
                <a:ea typeface="+mj-lt"/>
                <a:cs typeface="Times New Roman" panose="02020603050405020304" pitchFamily="18" charset="0"/>
              </a:rPr>
              <a:t>Symbole</a:t>
            </a:r>
            <a:endParaRPr lang="en-US" b="1" dirty="0" smtClean="0">
              <a:latin typeface="Times New Roman" panose="02020603050405020304" pitchFamily="18" charset="0"/>
              <a:ea typeface="+mj-lt"/>
              <a:cs typeface="Times New Roman" panose="02020603050405020304" pitchFamily="18" charset="0"/>
            </a:endParaRPr>
          </a:p>
          <a:p>
            <a:r>
              <a:rPr lang="en-US" b="1" dirty="0">
                <a:latin typeface="Times New Roman" panose="02020603050405020304" pitchFamily="18" charset="0"/>
                <a:ea typeface="+mj-lt"/>
                <a:cs typeface="Times New Roman" panose="02020603050405020304" pitchFamily="18" charset="0"/>
              </a:rPr>
              <a:t>Types du </a:t>
            </a:r>
            <a:r>
              <a:rPr lang="en-US" b="1" dirty="0" smtClean="0">
                <a:latin typeface="Times New Roman" panose="02020603050405020304" pitchFamily="18" charset="0"/>
                <a:ea typeface="+mj-lt"/>
                <a:cs typeface="Times New Roman" panose="02020603050405020304" pitchFamily="18" charset="0"/>
              </a:rPr>
              <a:t>transistor</a:t>
            </a:r>
          </a:p>
          <a:p>
            <a:r>
              <a:rPr lang="en-US" b="1" dirty="0">
                <a:latin typeface="Times New Roman" panose="02020603050405020304" pitchFamily="18" charset="0"/>
                <a:ea typeface="+mj-lt"/>
                <a:cs typeface="Times New Roman" panose="02020603050405020304" pitchFamily="18" charset="0"/>
              </a:rPr>
              <a:t>Composition </a:t>
            </a:r>
            <a:r>
              <a:rPr lang="en-US" b="1" dirty="0" smtClean="0">
                <a:latin typeface="Times New Roman" panose="02020603050405020304" pitchFamily="18" charset="0"/>
                <a:ea typeface="+mj-lt"/>
                <a:cs typeface="Times New Roman" panose="02020603050405020304" pitchFamily="18" charset="0"/>
              </a:rPr>
              <a:t>interne</a:t>
            </a:r>
          </a:p>
          <a:p>
            <a:r>
              <a:rPr lang="fr-FR" b="1" dirty="0">
                <a:latin typeface="Times New Roman" panose="02020603050405020304" pitchFamily="18" charset="0"/>
                <a:cs typeface="Times New Roman" panose="02020603050405020304" pitchFamily="18" charset="0"/>
              </a:rPr>
              <a:t>Fonctionnement et </a:t>
            </a:r>
            <a:r>
              <a:rPr lang="fr-FR" b="1" dirty="0" smtClean="0">
                <a:latin typeface="Times New Roman" panose="02020603050405020304" pitchFamily="18" charset="0"/>
                <a:cs typeface="Times New Roman" panose="02020603050405020304" pitchFamily="18" charset="0"/>
              </a:rPr>
              <a:t>caractéristique</a:t>
            </a:r>
          </a:p>
          <a:p>
            <a:r>
              <a:rPr lang="fr-FR" b="1" dirty="0" smtClean="0">
                <a:latin typeface="Times New Roman" panose="02020603050405020304" pitchFamily="18" charset="0"/>
                <a:cs typeface="Times New Roman" panose="02020603050405020304" pitchFamily="18" charset="0"/>
              </a:rPr>
              <a:t>Utilisation</a:t>
            </a:r>
          </a:p>
          <a:p>
            <a:r>
              <a:rPr lang="fr-FR" b="1" dirty="0" smtClean="0">
                <a:latin typeface="Times New Roman" panose="02020603050405020304" pitchFamily="18" charset="0"/>
                <a:ea typeface="+mj-lt"/>
                <a:cs typeface="Times New Roman" panose="02020603050405020304" pitchFamily="18" charset="0"/>
              </a:rPr>
              <a:t>Nomenclature</a:t>
            </a:r>
          </a:p>
          <a:p>
            <a:r>
              <a:rPr lang="fr-FR" b="1" dirty="0" smtClean="0">
                <a:latin typeface="Times New Roman" panose="02020603050405020304" pitchFamily="18" charset="0"/>
                <a:ea typeface="+mj-lt"/>
                <a:cs typeface="Times New Roman" panose="02020603050405020304" pitchFamily="18" charset="0"/>
              </a:rPr>
              <a:t>Conclusion</a:t>
            </a:r>
            <a:endParaRPr lang="fr-FR" b="1" dirty="0">
              <a:latin typeface="Times New Roman" panose="02020603050405020304" pitchFamily="18" charset="0"/>
              <a:ea typeface="+mj-lt"/>
              <a:cs typeface="Times New Roman" panose="02020603050405020304" pitchFamily="18" charset="0"/>
            </a:endParaRPr>
          </a:p>
          <a:p>
            <a:endParaRPr lang="fr-FR" dirty="0">
              <a:ea typeface="+mj-lt"/>
              <a:cs typeface="+mj-lt"/>
            </a:endParaRPr>
          </a:p>
          <a:p>
            <a:endParaRPr lang="en-GB" dirty="0"/>
          </a:p>
        </p:txBody>
      </p:sp>
    </p:spTree>
    <p:extLst>
      <p:ext uri="{BB962C8B-B14F-4D97-AF65-F5344CB8AC3E}">
        <p14:creationId xmlns:p14="http://schemas.microsoft.com/office/powerpoint/2010/main" val="1101698037"/>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
        <p:cNvGrpSpPr/>
        <p:nvPr/>
      </p:nvGrpSpPr>
      <p:grpSpPr>
        <a:xfrm>
          <a:off x="0" y="0"/>
          <a:ext cx="0" cy="0"/>
          <a:chOff x="0" y="0"/>
          <a:chExt cx="0" cy="0"/>
        </a:xfrm>
      </p:grpSpPr>
      <p:sp>
        <p:nvSpPr>
          <p:cNvPr id="18" name="Google Shape;18;p1"/>
          <p:cNvSpPr txBox="1">
            <a:spLocks noGrp="1"/>
          </p:cNvSpPr>
          <p:nvPr>
            <p:ph type="title"/>
          </p:nvPr>
        </p:nvSpPr>
        <p:spPr>
          <a:xfrm>
            <a:off x="1371600" y="531254"/>
            <a:ext cx="9601200" cy="6663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89000"/>
              </a:lnSpc>
              <a:spcBef>
                <a:spcPts val="0"/>
              </a:spcBef>
              <a:spcAft>
                <a:spcPts val="0"/>
              </a:spcAft>
              <a:buClr>
                <a:schemeClr val="dk2"/>
              </a:buClr>
              <a:buSzPct val="100000"/>
              <a:buFont typeface="Libre Franklin"/>
              <a:buNone/>
            </a:pPr>
            <a:r>
              <a:rPr lang="en-US" dirty="0"/>
              <a:t>Introduction</a:t>
            </a:r>
            <a:endParaRPr dirty="0"/>
          </a:p>
        </p:txBody>
      </p:sp>
      <p:sp>
        <p:nvSpPr>
          <p:cNvPr id="19" name="Google Shape;19;p1"/>
          <p:cNvSpPr txBox="1">
            <a:spLocks noGrp="1"/>
          </p:cNvSpPr>
          <p:nvPr>
            <p:ph type="body" idx="1"/>
          </p:nvPr>
        </p:nvSpPr>
        <p:spPr>
          <a:xfrm>
            <a:off x="1371600" y="2020652"/>
            <a:ext cx="9601200" cy="3581400"/>
          </a:xfrm>
          <a:prstGeom prst="rect">
            <a:avLst/>
          </a:prstGeom>
          <a:noFill/>
          <a:ln>
            <a:noFill/>
          </a:ln>
        </p:spPr>
        <p:txBody>
          <a:bodyPr spcFirstLastPara="1" wrap="square" lIns="91425" tIns="45700" rIns="91425" bIns="45700" anchor="t" anchorCtr="0">
            <a:normAutofit/>
          </a:bodyPr>
          <a:lstStyle/>
          <a:p>
            <a:pPr marL="383540" lvl="0" indent="-383540" algn="just" rtl="0">
              <a:lnSpc>
                <a:spcPct val="150000"/>
              </a:lnSpc>
              <a:spcBef>
                <a:spcPts val="0"/>
              </a:spcBef>
              <a:spcAft>
                <a:spcPts val="0"/>
              </a:spcAft>
              <a:buClr>
                <a:schemeClr val="dk2"/>
              </a:buClr>
              <a:buSzPts val="2000"/>
              <a:buChar char="■"/>
            </a:pPr>
            <a:r>
              <a:rPr lang="en-US" dirty="0">
                <a:latin typeface="Times New Roman"/>
                <a:ea typeface="Times New Roman"/>
                <a:cs typeface="Times New Roman"/>
                <a:sym typeface="Times New Roman"/>
              </a:rPr>
              <a:t>Le </a:t>
            </a:r>
            <a:r>
              <a:rPr lang="en-US" dirty="0" err="1">
                <a:latin typeface="Times New Roman"/>
                <a:ea typeface="Times New Roman"/>
                <a:cs typeface="Times New Roman"/>
                <a:sym typeface="Times New Roman"/>
              </a:rPr>
              <a:t>progrès</a:t>
            </a: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technologique</a:t>
            </a: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auquel</a:t>
            </a:r>
            <a:r>
              <a:rPr lang="en-US" dirty="0">
                <a:latin typeface="Times New Roman"/>
                <a:ea typeface="Times New Roman"/>
                <a:cs typeface="Times New Roman"/>
                <a:sym typeface="Times New Roman"/>
              </a:rPr>
              <a:t> le monde </a:t>
            </a:r>
            <a:r>
              <a:rPr lang="en-US" dirty="0" err="1">
                <a:latin typeface="Times New Roman"/>
                <a:ea typeface="Times New Roman"/>
                <a:cs typeface="Times New Roman"/>
                <a:sym typeface="Times New Roman"/>
              </a:rPr>
              <a:t>assiste</a:t>
            </a: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aujourd'hui</a:t>
            </a: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est</a:t>
            </a:r>
            <a:r>
              <a:rPr lang="en-US" dirty="0">
                <a:latin typeface="Times New Roman"/>
                <a:ea typeface="Times New Roman"/>
                <a:cs typeface="Times New Roman"/>
                <a:sym typeface="Times New Roman"/>
              </a:rPr>
              <a:t> le fruit  </a:t>
            </a:r>
            <a:r>
              <a:rPr lang="en-US" dirty="0" err="1">
                <a:latin typeface="Times New Roman"/>
                <a:ea typeface="Times New Roman"/>
                <a:cs typeface="Times New Roman"/>
                <a:sym typeface="Times New Roman"/>
              </a:rPr>
              <a:t>d’apparition</a:t>
            </a:r>
            <a:r>
              <a:rPr lang="en-US" dirty="0">
                <a:latin typeface="Times New Roman"/>
                <a:ea typeface="Times New Roman"/>
                <a:cs typeface="Times New Roman"/>
                <a:sym typeface="Times New Roman"/>
              </a:rPr>
              <a:t> d’un </a:t>
            </a:r>
            <a:r>
              <a:rPr lang="en-US" dirty="0" err="1">
                <a:latin typeface="Times New Roman"/>
                <a:ea typeface="Times New Roman"/>
                <a:cs typeface="Times New Roman"/>
                <a:sym typeface="Times New Roman"/>
              </a:rPr>
              <a:t>composant</a:t>
            </a: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électronique</a:t>
            </a: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appelé</a:t>
            </a:r>
            <a:r>
              <a:rPr lang="en-US" dirty="0">
                <a:latin typeface="Times New Roman"/>
                <a:ea typeface="Times New Roman"/>
                <a:cs typeface="Times New Roman"/>
                <a:sym typeface="Times New Roman"/>
              </a:rPr>
              <a:t> le </a:t>
            </a:r>
            <a:r>
              <a:rPr lang="en-US" dirty="0" smtClean="0">
                <a:latin typeface="Times New Roman"/>
                <a:ea typeface="Times New Roman"/>
                <a:cs typeface="Times New Roman"/>
                <a:sym typeface="Times New Roman"/>
              </a:rPr>
              <a:t>transistor </a:t>
            </a:r>
            <a:r>
              <a:rPr lang="en-US" dirty="0" err="1" smtClean="0">
                <a:latin typeface="Times New Roman"/>
                <a:ea typeface="Times New Roman"/>
                <a:cs typeface="Times New Roman"/>
                <a:sym typeface="Times New Roman"/>
              </a:rPr>
              <a:t>bipolaire</a:t>
            </a:r>
            <a:r>
              <a:rPr lang="en-US" dirty="0" smtClean="0">
                <a:latin typeface="Times New Roman"/>
                <a:ea typeface="Times New Roman"/>
                <a:cs typeface="Times New Roman"/>
                <a:sym typeface="Times New Roman"/>
              </a:rPr>
              <a:t>, </a:t>
            </a:r>
            <a:r>
              <a:rPr lang="en-US" dirty="0">
                <a:latin typeface="Times New Roman"/>
                <a:ea typeface="Times New Roman"/>
                <a:cs typeface="Times New Roman"/>
                <a:sym typeface="Times New Roman"/>
              </a:rPr>
              <a:t>qui </a:t>
            </a:r>
            <a:r>
              <a:rPr lang="en-US" dirty="0" err="1">
                <a:latin typeface="Times New Roman"/>
                <a:ea typeface="Times New Roman"/>
                <a:cs typeface="Times New Roman"/>
                <a:sym typeface="Times New Roman"/>
              </a:rPr>
              <a:t>est</a:t>
            </a:r>
            <a:r>
              <a:rPr lang="en-US" dirty="0">
                <a:latin typeface="Times New Roman"/>
                <a:ea typeface="Times New Roman"/>
                <a:cs typeface="Times New Roman"/>
                <a:sym typeface="Times New Roman"/>
              </a:rPr>
              <a:t> </a:t>
            </a:r>
            <a:r>
              <a:rPr lang="fr-FR" dirty="0" smtClean="0">
                <a:latin typeface="Times New Roman"/>
                <a:ea typeface="Times New Roman"/>
                <a:cs typeface="Times New Roman"/>
                <a:sym typeface="Times New Roman"/>
              </a:rPr>
              <a:t>constitué</a:t>
            </a:r>
            <a:r>
              <a:rPr lang="en-US" dirty="0" smtClean="0">
                <a:latin typeface="Times New Roman"/>
                <a:ea typeface="Times New Roman"/>
                <a:cs typeface="Times New Roman"/>
                <a:sym typeface="Times New Roman"/>
              </a:rPr>
              <a:t> </a:t>
            </a:r>
            <a:r>
              <a:rPr lang="en-US" dirty="0">
                <a:latin typeface="Times New Roman"/>
                <a:ea typeface="Times New Roman"/>
                <a:cs typeface="Times New Roman"/>
                <a:sym typeface="Times New Roman"/>
              </a:rPr>
              <a:t>a</a:t>
            </a:r>
            <a:r>
              <a:rPr lang="en-US" dirty="0" smtClean="0">
                <a:latin typeface="Times New Roman"/>
                <a:ea typeface="Times New Roman"/>
                <a:cs typeface="Times New Roman"/>
                <a:sym typeface="Times New Roman"/>
              </a:rPr>
              <a:t> base de semi </a:t>
            </a:r>
            <a:r>
              <a:rPr lang="en-US" dirty="0" err="1" smtClean="0">
                <a:latin typeface="Times New Roman"/>
                <a:ea typeface="Times New Roman"/>
                <a:cs typeface="Times New Roman"/>
                <a:sym typeface="Times New Roman"/>
              </a:rPr>
              <a:t>conducteur</a:t>
            </a:r>
            <a:r>
              <a:rPr lang="en-US" dirty="0" smtClean="0">
                <a:latin typeface="Times New Roman"/>
                <a:ea typeface="Times New Roman"/>
                <a:cs typeface="Times New Roman"/>
                <a:sym typeface="Times New Roman"/>
              </a:rPr>
              <a:t> </a:t>
            </a:r>
            <a:r>
              <a:rPr lang="en-GB" dirty="0" smtClean="0">
                <a:latin typeface="Times New Roman"/>
                <a:ea typeface="Times New Roman"/>
                <a:cs typeface="Times New Roman"/>
                <a:sym typeface="Times New Roman"/>
              </a:rPr>
              <a:t>.Il </a:t>
            </a:r>
            <a:r>
              <a:rPr lang="en-GB" dirty="0" err="1" smtClean="0">
                <a:latin typeface="Times New Roman"/>
                <a:ea typeface="Times New Roman"/>
                <a:cs typeface="Times New Roman"/>
                <a:sym typeface="Times New Roman"/>
              </a:rPr>
              <a:t>est</a:t>
            </a:r>
            <a:r>
              <a:rPr lang="en-GB" dirty="0" smtClean="0">
                <a:latin typeface="Times New Roman"/>
                <a:ea typeface="Times New Roman"/>
                <a:cs typeface="Times New Roman"/>
                <a:sym typeface="Times New Roman"/>
              </a:rPr>
              <a:t> </a:t>
            </a:r>
            <a:r>
              <a:rPr lang="en-US" dirty="0" err="1" smtClean="0">
                <a:latin typeface="Times New Roman"/>
                <a:ea typeface="Times New Roman"/>
                <a:cs typeface="Times New Roman"/>
                <a:sym typeface="Times New Roman"/>
              </a:rPr>
              <a:t>considéré</a:t>
            </a:r>
            <a:r>
              <a:rPr lang="en-US" dirty="0" smtClean="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comme</a:t>
            </a:r>
            <a:r>
              <a:rPr lang="en-US" dirty="0">
                <a:latin typeface="Times New Roman"/>
                <a:ea typeface="Times New Roman"/>
                <a:cs typeface="Times New Roman"/>
                <a:sym typeface="Times New Roman"/>
              </a:rPr>
              <a:t> un </a:t>
            </a:r>
            <a:r>
              <a:rPr lang="en-US" dirty="0" err="1">
                <a:latin typeface="Times New Roman"/>
                <a:ea typeface="Times New Roman"/>
                <a:cs typeface="Times New Roman"/>
                <a:sym typeface="Times New Roman"/>
              </a:rPr>
              <a:t>élément</a:t>
            </a:r>
            <a:r>
              <a:rPr lang="en-US" dirty="0">
                <a:latin typeface="Times New Roman"/>
                <a:ea typeface="Times New Roman"/>
                <a:cs typeface="Times New Roman"/>
                <a:sym typeface="Times New Roman"/>
              </a:rPr>
              <a:t> de base de </a:t>
            </a:r>
            <a:r>
              <a:rPr lang="en-US" dirty="0" err="1">
                <a:latin typeface="Times New Roman"/>
                <a:ea typeface="Times New Roman"/>
                <a:cs typeface="Times New Roman"/>
                <a:sym typeface="Times New Roman"/>
              </a:rPr>
              <a:t>toutes</a:t>
            </a:r>
            <a:r>
              <a:rPr lang="en-US" dirty="0">
                <a:latin typeface="Times New Roman"/>
                <a:ea typeface="Times New Roman"/>
                <a:cs typeface="Times New Roman"/>
                <a:sym typeface="Times New Roman"/>
              </a:rPr>
              <a:t> les </a:t>
            </a:r>
            <a:r>
              <a:rPr lang="en-US" dirty="0" err="1">
                <a:latin typeface="Times New Roman"/>
                <a:ea typeface="Times New Roman"/>
                <a:cs typeface="Times New Roman"/>
                <a:sym typeface="Times New Roman"/>
              </a:rPr>
              <a:t>réalisations</a:t>
            </a:r>
            <a:r>
              <a:rPr lang="en-US" dirty="0">
                <a:latin typeface="Times New Roman"/>
                <a:ea typeface="Times New Roman"/>
                <a:cs typeface="Times New Roman"/>
                <a:sym typeface="Times New Roman"/>
              </a:rPr>
              <a:t> que le monde a </a:t>
            </a:r>
            <a:r>
              <a:rPr lang="en-US" dirty="0" err="1">
                <a:latin typeface="Times New Roman"/>
                <a:ea typeface="Times New Roman"/>
                <a:cs typeface="Times New Roman"/>
                <a:sym typeface="Times New Roman"/>
              </a:rPr>
              <a:t>atteint</a:t>
            </a: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dans</a:t>
            </a:r>
            <a:r>
              <a:rPr lang="en-US" dirty="0">
                <a:latin typeface="Times New Roman"/>
                <a:ea typeface="Times New Roman"/>
                <a:cs typeface="Times New Roman"/>
                <a:sym typeface="Times New Roman"/>
              </a:rPr>
              <a:t> le </a:t>
            </a:r>
            <a:r>
              <a:rPr lang="en-US" dirty="0" err="1">
                <a:latin typeface="Times New Roman"/>
                <a:ea typeface="Times New Roman"/>
                <a:cs typeface="Times New Roman"/>
                <a:sym typeface="Times New Roman"/>
              </a:rPr>
              <a:t>domaine</a:t>
            </a:r>
            <a:r>
              <a:rPr lang="en-US" dirty="0">
                <a:latin typeface="Times New Roman"/>
                <a:ea typeface="Times New Roman"/>
                <a:cs typeface="Times New Roman"/>
                <a:sym typeface="Times New Roman"/>
              </a:rPr>
              <a:t> </a:t>
            </a:r>
            <a:r>
              <a:rPr lang="en-US" dirty="0" err="1" smtClean="0">
                <a:latin typeface="Times New Roman"/>
                <a:ea typeface="Times New Roman"/>
                <a:cs typeface="Times New Roman"/>
                <a:sym typeface="Times New Roman"/>
              </a:rPr>
              <a:t>technologique</a:t>
            </a:r>
            <a:r>
              <a:rPr lang="en-US" dirty="0" smtClean="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c'est</a:t>
            </a:r>
            <a:r>
              <a:rPr lang="en-US" dirty="0">
                <a:latin typeface="Times New Roman"/>
                <a:ea typeface="Times New Roman"/>
                <a:cs typeface="Times New Roman"/>
                <a:sym typeface="Times New Roman"/>
              </a:rPr>
              <a:t> un </a:t>
            </a:r>
            <a:r>
              <a:rPr lang="en-US" dirty="0" err="1">
                <a:latin typeface="Times New Roman"/>
                <a:ea typeface="Times New Roman"/>
                <a:cs typeface="Times New Roman"/>
                <a:sym typeface="Times New Roman"/>
              </a:rPr>
              <a:t>élément</a:t>
            </a: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intrinsèque</a:t>
            </a:r>
            <a:r>
              <a:rPr lang="en-US" dirty="0">
                <a:latin typeface="Times New Roman"/>
                <a:ea typeface="Times New Roman"/>
                <a:cs typeface="Times New Roman"/>
                <a:sym typeface="Times New Roman"/>
              </a:rPr>
              <a:t> de </a:t>
            </a:r>
            <a:r>
              <a:rPr lang="en-US" dirty="0" err="1">
                <a:latin typeface="Times New Roman"/>
                <a:ea typeface="Times New Roman"/>
                <a:cs typeface="Times New Roman"/>
                <a:sym typeface="Times New Roman"/>
              </a:rPr>
              <a:t>tous</a:t>
            </a:r>
            <a:r>
              <a:rPr lang="en-US" dirty="0">
                <a:latin typeface="Times New Roman"/>
                <a:ea typeface="Times New Roman"/>
                <a:cs typeface="Times New Roman"/>
                <a:sym typeface="Times New Roman"/>
              </a:rPr>
              <a:t> les </a:t>
            </a:r>
            <a:r>
              <a:rPr lang="en-US" dirty="0" err="1">
                <a:latin typeface="Times New Roman"/>
                <a:ea typeface="Times New Roman"/>
                <a:cs typeface="Times New Roman"/>
                <a:sym typeface="Times New Roman"/>
              </a:rPr>
              <a:t>appareils</a:t>
            </a: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électroniques</a:t>
            </a: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qu'on</a:t>
            </a: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utilise</a:t>
            </a: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quotidiennement</a:t>
            </a:r>
            <a:r>
              <a:rPr lang="en-US" dirty="0">
                <a:latin typeface="Times New Roman"/>
                <a:ea typeface="Times New Roman"/>
                <a:cs typeface="Times New Roman"/>
                <a:sym typeface="Times New Roman"/>
              </a:rPr>
              <a:t> et </a:t>
            </a:r>
            <a:r>
              <a:rPr lang="en-US" dirty="0" err="1">
                <a:latin typeface="Times New Roman"/>
                <a:ea typeface="Times New Roman"/>
                <a:cs typeface="Times New Roman"/>
                <a:sym typeface="Times New Roman"/>
              </a:rPr>
              <a:t>comme</a:t>
            </a: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certains</a:t>
            </a: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sont</a:t>
            </a:r>
            <a:r>
              <a:rPr lang="en-US" dirty="0">
                <a:latin typeface="Times New Roman"/>
                <a:ea typeface="Times New Roman"/>
                <a:cs typeface="Times New Roman"/>
                <a:sym typeface="Times New Roman"/>
              </a:rPr>
              <a:t> indispensables </a:t>
            </a:r>
            <a:r>
              <a:rPr lang="en-US" dirty="0" err="1">
                <a:latin typeface="Times New Roman"/>
                <a:ea typeface="Times New Roman"/>
                <a:cs typeface="Times New Roman"/>
                <a:sym typeface="Times New Roman"/>
              </a:rPr>
              <a:t>dans</a:t>
            </a: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notre</a:t>
            </a:r>
            <a:r>
              <a:rPr lang="en-US" dirty="0">
                <a:latin typeface="Times New Roman"/>
                <a:ea typeface="Times New Roman"/>
                <a:cs typeface="Times New Roman"/>
                <a:sym typeface="Times New Roman"/>
              </a:rPr>
              <a:t> vie.</a:t>
            </a:r>
            <a:endParaRPr dirty="0"/>
          </a:p>
        </p:txBody>
      </p:sp>
    </p:spTree>
  </p:cSld>
  <p:clrMapOvr>
    <a:masterClrMapping/>
  </p:clrMapOvr>
  <p:transition spd="slow">
    <p:wip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8A798E5-8A9C-112F-BD3C-E174275984C1}"/>
              </a:ext>
            </a:extLst>
          </p:cNvPr>
          <p:cNvSpPr>
            <a:spLocks noGrp="1"/>
          </p:cNvSpPr>
          <p:nvPr>
            <p:ph type="title"/>
          </p:nvPr>
        </p:nvSpPr>
        <p:spPr>
          <a:xfrm>
            <a:off x="1371600" y="685800"/>
            <a:ext cx="9601200" cy="643082"/>
          </a:xfrm>
        </p:spPr>
        <p:txBody>
          <a:bodyPr>
            <a:normAutofit fontScale="90000"/>
          </a:bodyPr>
          <a:lstStyle/>
          <a:p>
            <a:r>
              <a:rPr lang="en-US" dirty="0" err="1">
                <a:ea typeface="+mj-lt"/>
                <a:cs typeface="+mj-lt"/>
              </a:rPr>
              <a:t>Historique</a:t>
            </a:r>
            <a:endParaRPr lang="fr-FR" dirty="0" err="1"/>
          </a:p>
        </p:txBody>
      </p:sp>
      <p:sp>
        <p:nvSpPr>
          <p:cNvPr id="3" name="Espace réservé du contenu 2">
            <a:extLst>
              <a:ext uri="{FF2B5EF4-FFF2-40B4-BE49-F238E27FC236}">
                <a16:creationId xmlns:a16="http://schemas.microsoft.com/office/drawing/2014/main" id="{C9D60958-EB00-B8C7-2B60-385164B5BD6C}"/>
              </a:ext>
            </a:extLst>
          </p:cNvPr>
          <p:cNvSpPr>
            <a:spLocks noGrp="1"/>
          </p:cNvSpPr>
          <p:nvPr>
            <p:ph idx="1"/>
          </p:nvPr>
        </p:nvSpPr>
        <p:spPr>
          <a:xfrm>
            <a:off x="1371600" y="1524000"/>
            <a:ext cx="7488382" cy="1201295"/>
          </a:xfrm>
        </p:spPr>
        <p:txBody>
          <a:bodyPr vert="horz" lIns="91440" tIns="45720" rIns="91440" bIns="45720" rtlCol="0" anchor="t">
            <a:normAutofit lnSpcReduction="10000"/>
          </a:bodyPr>
          <a:lstStyle/>
          <a:p>
            <a:pPr marL="383540" indent="-383540" algn="just">
              <a:buFont typeface="Franklin Gothic Book"/>
            </a:pPr>
            <a:r>
              <a:rPr lang="fr-FR" dirty="0">
                <a:latin typeface="Times New Roman"/>
                <a:ea typeface="+mn-lt"/>
                <a:cs typeface="+mn-lt"/>
              </a:rPr>
              <a:t>1947 : John BARDEEN et Walter BRATTAIN inventent le transistor à contact (transistor) au laboratoire de physique de la société BELL (USA). Cette découverte est annoncée en juillet 1948. </a:t>
            </a:r>
            <a:endParaRPr lang="fr-FR" dirty="0">
              <a:latin typeface="Times New Roman"/>
              <a:cs typeface="Times New Roman"/>
            </a:endParaRPr>
          </a:p>
        </p:txBody>
      </p:sp>
      <p:sp>
        <p:nvSpPr>
          <p:cNvPr id="7" name="Espace réservé du contenu 2">
            <a:extLst>
              <a:ext uri="{FF2B5EF4-FFF2-40B4-BE49-F238E27FC236}">
                <a16:creationId xmlns:a16="http://schemas.microsoft.com/office/drawing/2014/main" id="{16551E8E-B8DA-B71F-1CFE-50C8EF1FBA4C}"/>
              </a:ext>
            </a:extLst>
          </p:cNvPr>
          <p:cNvSpPr txBox="1">
            <a:spLocks/>
          </p:cNvSpPr>
          <p:nvPr/>
        </p:nvSpPr>
        <p:spPr>
          <a:xfrm>
            <a:off x="4047226" y="3158792"/>
            <a:ext cx="7488383" cy="1259022"/>
          </a:xfrm>
          <a:prstGeom prst="rect">
            <a:avLst/>
          </a:prstGeom>
        </p:spPr>
        <p:txBody>
          <a:bodyPr vert="horz" lIns="91440" tIns="45720" rIns="91440" bIns="45720" rtlCol="0" anchor="t">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383540" indent="-383540" algn="just">
              <a:buFont typeface="Franklin Gothic Book"/>
              <a:buChar char="■"/>
            </a:pPr>
            <a:r>
              <a:rPr lang="fr-FR" dirty="0">
                <a:latin typeface="Times New Roman"/>
                <a:ea typeface="+mn-lt"/>
                <a:cs typeface="+mn-lt"/>
              </a:rPr>
              <a:t>1948 : Herbert MATARE et Heinrich WELKER inventent (indépendamment de BELL) aussi le transistor à contact en juin 1948 (en France). Ce transistor sera appelé le </a:t>
            </a:r>
            <a:r>
              <a:rPr lang="fr-FR" dirty="0" err="1">
                <a:latin typeface="Times New Roman"/>
                <a:ea typeface="+mn-lt"/>
                <a:cs typeface="+mn-lt"/>
              </a:rPr>
              <a:t>Transistron</a:t>
            </a:r>
            <a:r>
              <a:rPr lang="fr-FR" dirty="0">
                <a:latin typeface="Times New Roman"/>
                <a:ea typeface="+mn-lt"/>
                <a:cs typeface="+mn-lt"/>
              </a:rPr>
              <a:t> pour le distinguer de celui de BELL</a:t>
            </a:r>
            <a:endParaRPr lang="fr-FR" dirty="0">
              <a:latin typeface="Times New Roman"/>
              <a:cs typeface="Times New Roman"/>
            </a:endParaRPr>
          </a:p>
        </p:txBody>
      </p:sp>
      <p:sp>
        <p:nvSpPr>
          <p:cNvPr id="8" name="Espace réservé du contenu 2">
            <a:extLst>
              <a:ext uri="{FF2B5EF4-FFF2-40B4-BE49-F238E27FC236}">
                <a16:creationId xmlns:a16="http://schemas.microsoft.com/office/drawing/2014/main" id="{72D98558-603D-A057-0D50-F12C7CABEA0A}"/>
              </a:ext>
            </a:extLst>
          </p:cNvPr>
          <p:cNvSpPr txBox="1">
            <a:spLocks/>
          </p:cNvSpPr>
          <p:nvPr/>
        </p:nvSpPr>
        <p:spPr>
          <a:xfrm>
            <a:off x="1374779" y="5168573"/>
            <a:ext cx="7476837" cy="993477"/>
          </a:xfrm>
          <a:prstGeom prst="rect">
            <a:avLst/>
          </a:prstGeom>
        </p:spPr>
        <p:txBody>
          <a:bodyPr vert="horz" lIns="91440" tIns="45720" rIns="91440" bIns="45720" rtlCol="0" anchor="t">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383540" indent="-383540" algn="just">
              <a:buFont typeface="Franklin Gothic Book"/>
              <a:buChar char="■"/>
            </a:pPr>
            <a:r>
              <a:rPr lang="en-US" dirty="0">
                <a:latin typeface="Times New Roman"/>
                <a:ea typeface="+mn-lt"/>
                <a:cs typeface="+mn-lt"/>
              </a:rPr>
              <a:t>1948 : </a:t>
            </a:r>
            <a:r>
              <a:rPr lang="en-US" dirty="0" err="1">
                <a:latin typeface="Times New Roman"/>
                <a:ea typeface="+mn-lt"/>
                <a:cs typeface="+mn-lt"/>
              </a:rPr>
              <a:t>en</a:t>
            </a:r>
            <a:r>
              <a:rPr lang="en-US" dirty="0">
                <a:latin typeface="Times New Roman"/>
                <a:ea typeface="+mn-lt"/>
                <a:cs typeface="+mn-lt"/>
              </a:rPr>
              <a:t> </a:t>
            </a:r>
            <a:r>
              <a:rPr lang="en-US" dirty="0" err="1">
                <a:latin typeface="Times New Roman"/>
                <a:ea typeface="+mn-lt"/>
                <a:cs typeface="+mn-lt"/>
              </a:rPr>
              <a:t>janvier</a:t>
            </a:r>
            <a:r>
              <a:rPr lang="en-US" dirty="0">
                <a:latin typeface="Times New Roman"/>
                <a:ea typeface="+mn-lt"/>
                <a:cs typeface="+mn-lt"/>
              </a:rPr>
              <a:t> William SHOCKLEY </a:t>
            </a:r>
            <a:r>
              <a:rPr lang="en-US" dirty="0" err="1">
                <a:latin typeface="Times New Roman"/>
                <a:ea typeface="+mn-lt"/>
                <a:cs typeface="+mn-lt"/>
              </a:rPr>
              <a:t>invente</a:t>
            </a:r>
            <a:r>
              <a:rPr lang="en-US" dirty="0">
                <a:latin typeface="Times New Roman"/>
                <a:ea typeface="+mn-lt"/>
                <a:cs typeface="+mn-lt"/>
              </a:rPr>
              <a:t> le transistor à </a:t>
            </a:r>
            <a:r>
              <a:rPr lang="en-US" dirty="0" err="1">
                <a:latin typeface="Times New Roman"/>
                <a:ea typeface="+mn-lt"/>
                <a:cs typeface="+mn-lt"/>
              </a:rPr>
              <a:t>jonction</a:t>
            </a:r>
            <a:r>
              <a:rPr lang="en-US" dirty="0">
                <a:latin typeface="Times New Roman"/>
                <a:ea typeface="+mn-lt"/>
                <a:cs typeface="+mn-lt"/>
              </a:rPr>
              <a:t> (</a:t>
            </a:r>
            <a:r>
              <a:rPr lang="en-US" dirty="0" err="1">
                <a:latin typeface="Times New Roman"/>
                <a:ea typeface="+mn-lt"/>
                <a:cs typeface="+mn-lt"/>
              </a:rPr>
              <a:t>bipolaire</a:t>
            </a:r>
            <a:r>
              <a:rPr lang="en-US" dirty="0">
                <a:latin typeface="Times New Roman"/>
                <a:ea typeface="+mn-lt"/>
                <a:cs typeface="+mn-lt"/>
              </a:rPr>
              <a:t>) </a:t>
            </a:r>
            <a:r>
              <a:rPr lang="en-US" dirty="0" err="1">
                <a:latin typeface="Times New Roman"/>
                <a:ea typeface="+mn-lt"/>
                <a:cs typeface="+mn-lt"/>
              </a:rPr>
              <a:t>mais</a:t>
            </a:r>
            <a:r>
              <a:rPr lang="en-US" dirty="0">
                <a:latin typeface="Times New Roman"/>
                <a:ea typeface="+mn-lt"/>
                <a:cs typeface="+mn-lt"/>
              </a:rPr>
              <a:t> la technique de fabrication ne sera </a:t>
            </a:r>
            <a:r>
              <a:rPr lang="en-US" dirty="0" err="1">
                <a:latin typeface="Times New Roman"/>
                <a:ea typeface="+mn-lt"/>
                <a:cs typeface="+mn-lt"/>
              </a:rPr>
              <a:t>maitrisée</a:t>
            </a:r>
            <a:r>
              <a:rPr lang="en-US" dirty="0">
                <a:latin typeface="Times New Roman"/>
                <a:ea typeface="+mn-lt"/>
                <a:cs typeface="+mn-lt"/>
              </a:rPr>
              <a:t> </a:t>
            </a:r>
            <a:r>
              <a:rPr lang="en-US" dirty="0" err="1">
                <a:latin typeface="Times New Roman"/>
                <a:ea typeface="+mn-lt"/>
                <a:cs typeface="+mn-lt"/>
              </a:rPr>
              <a:t>qu’en</a:t>
            </a:r>
            <a:r>
              <a:rPr lang="en-US" dirty="0">
                <a:latin typeface="Times New Roman"/>
                <a:ea typeface="+mn-lt"/>
                <a:cs typeface="+mn-lt"/>
              </a:rPr>
              <a:t> 1951</a:t>
            </a:r>
            <a:endParaRPr lang="fr-FR" dirty="0">
              <a:latin typeface="Times New Roman"/>
              <a:ea typeface="+mn-lt"/>
              <a:cs typeface="+mn-lt"/>
            </a:endParaRPr>
          </a:p>
          <a:p>
            <a:pPr marL="383540" indent="-383540" algn="just">
              <a:buFont typeface="Franklin Gothic Book"/>
              <a:buChar char="■"/>
            </a:pPr>
            <a:endParaRPr lang="fr-FR" dirty="0">
              <a:latin typeface="Times New Roman"/>
              <a:ea typeface="+mn-lt"/>
              <a:cs typeface="+mn-lt"/>
            </a:endParaRPr>
          </a:p>
        </p:txBody>
      </p:sp>
      <p:pic>
        <p:nvPicPr>
          <p:cNvPr id="9" name="Image 9" descr="Une image contenant objets métalliques&#10;&#10;Description générée automatiquement">
            <a:extLst>
              <a:ext uri="{FF2B5EF4-FFF2-40B4-BE49-F238E27FC236}">
                <a16:creationId xmlns:a16="http://schemas.microsoft.com/office/drawing/2014/main" id="{9279582F-B148-0E95-E6D4-3EDBB2C1FE3A}"/>
              </a:ext>
            </a:extLst>
          </p:cNvPr>
          <p:cNvPicPr>
            <a:picLocks noChangeAspect="1"/>
          </p:cNvPicPr>
          <p:nvPr/>
        </p:nvPicPr>
        <p:blipFill>
          <a:blip r:embed="rId2"/>
          <a:stretch>
            <a:fillRect/>
          </a:stretch>
        </p:blipFill>
        <p:spPr>
          <a:xfrm>
            <a:off x="9277988" y="1005053"/>
            <a:ext cx="1926098" cy="1550903"/>
          </a:xfrm>
          <a:prstGeom prst="rect">
            <a:avLst/>
          </a:prstGeom>
        </p:spPr>
      </p:pic>
      <p:pic>
        <p:nvPicPr>
          <p:cNvPr id="10" name="Image 10">
            <a:extLst>
              <a:ext uri="{FF2B5EF4-FFF2-40B4-BE49-F238E27FC236}">
                <a16:creationId xmlns:a16="http://schemas.microsoft.com/office/drawing/2014/main" id="{016B3A84-E7B5-DEBA-3C4B-B012B12D8C75}"/>
              </a:ext>
            </a:extLst>
          </p:cNvPr>
          <p:cNvPicPr>
            <a:picLocks noChangeAspect="1"/>
          </p:cNvPicPr>
          <p:nvPr/>
        </p:nvPicPr>
        <p:blipFill>
          <a:blip r:embed="rId3"/>
          <a:stretch>
            <a:fillRect/>
          </a:stretch>
        </p:blipFill>
        <p:spPr>
          <a:xfrm>
            <a:off x="1945866" y="2875330"/>
            <a:ext cx="1958110" cy="1546727"/>
          </a:xfrm>
          <a:prstGeom prst="rect">
            <a:avLst/>
          </a:prstGeom>
        </p:spPr>
      </p:pic>
      <p:pic>
        <p:nvPicPr>
          <p:cNvPr id="11" name="Image 11" descr="Une image contenant texte&#10;&#10;Description générée automatiquement">
            <a:extLst>
              <a:ext uri="{FF2B5EF4-FFF2-40B4-BE49-F238E27FC236}">
                <a16:creationId xmlns:a16="http://schemas.microsoft.com/office/drawing/2014/main" id="{BB25B6AB-39D4-5D15-53E4-29DCB1A7AB6D}"/>
              </a:ext>
            </a:extLst>
          </p:cNvPr>
          <p:cNvPicPr>
            <a:picLocks noChangeAspect="1"/>
          </p:cNvPicPr>
          <p:nvPr/>
        </p:nvPicPr>
        <p:blipFill>
          <a:blip r:embed="rId4"/>
          <a:stretch>
            <a:fillRect/>
          </a:stretch>
        </p:blipFill>
        <p:spPr>
          <a:xfrm>
            <a:off x="9273308" y="4785515"/>
            <a:ext cx="1911928" cy="1547026"/>
          </a:xfrm>
          <a:prstGeom prst="rect">
            <a:avLst/>
          </a:prstGeom>
        </p:spPr>
      </p:pic>
      <p:sp>
        <p:nvSpPr>
          <p:cNvPr id="13" name="ZoneTexte 1">
            <a:extLst>
              <a:ext uri="{FF2B5EF4-FFF2-40B4-BE49-F238E27FC236}">
                <a16:creationId xmlns:a16="http://schemas.microsoft.com/office/drawing/2014/main" id="{25130612-8032-491E-00BF-D71B42F78184}"/>
              </a:ext>
            </a:extLst>
          </p:cNvPr>
          <p:cNvSpPr txBox="1"/>
          <p:nvPr/>
        </p:nvSpPr>
        <p:spPr>
          <a:xfrm>
            <a:off x="2205181" y="4537364"/>
            <a:ext cx="1431637" cy="30777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rtl="0">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1400" dirty="0" err="1">
                <a:latin typeface="Times New Roman"/>
                <a:ea typeface="+mn-lt"/>
                <a:cs typeface="+mn-lt"/>
              </a:rPr>
              <a:t>Transistron</a:t>
            </a:r>
            <a:r>
              <a:rPr lang="fr-FR" sz="1400" dirty="0">
                <a:latin typeface="Times New Roman"/>
                <a:ea typeface="+mn-lt"/>
                <a:cs typeface="+mn-lt"/>
              </a:rPr>
              <a:t> 1948</a:t>
            </a:r>
          </a:p>
        </p:txBody>
      </p:sp>
      <p:sp>
        <p:nvSpPr>
          <p:cNvPr id="14" name="ZoneTexte 1">
            <a:extLst>
              <a:ext uri="{FF2B5EF4-FFF2-40B4-BE49-F238E27FC236}">
                <a16:creationId xmlns:a16="http://schemas.microsoft.com/office/drawing/2014/main" id="{25130612-8032-491E-00BF-D71B42F78184}"/>
              </a:ext>
            </a:extLst>
          </p:cNvPr>
          <p:cNvSpPr txBox="1"/>
          <p:nvPr/>
        </p:nvSpPr>
        <p:spPr>
          <a:xfrm>
            <a:off x="9194510" y="6458239"/>
            <a:ext cx="2158998" cy="30777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rtl="0">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1400" dirty="0">
                <a:latin typeface="Times New Roman"/>
                <a:ea typeface="+mn-lt"/>
                <a:cs typeface="+mn-lt"/>
              </a:rPr>
              <a:t>Transistor à jonction 1948</a:t>
            </a:r>
          </a:p>
        </p:txBody>
      </p:sp>
      <p:sp>
        <p:nvSpPr>
          <p:cNvPr id="15" name="ZoneTexte 1">
            <a:extLst>
              <a:ext uri="{FF2B5EF4-FFF2-40B4-BE49-F238E27FC236}">
                <a16:creationId xmlns:a16="http://schemas.microsoft.com/office/drawing/2014/main" id="{25130612-8032-491E-00BF-D71B42F78184}"/>
              </a:ext>
            </a:extLst>
          </p:cNvPr>
          <p:cNvSpPr txBox="1"/>
          <p:nvPr/>
        </p:nvSpPr>
        <p:spPr>
          <a:xfrm>
            <a:off x="9198840" y="2687204"/>
            <a:ext cx="2043544" cy="30777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rtl="0">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fr-FR" sz="1400" dirty="0">
                <a:latin typeface="Times New Roman"/>
                <a:ea typeface="+mn-lt"/>
                <a:cs typeface="+mn-lt"/>
              </a:rPr>
              <a:t>Transistor à contact 1948</a:t>
            </a:r>
            <a:endParaRPr lang="fr-FR" sz="1400" dirty="0">
              <a:latin typeface="Times New Roman"/>
            </a:endParaRPr>
          </a:p>
        </p:txBody>
      </p:sp>
    </p:spTree>
    <p:extLst>
      <p:ext uri="{BB962C8B-B14F-4D97-AF65-F5344CB8AC3E}">
        <p14:creationId xmlns:p14="http://schemas.microsoft.com/office/powerpoint/2010/main" val="316687809"/>
      </p:ext>
    </p:extLst>
  </p:cSld>
  <p:clrMapOvr>
    <a:masterClrMapping/>
  </p:clrMapOvr>
  <p:transition spd="slow">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7D0E828-E657-465C-27F5-B9B6D44C6147}"/>
              </a:ext>
            </a:extLst>
          </p:cNvPr>
          <p:cNvSpPr>
            <a:spLocks noGrp="1"/>
          </p:cNvSpPr>
          <p:nvPr>
            <p:ph type="title"/>
          </p:nvPr>
        </p:nvSpPr>
        <p:spPr>
          <a:xfrm>
            <a:off x="1371600" y="685800"/>
            <a:ext cx="9601200" cy="654628"/>
          </a:xfrm>
        </p:spPr>
        <p:txBody>
          <a:bodyPr>
            <a:normAutofit fontScale="90000"/>
          </a:bodyPr>
          <a:lstStyle/>
          <a:p>
            <a:r>
              <a:rPr lang="en-US" dirty="0">
                <a:ea typeface="+mj-lt"/>
                <a:cs typeface="+mj-lt"/>
              </a:rPr>
              <a:t>Description et </a:t>
            </a:r>
            <a:r>
              <a:rPr lang="en-US" dirty="0" err="1">
                <a:ea typeface="+mj-lt"/>
                <a:cs typeface="+mj-lt"/>
              </a:rPr>
              <a:t>Symbole</a:t>
            </a:r>
            <a:endParaRPr lang="fr-FR" dirty="0" err="1">
              <a:ea typeface="+mj-lt"/>
              <a:cs typeface="+mj-lt"/>
            </a:endParaRPr>
          </a:p>
          <a:p>
            <a:endParaRPr lang="fr-FR" dirty="0"/>
          </a:p>
        </p:txBody>
      </p:sp>
      <p:sp>
        <p:nvSpPr>
          <p:cNvPr id="3" name="Espace réservé du contenu 2">
            <a:extLst>
              <a:ext uri="{FF2B5EF4-FFF2-40B4-BE49-F238E27FC236}">
                <a16:creationId xmlns:a16="http://schemas.microsoft.com/office/drawing/2014/main" id="{E78C9DD5-65A8-AB7D-E763-DEE6DE45E48D}"/>
              </a:ext>
            </a:extLst>
          </p:cNvPr>
          <p:cNvSpPr>
            <a:spLocks noGrp="1"/>
          </p:cNvSpPr>
          <p:nvPr>
            <p:ph idx="1"/>
          </p:nvPr>
        </p:nvSpPr>
        <p:spPr>
          <a:xfrm>
            <a:off x="1371599" y="2286000"/>
            <a:ext cx="10206507" cy="3581400"/>
          </a:xfrm>
        </p:spPr>
        <p:txBody>
          <a:bodyPr vert="horz" lIns="91440" tIns="45720" rIns="91440" bIns="45720" rtlCol="0" anchor="t">
            <a:normAutofit/>
          </a:bodyPr>
          <a:lstStyle/>
          <a:p>
            <a:pPr marL="383540" indent="-383540" algn="just">
              <a:lnSpc>
                <a:spcPct val="100000"/>
              </a:lnSpc>
              <a:spcBef>
                <a:spcPct val="20000"/>
              </a:spcBef>
              <a:spcAft>
                <a:spcPct val="0"/>
              </a:spcAft>
            </a:pPr>
            <a:r>
              <a:rPr lang="en-US" dirty="0">
                <a:latin typeface="Times New Roman" panose="02020603050405020304" pitchFamily="18" charset="0"/>
                <a:ea typeface="+mn-lt"/>
                <a:cs typeface="Times New Roman" panose="02020603050405020304" pitchFamily="18" charset="0"/>
              </a:rPr>
              <a:t>Le mot </a:t>
            </a:r>
            <a:r>
              <a:rPr lang="en-US" dirty="0">
                <a:solidFill>
                  <a:srgbClr val="FF0000"/>
                </a:solidFill>
                <a:latin typeface="Times New Roman" panose="02020603050405020304" pitchFamily="18" charset="0"/>
                <a:ea typeface="+mn-lt"/>
                <a:cs typeface="Times New Roman" panose="02020603050405020304" pitchFamily="18" charset="0"/>
              </a:rPr>
              <a:t>Trans</a:t>
            </a:r>
            <a:r>
              <a:rPr lang="en-US" dirty="0">
                <a:solidFill>
                  <a:schemeClr val="accent5">
                    <a:lumMod val="75000"/>
                  </a:schemeClr>
                </a:solidFill>
                <a:latin typeface="Times New Roman" panose="02020603050405020304" pitchFamily="18" charset="0"/>
                <a:ea typeface="+mn-lt"/>
                <a:cs typeface="Times New Roman" panose="02020603050405020304" pitchFamily="18" charset="0"/>
              </a:rPr>
              <a:t>istor</a:t>
            </a:r>
            <a:r>
              <a:rPr lang="en-US" dirty="0">
                <a:latin typeface="Times New Roman" panose="02020603050405020304" pitchFamily="18" charset="0"/>
                <a:ea typeface="+mn-lt"/>
                <a:cs typeface="Times New Roman" panose="02020603050405020304" pitchFamily="18" charset="0"/>
              </a:rPr>
              <a:t> provident de </a:t>
            </a:r>
            <a:r>
              <a:rPr lang="en-US" dirty="0" err="1">
                <a:latin typeface="Times New Roman" panose="02020603050405020304" pitchFamily="18" charset="0"/>
                <a:ea typeface="+mn-lt"/>
                <a:cs typeface="Times New Roman" panose="02020603050405020304" pitchFamily="18" charset="0"/>
              </a:rPr>
              <a:t>l’anglais</a:t>
            </a:r>
            <a:r>
              <a:rPr lang="en-US" dirty="0">
                <a:latin typeface="Times New Roman" panose="02020603050405020304" pitchFamily="18" charset="0"/>
                <a:ea typeface="+mn-lt"/>
                <a:cs typeface="Times New Roman" panose="02020603050405020304" pitchFamily="18" charset="0"/>
              </a:rPr>
              <a:t> </a:t>
            </a:r>
            <a:r>
              <a:rPr lang="en-US" dirty="0">
                <a:solidFill>
                  <a:srgbClr val="FF0000"/>
                </a:solidFill>
                <a:latin typeface="Times New Roman" panose="02020603050405020304" pitchFamily="18" charset="0"/>
                <a:ea typeface="+mn-lt"/>
                <a:cs typeface="Times New Roman" panose="02020603050405020304" pitchFamily="18" charset="0"/>
              </a:rPr>
              <a:t>Trans</a:t>
            </a:r>
            <a:r>
              <a:rPr lang="en-US" dirty="0">
                <a:latin typeface="Times New Roman" panose="02020603050405020304" pitchFamily="18" charset="0"/>
                <a:ea typeface="+mn-lt"/>
                <a:cs typeface="Times New Roman" panose="02020603050405020304" pitchFamily="18" charset="0"/>
              </a:rPr>
              <a:t>fer res</a:t>
            </a:r>
            <a:r>
              <a:rPr lang="en-US" dirty="0">
                <a:solidFill>
                  <a:schemeClr val="accent5">
                    <a:lumMod val="75000"/>
                  </a:schemeClr>
                </a:solidFill>
                <a:latin typeface="Times New Roman" panose="02020603050405020304" pitchFamily="18" charset="0"/>
                <a:ea typeface="+mn-lt"/>
                <a:cs typeface="Times New Roman" panose="02020603050405020304" pitchFamily="18" charset="0"/>
              </a:rPr>
              <a:t>istor</a:t>
            </a:r>
            <a:r>
              <a:rPr lang="en-US" dirty="0">
                <a:solidFill>
                  <a:schemeClr val="accent1">
                    <a:lumMod val="50000"/>
                  </a:schemeClr>
                </a:solidFill>
                <a:latin typeface="Times New Roman" panose="02020603050405020304" pitchFamily="18" charset="0"/>
                <a:ea typeface="+mn-lt"/>
                <a:cs typeface="Times New Roman" panose="02020603050405020304" pitchFamily="18" charset="0"/>
              </a:rPr>
              <a:t> </a:t>
            </a:r>
            <a:r>
              <a:rPr lang="en-US" dirty="0">
                <a:latin typeface="Times New Roman" panose="02020603050405020304" pitchFamily="18" charset="0"/>
                <a:ea typeface="+mn-lt"/>
                <a:cs typeface="Times New Roman" panose="02020603050405020304" pitchFamily="18" charset="0"/>
              </a:rPr>
              <a:t>( resistance de </a:t>
            </a:r>
            <a:r>
              <a:rPr lang="en-US" dirty="0" err="1">
                <a:latin typeface="Times New Roman" panose="02020603050405020304" pitchFamily="18" charset="0"/>
                <a:ea typeface="+mn-lt"/>
                <a:cs typeface="Times New Roman" panose="02020603050405020304" pitchFamily="18" charset="0"/>
              </a:rPr>
              <a:t>transfert</a:t>
            </a:r>
            <a:r>
              <a:rPr lang="en-US" dirty="0">
                <a:latin typeface="Times New Roman" panose="02020603050405020304" pitchFamily="18" charset="0"/>
                <a:ea typeface="+mn-lt"/>
                <a:cs typeface="Times New Roman" panose="02020603050405020304" pitchFamily="18" charset="0"/>
              </a:rPr>
              <a:t> ).</a:t>
            </a:r>
            <a:endParaRPr lang="fr-FR" dirty="0">
              <a:latin typeface="Times New Roman" panose="02020603050405020304" pitchFamily="18" charset="0"/>
              <a:cs typeface="Times New Roman" panose="02020603050405020304" pitchFamily="18" charset="0"/>
            </a:endParaRPr>
          </a:p>
          <a:p>
            <a:pPr marL="383540" indent="-383540" algn="just">
              <a:lnSpc>
                <a:spcPct val="100000"/>
              </a:lnSpc>
              <a:spcBef>
                <a:spcPct val="20000"/>
              </a:spcBef>
              <a:spcAft>
                <a:spcPct val="0"/>
              </a:spcAft>
            </a:pPr>
            <a:r>
              <a:rPr lang="en-US" dirty="0">
                <a:latin typeface="Times New Roman" panose="02020603050405020304" pitchFamily="18" charset="0"/>
                <a:ea typeface="+mn-lt"/>
                <a:cs typeface="Times New Roman" panose="02020603050405020304" pitchFamily="18" charset="0"/>
              </a:rPr>
              <a:t>Le transistor </a:t>
            </a:r>
            <a:r>
              <a:rPr lang="en-US" dirty="0" err="1">
                <a:latin typeface="Times New Roman" panose="02020603050405020304" pitchFamily="18" charset="0"/>
                <a:ea typeface="+mn-lt"/>
                <a:cs typeface="Times New Roman" panose="02020603050405020304" pitchFamily="18" charset="0"/>
              </a:rPr>
              <a:t>bipolaire</a:t>
            </a:r>
            <a:r>
              <a:rPr lang="en-US" dirty="0">
                <a:latin typeface="Times New Roman" panose="02020603050405020304" pitchFamily="18" charset="0"/>
                <a:ea typeface="+mn-lt"/>
                <a:cs typeface="Times New Roman" panose="02020603050405020304" pitchFamily="18" charset="0"/>
              </a:rPr>
              <a:t> </a:t>
            </a:r>
            <a:r>
              <a:rPr lang="en-US" dirty="0" err="1">
                <a:latin typeface="Times New Roman" panose="02020603050405020304" pitchFamily="18" charset="0"/>
                <a:ea typeface="+mn-lt"/>
                <a:cs typeface="Times New Roman" panose="02020603050405020304" pitchFamily="18" charset="0"/>
              </a:rPr>
              <a:t>est</a:t>
            </a:r>
            <a:r>
              <a:rPr lang="en-US" dirty="0">
                <a:latin typeface="Times New Roman" panose="02020603050405020304" pitchFamily="18" charset="0"/>
                <a:ea typeface="+mn-lt"/>
                <a:cs typeface="Times New Roman" panose="02020603050405020304" pitchFamily="18" charset="0"/>
              </a:rPr>
              <a:t> un </a:t>
            </a:r>
            <a:r>
              <a:rPr lang="en-US" dirty="0" err="1">
                <a:latin typeface="Times New Roman" panose="02020603050405020304" pitchFamily="18" charset="0"/>
                <a:ea typeface="+mn-lt"/>
                <a:cs typeface="Times New Roman" panose="02020603050405020304" pitchFamily="18" charset="0"/>
              </a:rPr>
              <a:t>composant</a:t>
            </a:r>
            <a:r>
              <a:rPr lang="en-US" dirty="0">
                <a:latin typeface="Times New Roman" panose="02020603050405020304" pitchFamily="18" charset="0"/>
                <a:ea typeface="+mn-lt"/>
                <a:cs typeface="Times New Roman" panose="02020603050405020304" pitchFamily="18" charset="0"/>
              </a:rPr>
              <a:t> </a:t>
            </a:r>
            <a:r>
              <a:rPr lang="en-US" dirty="0" err="1">
                <a:latin typeface="Times New Roman" panose="02020603050405020304" pitchFamily="18" charset="0"/>
                <a:ea typeface="+mn-lt"/>
                <a:cs typeface="Times New Roman" panose="02020603050405020304" pitchFamily="18" charset="0"/>
              </a:rPr>
              <a:t>electronique</a:t>
            </a:r>
            <a:r>
              <a:rPr lang="en-US" dirty="0">
                <a:latin typeface="Times New Roman" panose="02020603050405020304" pitchFamily="18" charset="0"/>
                <a:ea typeface="+mn-lt"/>
                <a:cs typeface="Times New Roman" panose="02020603050405020304" pitchFamily="18" charset="0"/>
              </a:rPr>
              <a:t> a base de semi </a:t>
            </a:r>
            <a:r>
              <a:rPr lang="en-US" dirty="0" err="1">
                <a:latin typeface="Times New Roman" panose="02020603050405020304" pitchFamily="18" charset="0"/>
                <a:ea typeface="+mn-lt"/>
                <a:cs typeface="Times New Roman" panose="02020603050405020304" pitchFamily="18" charset="0"/>
              </a:rPr>
              <a:t>conducteur</a:t>
            </a:r>
            <a:r>
              <a:rPr lang="en-US" dirty="0">
                <a:latin typeface="Times New Roman" panose="02020603050405020304" pitchFamily="18" charset="0"/>
                <a:ea typeface="+mn-lt"/>
                <a:cs typeface="Times New Roman" panose="02020603050405020304" pitchFamily="18" charset="0"/>
              </a:rPr>
              <a:t> de la </a:t>
            </a:r>
            <a:r>
              <a:rPr lang="en-US" dirty="0" err="1">
                <a:latin typeface="Times New Roman" panose="02020603050405020304" pitchFamily="18" charset="0"/>
                <a:ea typeface="+mn-lt"/>
                <a:cs typeface="Times New Roman" panose="02020603050405020304" pitchFamily="18" charset="0"/>
              </a:rPr>
              <a:t>famille</a:t>
            </a:r>
            <a:r>
              <a:rPr lang="en-US" dirty="0">
                <a:latin typeface="Times New Roman" panose="02020603050405020304" pitchFamily="18" charset="0"/>
                <a:ea typeface="+mn-lt"/>
                <a:cs typeface="Times New Roman" panose="02020603050405020304" pitchFamily="18" charset="0"/>
              </a:rPr>
              <a:t> des Transistors</a:t>
            </a:r>
            <a:r>
              <a:rPr lang="en-US" dirty="0" smtClean="0">
                <a:latin typeface="Times New Roman" panose="02020603050405020304" pitchFamily="18" charset="0"/>
                <a:ea typeface="+mn-lt"/>
                <a:cs typeface="Times New Roman" panose="02020603050405020304" pitchFamily="18" charset="0"/>
              </a:rPr>
              <a:t>, </a:t>
            </a:r>
            <a:r>
              <a:rPr lang="en-US" dirty="0" err="1" smtClean="0">
                <a:latin typeface="Times New Roman" panose="02020603050405020304" pitchFamily="18" charset="0"/>
                <a:ea typeface="+mn-lt"/>
                <a:cs typeface="Times New Roman" panose="02020603050405020304" pitchFamily="18" charset="0"/>
              </a:rPr>
              <a:t>il</a:t>
            </a:r>
            <a:r>
              <a:rPr lang="en-US" dirty="0">
                <a:latin typeface="Times New Roman" panose="02020603050405020304" pitchFamily="18" charset="0"/>
                <a:ea typeface="+mn-lt"/>
                <a:cs typeface="Times New Roman" panose="02020603050405020304" pitchFamily="18" charset="0"/>
              </a:rPr>
              <a:t> </a:t>
            </a:r>
            <a:r>
              <a:rPr lang="en-US" dirty="0" err="1">
                <a:latin typeface="Times New Roman" panose="02020603050405020304" pitchFamily="18" charset="0"/>
                <a:ea typeface="+mn-lt"/>
                <a:cs typeface="Times New Roman" panose="02020603050405020304" pitchFamily="18" charset="0"/>
              </a:rPr>
              <a:t>possede</a:t>
            </a:r>
            <a:r>
              <a:rPr lang="en-US" dirty="0">
                <a:latin typeface="Times New Roman" panose="02020603050405020304" pitchFamily="18" charset="0"/>
                <a:ea typeface="+mn-lt"/>
                <a:cs typeface="Times New Roman" panose="02020603050405020304" pitchFamily="18" charset="0"/>
              </a:rPr>
              <a:t> trois electrodes (poles) qui </a:t>
            </a:r>
            <a:r>
              <a:rPr lang="en-US" dirty="0" err="1" smtClean="0">
                <a:latin typeface="Times New Roman" panose="02020603050405020304" pitchFamily="18" charset="0"/>
                <a:ea typeface="+mn-lt"/>
                <a:cs typeface="Times New Roman" panose="02020603050405020304" pitchFamily="18" charset="0"/>
              </a:rPr>
              <a:t>sont</a:t>
            </a:r>
            <a:r>
              <a:rPr lang="en-US" dirty="0">
                <a:latin typeface="Times New Roman" panose="02020603050405020304" pitchFamily="18" charset="0"/>
                <a:ea typeface="+mn-lt"/>
                <a:cs typeface="Times New Roman" panose="02020603050405020304" pitchFamily="18" charset="0"/>
              </a:rPr>
              <a:t> </a:t>
            </a:r>
            <a:r>
              <a:rPr lang="en-US" dirty="0" smtClean="0">
                <a:latin typeface="Times New Roman" panose="02020603050405020304" pitchFamily="18" charset="0"/>
                <a:ea typeface="+mn-lt"/>
                <a:cs typeface="Times New Roman" panose="02020603050405020304" pitchFamily="18" charset="0"/>
              </a:rPr>
              <a:t>:</a:t>
            </a:r>
          </a:p>
          <a:p>
            <a:pPr marL="0" indent="0" algn="just">
              <a:lnSpc>
                <a:spcPct val="100000"/>
              </a:lnSpc>
              <a:spcBef>
                <a:spcPct val="20000"/>
              </a:spcBef>
              <a:spcAft>
                <a:spcPct val="0"/>
              </a:spcAft>
              <a:buNone/>
            </a:pPr>
            <a:r>
              <a:rPr lang="en-US" dirty="0">
                <a:latin typeface="Times New Roman" panose="02020603050405020304" pitchFamily="18" charset="0"/>
                <a:ea typeface="+mn-lt"/>
                <a:cs typeface="Times New Roman" panose="02020603050405020304" pitchFamily="18" charset="0"/>
              </a:rPr>
              <a:t> </a:t>
            </a:r>
            <a:r>
              <a:rPr lang="en-US" dirty="0" smtClean="0">
                <a:latin typeface="Times New Roman" panose="02020603050405020304" pitchFamily="18" charset="0"/>
                <a:ea typeface="+mn-lt"/>
                <a:cs typeface="Times New Roman" panose="02020603050405020304" pitchFamily="18" charset="0"/>
              </a:rPr>
              <a:t>                         </a:t>
            </a:r>
            <a:r>
              <a:rPr lang="en-GB" dirty="0" smtClean="0">
                <a:latin typeface="Times New Roman" panose="02020603050405020304" pitchFamily="18" charset="0"/>
                <a:ea typeface="+mn-lt"/>
                <a:cs typeface="Times New Roman" panose="02020603050405020304" pitchFamily="18" charset="0"/>
              </a:rPr>
              <a:t>{</a:t>
            </a:r>
            <a:r>
              <a:rPr lang="en-US" dirty="0" smtClean="0">
                <a:latin typeface="Times New Roman" panose="02020603050405020304" pitchFamily="18" charset="0"/>
                <a:ea typeface="+mn-lt"/>
                <a:cs typeface="Times New Roman" panose="02020603050405020304" pitchFamily="18" charset="0"/>
              </a:rPr>
              <a:t>la </a:t>
            </a:r>
            <a:r>
              <a:rPr lang="en-US" dirty="0">
                <a:latin typeface="Times New Roman" panose="02020603050405020304" pitchFamily="18" charset="0"/>
                <a:ea typeface="+mn-lt"/>
                <a:cs typeface="Times New Roman" panose="02020603050405020304" pitchFamily="18" charset="0"/>
              </a:rPr>
              <a:t>base, le </a:t>
            </a:r>
            <a:r>
              <a:rPr lang="en-US" dirty="0" err="1">
                <a:latin typeface="Times New Roman" panose="02020603050405020304" pitchFamily="18" charset="0"/>
                <a:ea typeface="+mn-lt"/>
                <a:cs typeface="Times New Roman" panose="02020603050405020304" pitchFamily="18" charset="0"/>
              </a:rPr>
              <a:t>collecteur</a:t>
            </a:r>
            <a:r>
              <a:rPr lang="en-US" dirty="0">
                <a:latin typeface="Times New Roman" panose="02020603050405020304" pitchFamily="18" charset="0"/>
                <a:ea typeface="+mn-lt"/>
                <a:cs typeface="Times New Roman" panose="02020603050405020304" pitchFamily="18" charset="0"/>
              </a:rPr>
              <a:t> et </a:t>
            </a:r>
            <a:r>
              <a:rPr lang="en-US" dirty="0" err="1">
                <a:latin typeface="Times New Roman" panose="02020603050405020304" pitchFamily="18" charset="0"/>
                <a:ea typeface="+mn-lt"/>
                <a:cs typeface="Times New Roman" panose="02020603050405020304" pitchFamily="18" charset="0"/>
              </a:rPr>
              <a:t>l’emetteur</a:t>
            </a:r>
            <a:r>
              <a:rPr lang="en-US" dirty="0">
                <a:latin typeface="Times New Roman" panose="02020603050405020304" pitchFamily="18" charset="0"/>
                <a:ea typeface="+mn-lt"/>
                <a:cs typeface="Times New Roman" panose="02020603050405020304" pitchFamily="18" charset="0"/>
              </a:rPr>
              <a:t> </a:t>
            </a:r>
            <a:r>
              <a:rPr lang="en-US" dirty="0" smtClean="0">
                <a:latin typeface="Times New Roman" panose="02020603050405020304" pitchFamily="18" charset="0"/>
                <a:ea typeface="+mn-lt"/>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383540" indent="-383540" algn="just">
              <a:lnSpc>
                <a:spcPct val="100000"/>
              </a:lnSpc>
              <a:spcBef>
                <a:spcPct val="20000"/>
              </a:spcBef>
              <a:spcAft>
                <a:spcPct val="0"/>
              </a:spcAft>
            </a:pPr>
            <a:r>
              <a:rPr lang="en-US" dirty="0">
                <a:latin typeface="Times New Roman" panose="02020603050405020304" pitchFamily="18" charset="0"/>
                <a:ea typeface="+mn-lt"/>
                <a:cs typeface="Times New Roman" panose="02020603050405020304" pitchFamily="18" charset="0"/>
              </a:rPr>
              <a:t>Il </a:t>
            </a:r>
            <a:r>
              <a:rPr lang="en-US" dirty="0" err="1">
                <a:latin typeface="Times New Roman" panose="02020603050405020304" pitchFamily="18" charset="0"/>
                <a:ea typeface="+mn-lt"/>
                <a:cs typeface="Times New Roman" panose="02020603050405020304" pitchFamily="18" charset="0"/>
              </a:rPr>
              <a:t>existe</a:t>
            </a:r>
            <a:r>
              <a:rPr lang="en-US" dirty="0">
                <a:latin typeface="Times New Roman" panose="02020603050405020304" pitchFamily="18" charset="0"/>
                <a:ea typeface="+mn-lt"/>
                <a:cs typeface="Times New Roman" panose="02020603050405020304" pitchFamily="18" charset="0"/>
              </a:rPr>
              <a:t> deux types du transistor </a:t>
            </a:r>
            <a:r>
              <a:rPr lang="en-US" dirty="0" err="1">
                <a:latin typeface="Times New Roman" panose="02020603050405020304" pitchFamily="18" charset="0"/>
                <a:ea typeface="+mn-lt"/>
                <a:cs typeface="Times New Roman" panose="02020603050405020304" pitchFamily="18" charset="0"/>
              </a:rPr>
              <a:t>bipolaires</a:t>
            </a:r>
            <a:r>
              <a:rPr lang="en-US" dirty="0">
                <a:latin typeface="Times New Roman" panose="02020603050405020304" pitchFamily="18" charset="0"/>
                <a:ea typeface="+mn-lt"/>
                <a:cs typeface="Times New Roman" panose="02020603050405020304" pitchFamily="18" charset="0"/>
              </a:rPr>
              <a:t> PNP et NPN.</a:t>
            </a:r>
          </a:p>
          <a:p>
            <a:pPr marL="383540" indent="-383540" algn="just"/>
            <a:endParaRPr lang="fr-FR" dirty="0">
              <a:latin typeface="Times New Roman" panose="02020603050405020304" pitchFamily="18" charset="0"/>
              <a:cs typeface="Times New Roman" panose="02020603050405020304" pitchFamily="18" charset="0"/>
            </a:endParaRPr>
          </a:p>
        </p:txBody>
      </p:sp>
      <p:pic>
        <p:nvPicPr>
          <p:cNvPr id="4" name="Image 4">
            <a:extLst>
              <a:ext uri="{FF2B5EF4-FFF2-40B4-BE49-F238E27FC236}">
                <a16:creationId xmlns:a16="http://schemas.microsoft.com/office/drawing/2014/main" id="{B9828A87-EDCC-8CEF-2E5F-693DF5E784E9}"/>
              </a:ext>
            </a:extLst>
          </p:cNvPr>
          <p:cNvPicPr>
            <a:picLocks noChangeAspect="1"/>
          </p:cNvPicPr>
          <p:nvPr/>
        </p:nvPicPr>
        <p:blipFill>
          <a:blip r:embed="rId2"/>
          <a:stretch>
            <a:fillRect/>
          </a:stretch>
        </p:blipFill>
        <p:spPr>
          <a:xfrm>
            <a:off x="2762522" y="4076700"/>
            <a:ext cx="2276475" cy="2276475"/>
          </a:xfrm>
          <a:prstGeom prst="rect">
            <a:avLst/>
          </a:prstGeom>
        </p:spPr>
      </p:pic>
      <p:pic>
        <p:nvPicPr>
          <p:cNvPr id="5" name="Image 5">
            <a:extLst>
              <a:ext uri="{FF2B5EF4-FFF2-40B4-BE49-F238E27FC236}">
                <a16:creationId xmlns:a16="http://schemas.microsoft.com/office/drawing/2014/main" id="{519805E0-E335-99F9-12EA-F64D35AEF83F}"/>
              </a:ext>
            </a:extLst>
          </p:cNvPr>
          <p:cNvPicPr>
            <a:picLocks noChangeAspect="1"/>
          </p:cNvPicPr>
          <p:nvPr/>
        </p:nvPicPr>
        <p:blipFill>
          <a:blip r:embed="rId3"/>
          <a:stretch>
            <a:fillRect/>
          </a:stretch>
        </p:blipFill>
        <p:spPr>
          <a:xfrm>
            <a:off x="7099989" y="4083170"/>
            <a:ext cx="2276475" cy="2286000"/>
          </a:xfrm>
          <a:prstGeom prst="rect">
            <a:avLst/>
          </a:prstGeom>
        </p:spPr>
      </p:pic>
      <p:sp>
        <p:nvSpPr>
          <p:cNvPr id="6" name="TextBox 5"/>
          <p:cNvSpPr txBox="1"/>
          <p:nvPr/>
        </p:nvSpPr>
        <p:spPr>
          <a:xfrm>
            <a:off x="3572510" y="5978363"/>
            <a:ext cx="656497" cy="369332"/>
          </a:xfrm>
          <a:prstGeom prst="rect">
            <a:avLst/>
          </a:prstGeom>
          <a:noFill/>
        </p:spPr>
        <p:txBody>
          <a:bodyPr wrap="square" rtlCol="0">
            <a:spAutoFit/>
          </a:bodyPr>
          <a:lstStyle/>
          <a:p>
            <a:r>
              <a:rPr lang="fr-FR" b="1" dirty="0" smtClean="0"/>
              <a:t>NPN</a:t>
            </a:r>
            <a:endParaRPr lang="fr-FR" b="1" dirty="0"/>
          </a:p>
        </p:txBody>
      </p:sp>
      <p:sp>
        <p:nvSpPr>
          <p:cNvPr id="7" name="TextBox 6"/>
          <p:cNvSpPr txBox="1"/>
          <p:nvPr/>
        </p:nvSpPr>
        <p:spPr>
          <a:xfrm>
            <a:off x="7931484" y="5999838"/>
            <a:ext cx="846276" cy="369332"/>
          </a:xfrm>
          <a:prstGeom prst="rect">
            <a:avLst/>
          </a:prstGeom>
          <a:noFill/>
        </p:spPr>
        <p:txBody>
          <a:bodyPr wrap="square" rtlCol="0">
            <a:spAutoFit/>
          </a:bodyPr>
          <a:lstStyle/>
          <a:p>
            <a:r>
              <a:rPr lang="fr-FR" b="1" dirty="0" smtClean="0"/>
              <a:t>PNP</a:t>
            </a:r>
            <a:endParaRPr lang="fr-FR" b="1" dirty="0"/>
          </a:p>
        </p:txBody>
      </p:sp>
    </p:spTree>
    <p:extLst>
      <p:ext uri="{BB962C8B-B14F-4D97-AF65-F5344CB8AC3E}">
        <p14:creationId xmlns:p14="http://schemas.microsoft.com/office/powerpoint/2010/main" val="643506947"/>
      </p:ext>
    </p:extLst>
  </p:cSld>
  <p:clrMapOvr>
    <a:masterClrMapping/>
  </p:clrMapOvr>
  <p:transition spd="slow">
    <p:wip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A7FE27-9774-AF31-5274-72A23739BF67}"/>
              </a:ext>
            </a:extLst>
          </p:cNvPr>
          <p:cNvSpPr>
            <a:spLocks noGrp="1"/>
          </p:cNvSpPr>
          <p:nvPr>
            <p:ph type="title"/>
          </p:nvPr>
        </p:nvSpPr>
        <p:spPr>
          <a:xfrm>
            <a:off x="1371600" y="685800"/>
            <a:ext cx="9601200" cy="608446"/>
          </a:xfrm>
        </p:spPr>
        <p:txBody>
          <a:bodyPr>
            <a:normAutofit fontScale="90000"/>
          </a:bodyPr>
          <a:lstStyle/>
          <a:p>
            <a:r>
              <a:rPr lang="en-US" dirty="0">
                <a:ea typeface="+mj-lt"/>
                <a:cs typeface="+mj-lt"/>
              </a:rPr>
              <a:t>Types du transistor</a:t>
            </a:r>
            <a:endParaRPr lang="fr-FR" dirty="0">
              <a:ea typeface="+mj-lt"/>
              <a:cs typeface="+mj-lt"/>
            </a:endParaRPr>
          </a:p>
          <a:p>
            <a:endParaRPr lang="fr-FR" dirty="0"/>
          </a:p>
        </p:txBody>
      </p:sp>
      <p:sp>
        <p:nvSpPr>
          <p:cNvPr id="3" name="Espace réservé du contenu 2">
            <a:extLst>
              <a:ext uri="{FF2B5EF4-FFF2-40B4-BE49-F238E27FC236}">
                <a16:creationId xmlns:a16="http://schemas.microsoft.com/office/drawing/2014/main" id="{20D7E94B-E87E-7778-014A-1AC8C0974EC6}"/>
              </a:ext>
            </a:extLst>
          </p:cNvPr>
          <p:cNvSpPr>
            <a:spLocks noGrp="1"/>
          </p:cNvSpPr>
          <p:nvPr>
            <p:ph idx="1"/>
          </p:nvPr>
        </p:nvSpPr>
        <p:spPr>
          <a:xfrm>
            <a:off x="1371600" y="1925391"/>
            <a:ext cx="9601200" cy="3581400"/>
          </a:xfrm>
        </p:spPr>
        <p:txBody>
          <a:bodyPr vert="horz" lIns="91440" tIns="45720" rIns="91440" bIns="45720" rtlCol="0" anchor="t">
            <a:normAutofit/>
          </a:bodyPr>
          <a:lstStyle/>
          <a:p>
            <a:pPr marL="383540" indent="-383540">
              <a:lnSpc>
                <a:spcPct val="250000"/>
              </a:lnSpc>
              <a:spcBef>
                <a:spcPct val="20000"/>
              </a:spcBef>
              <a:spcAft>
                <a:spcPct val="0"/>
              </a:spcAft>
            </a:pPr>
            <a:r>
              <a:rPr lang="en-US" dirty="0">
                <a:latin typeface="Times New Roman"/>
                <a:cs typeface="Times New Roman"/>
              </a:rPr>
              <a:t>On </a:t>
            </a:r>
            <a:r>
              <a:rPr lang="en-US" dirty="0" err="1">
                <a:latin typeface="Times New Roman"/>
                <a:cs typeface="Times New Roman"/>
              </a:rPr>
              <a:t>peut</a:t>
            </a:r>
            <a:r>
              <a:rPr lang="en-US" dirty="0">
                <a:latin typeface="Times New Roman"/>
                <a:cs typeface="Times New Roman"/>
              </a:rPr>
              <a:t> meme classer les transistors </a:t>
            </a:r>
            <a:r>
              <a:rPr lang="en-US" dirty="0" err="1">
                <a:latin typeface="Times New Roman"/>
                <a:cs typeface="Times New Roman"/>
              </a:rPr>
              <a:t>selon</a:t>
            </a:r>
            <a:r>
              <a:rPr lang="en-US" dirty="0">
                <a:latin typeface="Times New Roman"/>
                <a:cs typeface="Times New Roman"/>
              </a:rPr>
              <a:t> </a:t>
            </a:r>
            <a:r>
              <a:rPr lang="en-US" dirty="0" err="1">
                <a:latin typeface="Times New Roman"/>
                <a:cs typeface="Times New Roman"/>
              </a:rPr>
              <a:t>leur</a:t>
            </a:r>
            <a:r>
              <a:rPr lang="en-US" dirty="0">
                <a:latin typeface="Times New Roman"/>
                <a:cs typeface="Times New Roman"/>
              </a:rPr>
              <a:t> puissance :</a:t>
            </a:r>
            <a:endParaRPr lang="en-US" dirty="0">
              <a:ea typeface="+mn-lt"/>
              <a:cs typeface="+mn-lt"/>
            </a:endParaRPr>
          </a:p>
          <a:p>
            <a:pPr>
              <a:lnSpc>
                <a:spcPct val="100000"/>
              </a:lnSpc>
              <a:spcBef>
                <a:spcPct val="20000"/>
              </a:spcBef>
              <a:spcAft>
                <a:spcPct val="0"/>
              </a:spcAft>
              <a:buFont typeface="Wingdings" panose="05000000000000000000" pitchFamily="2" charset="2"/>
              <a:buChar char="v"/>
            </a:pPr>
            <a:r>
              <a:rPr lang="fr-FR" dirty="0">
                <a:latin typeface="Times New Roman"/>
                <a:cs typeface="Times New Roman"/>
              </a:rPr>
              <a:t>L</a:t>
            </a:r>
            <a:r>
              <a:rPr lang="fr-FR" dirty="0" smtClean="0">
                <a:latin typeface="Times New Roman"/>
                <a:cs typeface="Times New Roman"/>
              </a:rPr>
              <a:t>es</a:t>
            </a:r>
            <a:r>
              <a:rPr lang="fr-FR" dirty="0">
                <a:latin typeface="Times New Roman"/>
                <a:cs typeface="Times New Roman"/>
              </a:rPr>
              <a:t> transistors pour l'amplification de petits signaux ne dissipent que quelques dizaines ou centaines de milliwatts. </a:t>
            </a:r>
            <a:endParaRPr lang="fr-FR" dirty="0">
              <a:ea typeface="+mn-lt"/>
              <a:cs typeface="+mn-lt"/>
            </a:endParaRPr>
          </a:p>
          <a:p>
            <a:pPr>
              <a:lnSpc>
                <a:spcPct val="100000"/>
              </a:lnSpc>
              <a:spcBef>
                <a:spcPct val="20000"/>
              </a:spcBef>
              <a:spcAft>
                <a:spcPct val="0"/>
              </a:spcAft>
              <a:buFont typeface="Wingdings" panose="05000000000000000000" pitchFamily="2" charset="2"/>
              <a:buChar char="v"/>
            </a:pPr>
            <a:r>
              <a:rPr lang="fr-FR" dirty="0">
                <a:latin typeface="Times New Roman"/>
                <a:cs typeface="Times New Roman"/>
              </a:rPr>
              <a:t>Les transistors moyenne puissance supportent quelques </a:t>
            </a:r>
            <a:r>
              <a:rPr lang="fr-FR" dirty="0" smtClean="0">
                <a:latin typeface="Times New Roman"/>
                <a:cs typeface="Times New Roman"/>
              </a:rPr>
              <a:t>watts.</a:t>
            </a:r>
            <a:endParaRPr lang="fr-FR" dirty="0">
              <a:ea typeface="+mn-lt"/>
              <a:cs typeface="+mn-lt"/>
            </a:endParaRPr>
          </a:p>
          <a:p>
            <a:pPr>
              <a:lnSpc>
                <a:spcPct val="100000"/>
              </a:lnSpc>
              <a:spcBef>
                <a:spcPct val="20000"/>
              </a:spcBef>
              <a:spcAft>
                <a:spcPct val="0"/>
              </a:spcAft>
              <a:buFont typeface="Wingdings" panose="05000000000000000000" pitchFamily="2" charset="2"/>
              <a:buChar char="v"/>
            </a:pPr>
            <a:r>
              <a:rPr lang="fr-FR" dirty="0">
                <a:latin typeface="Times New Roman"/>
                <a:cs typeface="Times New Roman"/>
              </a:rPr>
              <a:t>Les transistors de puissance, utilisés par exemple dans les amplificateurs audios de puissance ou dans les alimentations stabilisées peuvent supporter, à condition d'être placés sur un dissipateur thermique adéquat, plus de 100 </a:t>
            </a:r>
            <a:r>
              <a:rPr lang="fr-FR" dirty="0" smtClean="0">
                <a:latin typeface="Times New Roman"/>
                <a:cs typeface="Times New Roman"/>
              </a:rPr>
              <a:t>W.</a:t>
            </a:r>
            <a:r>
              <a:rPr lang="fr-FR" dirty="0">
                <a:latin typeface="Times New Roman"/>
                <a:cs typeface="Times New Roman"/>
              </a:rPr>
              <a:t> </a:t>
            </a:r>
            <a:endParaRPr lang="en-US" dirty="0">
              <a:ea typeface="+mn-lt"/>
              <a:cs typeface="+mn-lt"/>
            </a:endParaRPr>
          </a:p>
          <a:p>
            <a:pPr marL="383540" indent="-383540">
              <a:lnSpc>
                <a:spcPct val="100000"/>
              </a:lnSpc>
              <a:spcBef>
                <a:spcPct val="20000"/>
              </a:spcBef>
              <a:spcAft>
                <a:spcPct val="0"/>
              </a:spcAft>
              <a:buFont typeface="Wingdings,Sans-Serif" panose="020B0503020102020204" pitchFamily="34" charset="0"/>
              <a:buChar char="ü"/>
            </a:pPr>
            <a:endParaRPr lang="en-US" dirty="0">
              <a:ea typeface="+mn-lt"/>
              <a:cs typeface="+mn-lt"/>
            </a:endParaRPr>
          </a:p>
          <a:p>
            <a:pPr marL="383540" indent="-383540"/>
            <a:endParaRPr lang="fr-FR" dirty="0"/>
          </a:p>
        </p:txBody>
      </p:sp>
    </p:spTree>
    <p:extLst>
      <p:ext uri="{BB962C8B-B14F-4D97-AF65-F5344CB8AC3E}">
        <p14:creationId xmlns:p14="http://schemas.microsoft.com/office/powerpoint/2010/main" val="1497494424"/>
      </p:ext>
    </p:extLst>
  </p:cSld>
  <p:clrMapOvr>
    <a:masterClrMapping/>
  </p:clrMapOvr>
  <p:transition spd="slow">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17D889F-ABEB-5243-4A45-5BA59B1544BB}"/>
              </a:ext>
            </a:extLst>
          </p:cNvPr>
          <p:cNvSpPr>
            <a:spLocks noGrp="1"/>
          </p:cNvSpPr>
          <p:nvPr>
            <p:ph type="title"/>
          </p:nvPr>
        </p:nvSpPr>
        <p:spPr>
          <a:xfrm>
            <a:off x="1371600" y="685800"/>
            <a:ext cx="9601200" cy="666173"/>
          </a:xfrm>
        </p:spPr>
        <p:txBody>
          <a:bodyPr>
            <a:normAutofit fontScale="90000"/>
          </a:bodyPr>
          <a:lstStyle/>
          <a:p>
            <a:r>
              <a:rPr lang="en-US" dirty="0">
                <a:ea typeface="+mj-lt"/>
                <a:cs typeface="+mj-lt"/>
              </a:rPr>
              <a:t>Types du transistor</a:t>
            </a:r>
            <a:endParaRPr lang="fr-FR" dirty="0">
              <a:ea typeface="+mj-lt"/>
              <a:cs typeface="+mj-lt"/>
            </a:endParaRPr>
          </a:p>
          <a:p>
            <a:endParaRPr lang="fr-FR" dirty="0"/>
          </a:p>
        </p:txBody>
      </p:sp>
      <p:sp>
        <p:nvSpPr>
          <p:cNvPr id="3" name="Espace réservé du contenu 2">
            <a:extLst>
              <a:ext uri="{FF2B5EF4-FFF2-40B4-BE49-F238E27FC236}">
                <a16:creationId xmlns:a16="http://schemas.microsoft.com/office/drawing/2014/main" id="{0497BBDD-1A1D-7EC5-5112-C02B76C3AECD}"/>
              </a:ext>
            </a:extLst>
          </p:cNvPr>
          <p:cNvSpPr>
            <a:spLocks noGrp="1"/>
          </p:cNvSpPr>
          <p:nvPr>
            <p:ph idx="1"/>
          </p:nvPr>
        </p:nvSpPr>
        <p:spPr/>
        <p:txBody>
          <a:bodyPr vert="horz" lIns="91440" tIns="45720" rIns="91440" bIns="45720" rtlCol="0" anchor="t">
            <a:normAutofit/>
          </a:bodyPr>
          <a:lstStyle/>
          <a:p>
            <a:pPr marL="0" indent="0">
              <a:lnSpc>
                <a:spcPct val="150000"/>
              </a:lnSpc>
              <a:spcBef>
                <a:spcPct val="20000"/>
              </a:spcBef>
              <a:spcAft>
                <a:spcPct val="0"/>
              </a:spcAft>
              <a:buNone/>
            </a:pPr>
            <a:r>
              <a:rPr lang="en-US" dirty="0" err="1">
                <a:latin typeface="Times New Roman"/>
                <a:cs typeface="Times New Roman"/>
              </a:rPr>
              <a:t>Ainsi</a:t>
            </a:r>
            <a:r>
              <a:rPr lang="en-US" dirty="0">
                <a:latin typeface="Times New Roman"/>
                <a:cs typeface="Times New Roman"/>
              </a:rPr>
              <a:t>, les transistors </a:t>
            </a:r>
            <a:r>
              <a:rPr lang="en-US" dirty="0" err="1">
                <a:latin typeface="Times New Roman"/>
                <a:cs typeface="Times New Roman"/>
              </a:rPr>
              <a:t>peuvent</a:t>
            </a:r>
            <a:r>
              <a:rPr lang="en-US" dirty="0">
                <a:latin typeface="Times New Roman"/>
                <a:cs typeface="Times New Roman"/>
              </a:rPr>
              <a:t> </a:t>
            </a:r>
            <a:r>
              <a:rPr lang="fr-FR" dirty="0" smtClean="0">
                <a:latin typeface="Times New Roman"/>
                <a:cs typeface="Times New Roman"/>
              </a:rPr>
              <a:t>être</a:t>
            </a:r>
            <a:r>
              <a:rPr lang="en-US" dirty="0">
                <a:latin typeface="Times New Roman"/>
                <a:cs typeface="Times New Roman"/>
              </a:rPr>
              <a:t> </a:t>
            </a:r>
            <a:r>
              <a:rPr lang="fr-FR" dirty="0" smtClean="0">
                <a:latin typeface="Times New Roman"/>
                <a:cs typeface="Times New Roman"/>
              </a:rPr>
              <a:t>classés</a:t>
            </a:r>
            <a:r>
              <a:rPr lang="en-US" dirty="0">
                <a:latin typeface="Times New Roman"/>
                <a:cs typeface="Times New Roman"/>
              </a:rPr>
              <a:t> </a:t>
            </a:r>
            <a:r>
              <a:rPr lang="fr-FR" dirty="0">
                <a:latin typeface="Times New Roman"/>
                <a:cs typeface="Times New Roman"/>
              </a:rPr>
              <a:t>suivant</a:t>
            </a:r>
            <a:r>
              <a:rPr lang="en-US" dirty="0">
                <a:latin typeface="Times New Roman"/>
                <a:cs typeface="Times New Roman"/>
              </a:rPr>
              <a:t> </a:t>
            </a:r>
            <a:r>
              <a:rPr lang="en-US" dirty="0" err="1">
                <a:latin typeface="Times New Roman"/>
                <a:cs typeface="Times New Roman"/>
              </a:rPr>
              <a:t>leur</a:t>
            </a:r>
            <a:r>
              <a:rPr lang="en-US" dirty="0">
                <a:latin typeface="Times New Roman"/>
                <a:cs typeface="Times New Roman"/>
              </a:rPr>
              <a:t> </a:t>
            </a:r>
            <a:r>
              <a:rPr lang="en-US" dirty="0" err="1">
                <a:latin typeface="Times New Roman"/>
                <a:cs typeface="Times New Roman"/>
              </a:rPr>
              <a:t>gamme</a:t>
            </a:r>
            <a:r>
              <a:rPr lang="en-US" dirty="0">
                <a:latin typeface="Times New Roman"/>
                <a:cs typeface="Times New Roman"/>
              </a:rPr>
              <a:t> de </a:t>
            </a:r>
            <a:r>
              <a:rPr lang="fr-FR" dirty="0" smtClean="0">
                <a:latin typeface="Times New Roman"/>
                <a:cs typeface="Times New Roman"/>
              </a:rPr>
              <a:t>fréquence</a:t>
            </a:r>
            <a:r>
              <a:rPr lang="en-US" dirty="0">
                <a:latin typeface="Times New Roman"/>
                <a:cs typeface="Times New Roman"/>
              </a:rPr>
              <a:t> :</a:t>
            </a:r>
            <a:endParaRPr lang="en-US" dirty="0">
              <a:ea typeface="+mn-lt"/>
              <a:cs typeface="+mn-lt"/>
            </a:endParaRPr>
          </a:p>
          <a:p>
            <a:pPr marL="383540" indent="-383540">
              <a:lnSpc>
                <a:spcPct val="100000"/>
              </a:lnSpc>
              <a:spcBef>
                <a:spcPct val="20000"/>
              </a:spcBef>
              <a:spcAft>
                <a:spcPct val="0"/>
              </a:spcAft>
            </a:pPr>
            <a:r>
              <a:rPr lang="fr-FR" dirty="0">
                <a:latin typeface="Times New Roman"/>
                <a:cs typeface="Times New Roman"/>
              </a:rPr>
              <a:t>Les transistors pour les fréquences basses (fonctionnent correctement jusqu'à quelques MHz). </a:t>
            </a:r>
            <a:endParaRPr lang="en-US" dirty="0">
              <a:ea typeface="+mn-lt"/>
              <a:cs typeface="+mn-lt"/>
            </a:endParaRPr>
          </a:p>
          <a:p>
            <a:pPr marL="383540" indent="-383540">
              <a:lnSpc>
                <a:spcPct val="100000"/>
              </a:lnSpc>
              <a:spcBef>
                <a:spcPct val="20000"/>
              </a:spcBef>
              <a:spcAft>
                <a:spcPct val="0"/>
              </a:spcAft>
            </a:pPr>
            <a:r>
              <a:rPr lang="fr-FR" dirty="0">
                <a:latin typeface="Times New Roman"/>
                <a:cs typeface="Times New Roman"/>
              </a:rPr>
              <a:t>Pour les moyennes fonctionnent correctement (jusqu'à quelques dizaines de MHz). </a:t>
            </a:r>
            <a:endParaRPr lang="en-US" dirty="0">
              <a:ea typeface="+mn-lt"/>
              <a:cs typeface="+mn-lt"/>
            </a:endParaRPr>
          </a:p>
          <a:p>
            <a:pPr marL="383540" indent="-383540">
              <a:lnSpc>
                <a:spcPct val="100000"/>
              </a:lnSpc>
              <a:spcBef>
                <a:spcPct val="20000"/>
              </a:spcBef>
              <a:spcAft>
                <a:spcPct val="0"/>
              </a:spcAft>
            </a:pPr>
            <a:r>
              <a:rPr lang="fr-FR" dirty="0">
                <a:latin typeface="Times New Roman"/>
                <a:cs typeface="Times New Roman"/>
              </a:rPr>
              <a:t>Les transistors hautes fréquences (jusqu'à quelques GHz), encore plus hautes (fréquences maximales d'oscillation de plusieurs centaines de GHz).</a:t>
            </a:r>
            <a:endParaRPr lang="en-US" dirty="0">
              <a:ea typeface="+mn-lt"/>
              <a:cs typeface="+mn-lt"/>
            </a:endParaRPr>
          </a:p>
          <a:p>
            <a:pPr marL="383540" indent="-383540"/>
            <a:endParaRPr lang="fr-FR" dirty="0"/>
          </a:p>
        </p:txBody>
      </p:sp>
    </p:spTree>
    <p:extLst>
      <p:ext uri="{BB962C8B-B14F-4D97-AF65-F5344CB8AC3E}">
        <p14:creationId xmlns:p14="http://schemas.microsoft.com/office/powerpoint/2010/main" val="2881379007"/>
      </p:ext>
    </p:extLst>
  </p:cSld>
  <p:clrMapOvr>
    <a:masterClrMapping/>
  </p:clrMapOvr>
  <p:transition spd="slow">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56D6EB-3374-2300-DA60-E730ACB70367}"/>
              </a:ext>
            </a:extLst>
          </p:cNvPr>
          <p:cNvSpPr>
            <a:spLocks noGrp="1"/>
          </p:cNvSpPr>
          <p:nvPr>
            <p:ph type="title"/>
          </p:nvPr>
        </p:nvSpPr>
        <p:spPr>
          <a:xfrm>
            <a:off x="1371600" y="685800"/>
            <a:ext cx="9601200" cy="712355"/>
          </a:xfrm>
        </p:spPr>
        <p:txBody>
          <a:bodyPr/>
          <a:lstStyle/>
          <a:p>
            <a:r>
              <a:rPr lang="en-US" dirty="0">
                <a:ea typeface="+mj-lt"/>
                <a:cs typeface="+mj-lt"/>
              </a:rPr>
              <a:t>Composition interne</a:t>
            </a:r>
            <a:endParaRPr lang="fr-FR" dirty="0">
              <a:ea typeface="+mj-lt"/>
              <a:cs typeface="+mj-lt"/>
            </a:endParaRPr>
          </a:p>
          <a:p>
            <a:endParaRPr lang="fr-FR" dirty="0"/>
          </a:p>
        </p:txBody>
      </p:sp>
      <p:sp>
        <p:nvSpPr>
          <p:cNvPr id="6" name="Espace réservé du contenu 2">
            <a:extLst>
              <a:ext uri="{FF2B5EF4-FFF2-40B4-BE49-F238E27FC236}">
                <a16:creationId xmlns:a16="http://schemas.microsoft.com/office/drawing/2014/main" id="{5052CA32-0F25-18CA-2CE2-537F04BA68A4}"/>
              </a:ext>
            </a:extLst>
          </p:cNvPr>
          <p:cNvSpPr>
            <a:spLocks noGrp="1"/>
          </p:cNvSpPr>
          <p:nvPr/>
        </p:nvSpPr>
        <p:spPr>
          <a:xfrm>
            <a:off x="1299713" y="1912189"/>
            <a:ext cx="9601200" cy="950344"/>
          </a:xfrm>
          <a:prstGeom prst="rect">
            <a:avLst/>
          </a:prstGeom>
        </p:spPr>
        <p:txBody>
          <a:bodyPr vert="horz" lIns="91440" tIns="45720" rIns="91440" bIns="45720" rtlCol="0" anchor="t">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383540" indent="-383540">
              <a:lnSpc>
                <a:spcPct val="100000"/>
              </a:lnSpc>
              <a:spcBef>
                <a:spcPct val="20000"/>
              </a:spcBef>
              <a:spcAft>
                <a:spcPct val="0"/>
              </a:spcAft>
            </a:pPr>
            <a:r>
              <a:rPr lang="fr-FR" dirty="0">
                <a:latin typeface="Times New Roman"/>
                <a:cs typeface="Times New Roman"/>
              </a:rPr>
              <a:t>Un transistor bipolaire est formé d’un cristal de silicium comportant trois zones de dopage distinctes. Selon les cas, les transistors sont dits NPN ou PNP.</a:t>
            </a:r>
            <a:endParaRPr lang="en-US" dirty="0">
              <a:ea typeface="+mn-lt"/>
              <a:cs typeface="+mn-lt"/>
            </a:endParaRPr>
          </a:p>
          <a:p>
            <a:pPr marL="383540" indent="-383540"/>
            <a:endParaRPr lang="fr-FR" dirty="0"/>
          </a:p>
        </p:txBody>
      </p:sp>
      <p:sp>
        <p:nvSpPr>
          <p:cNvPr id="7" name="Espace réservé du contenu 2">
            <a:extLst>
              <a:ext uri="{FF2B5EF4-FFF2-40B4-BE49-F238E27FC236}">
                <a16:creationId xmlns:a16="http://schemas.microsoft.com/office/drawing/2014/main" id="{5052CA32-0F25-18CA-2CE2-537F04BA68A4}"/>
              </a:ext>
            </a:extLst>
          </p:cNvPr>
          <p:cNvSpPr>
            <a:spLocks noGrp="1"/>
          </p:cNvSpPr>
          <p:nvPr/>
        </p:nvSpPr>
        <p:spPr>
          <a:xfrm>
            <a:off x="1198174" y="5146195"/>
            <a:ext cx="9601200" cy="950344"/>
          </a:xfrm>
          <a:prstGeom prst="rect">
            <a:avLst/>
          </a:prstGeom>
        </p:spPr>
        <p:txBody>
          <a:bodyPr vert="horz" lIns="91440" tIns="45720" rIns="91440" bIns="45720" rtlCol="0" anchor="t">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383540" indent="-383540">
              <a:lnSpc>
                <a:spcPct val="100000"/>
              </a:lnSpc>
              <a:spcBef>
                <a:spcPct val="20000"/>
              </a:spcBef>
              <a:spcAft>
                <a:spcPct val="0"/>
              </a:spcAft>
            </a:pPr>
            <a:r>
              <a:rPr lang="fr-FR" dirty="0">
                <a:latin typeface="Times New Roman"/>
                <a:cs typeface="Times New Roman"/>
              </a:rPr>
              <a:t>La région centrale est appelée base, les deux régions de même nature étant appelées respectivement émetteur et collecteur.</a:t>
            </a:r>
            <a:endParaRPr lang="en-US" dirty="0">
              <a:ea typeface="+mn-lt"/>
              <a:cs typeface="+mn-lt"/>
            </a:endParaRPr>
          </a:p>
          <a:p>
            <a:pPr marL="383540" indent="-383540">
              <a:lnSpc>
                <a:spcPct val="100000"/>
              </a:lnSpc>
              <a:spcBef>
                <a:spcPct val="20000"/>
              </a:spcBef>
              <a:spcAft>
                <a:spcPct val="0"/>
              </a:spcAft>
            </a:pPr>
            <a:endParaRPr lang="fr-FR" dirty="0">
              <a:latin typeface="Times New Roman"/>
              <a:cs typeface="Times New Roman"/>
            </a:endParaRPr>
          </a:p>
        </p:txBody>
      </p:sp>
      <p:pic>
        <p:nvPicPr>
          <p:cNvPr id="8" name="Image 8">
            <a:extLst>
              <a:ext uri="{FF2B5EF4-FFF2-40B4-BE49-F238E27FC236}">
                <a16:creationId xmlns:a16="http://schemas.microsoft.com/office/drawing/2014/main" id="{295C0BA4-C36C-C5F9-84F2-F61659AB6EB6}"/>
              </a:ext>
            </a:extLst>
          </p:cNvPr>
          <p:cNvPicPr>
            <a:picLocks noChangeAspect="1"/>
          </p:cNvPicPr>
          <p:nvPr/>
        </p:nvPicPr>
        <p:blipFill>
          <a:blip r:embed="rId2"/>
          <a:stretch>
            <a:fillRect/>
          </a:stretch>
        </p:blipFill>
        <p:spPr>
          <a:xfrm>
            <a:off x="3662003" y="2765125"/>
            <a:ext cx="1704975" cy="2247900"/>
          </a:xfrm>
          <a:prstGeom prst="rect">
            <a:avLst/>
          </a:prstGeom>
        </p:spPr>
      </p:pic>
      <p:pic>
        <p:nvPicPr>
          <p:cNvPr id="9" name="Image 9">
            <a:extLst>
              <a:ext uri="{FF2B5EF4-FFF2-40B4-BE49-F238E27FC236}">
                <a16:creationId xmlns:a16="http://schemas.microsoft.com/office/drawing/2014/main" id="{6434130F-7353-54DD-E994-971FFCF7A241}"/>
              </a:ext>
            </a:extLst>
          </p:cNvPr>
          <p:cNvPicPr>
            <a:picLocks noChangeAspect="1"/>
          </p:cNvPicPr>
          <p:nvPr/>
        </p:nvPicPr>
        <p:blipFill>
          <a:blip r:embed="rId3"/>
          <a:stretch>
            <a:fillRect/>
          </a:stretch>
        </p:blipFill>
        <p:spPr>
          <a:xfrm>
            <a:off x="1994140" y="2765125"/>
            <a:ext cx="1676400" cy="2247900"/>
          </a:xfrm>
          <a:prstGeom prst="rect">
            <a:avLst/>
          </a:prstGeom>
        </p:spPr>
      </p:pic>
      <p:pic>
        <p:nvPicPr>
          <p:cNvPr id="10" name="Image 10">
            <a:extLst>
              <a:ext uri="{FF2B5EF4-FFF2-40B4-BE49-F238E27FC236}">
                <a16:creationId xmlns:a16="http://schemas.microsoft.com/office/drawing/2014/main" id="{D8EAA68A-FDE8-4F97-51DB-ABC4942043A8}"/>
              </a:ext>
            </a:extLst>
          </p:cNvPr>
          <p:cNvPicPr>
            <a:picLocks noChangeAspect="1"/>
          </p:cNvPicPr>
          <p:nvPr/>
        </p:nvPicPr>
        <p:blipFill>
          <a:blip r:embed="rId4"/>
          <a:stretch>
            <a:fillRect/>
          </a:stretch>
        </p:blipFill>
        <p:spPr>
          <a:xfrm>
            <a:off x="6992698" y="2765125"/>
            <a:ext cx="1685925" cy="2247900"/>
          </a:xfrm>
          <a:prstGeom prst="rect">
            <a:avLst/>
          </a:prstGeom>
        </p:spPr>
      </p:pic>
      <p:pic>
        <p:nvPicPr>
          <p:cNvPr id="11" name="Image 11">
            <a:extLst>
              <a:ext uri="{FF2B5EF4-FFF2-40B4-BE49-F238E27FC236}">
                <a16:creationId xmlns:a16="http://schemas.microsoft.com/office/drawing/2014/main" id="{902D945F-F10F-C4C4-B3A4-AD391F72B24D}"/>
              </a:ext>
            </a:extLst>
          </p:cNvPr>
          <p:cNvPicPr>
            <a:picLocks noChangeAspect="1"/>
          </p:cNvPicPr>
          <p:nvPr/>
        </p:nvPicPr>
        <p:blipFill>
          <a:blip r:embed="rId5"/>
          <a:stretch>
            <a:fillRect/>
          </a:stretch>
        </p:blipFill>
        <p:spPr>
          <a:xfrm>
            <a:off x="8689227" y="2760363"/>
            <a:ext cx="1685925" cy="2257425"/>
          </a:xfrm>
          <a:prstGeom prst="rect">
            <a:avLst/>
          </a:prstGeom>
        </p:spPr>
      </p:pic>
    </p:spTree>
    <p:extLst>
      <p:ext uri="{BB962C8B-B14F-4D97-AF65-F5344CB8AC3E}">
        <p14:creationId xmlns:p14="http://schemas.microsoft.com/office/powerpoint/2010/main" val="3584577447"/>
      </p:ext>
    </p:extLst>
  </p:cSld>
  <p:clrMapOvr>
    <a:masterClrMapping/>
  </p:clrMapOvr>
  <p:transition spd="slow">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2">
            <a:extLst>
              <a:ext uri="{FF2B5EF4-FFF2-40B4-BE49-F238E27FC236}">
                <a16:creationId xmlns:a16="http://schemas.microsoft.com/office/drawing/2014/main" id="{153F0C44-A849-0BF9-63C4-9399DF614353}"/>
              </a:ext>
            </a:extLst>
          </p:cNvPr>
          <p:cNvSpPr>
            <a:spLocks noGrp="1"/>
          </p:cNvSpPr>
          <p:nvPr/>
        </p:nvSpPr>
        <p:spPr>
          <a:xfrm>
            <a:off x="1371600" y="2487283"/>
            <a:ext cx="9601200" cy="1895765"/>
          </a:xfrm>
          <a:prstGeom prst="rect">
            <a:avLst/>
          </a:prstGeom>
        </p:spPr>
        <p:txBody>
          <a:bodyPr vert="horz" lIns="91440" tIns="45720" rIns="91440" bIns="45720" rtlCol="0" anchor="t">
            <a:normAutofit lnSpcReduction="10000"/>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nSpc>
                <a:spcPct val="150000"/>
              </a:lnSpc>
              <a:spcBef>
                <a:spcPct val="20000"/>
              </a:spcBef>
              <a:spcAft>
                <a:spcPct val="0"/>
              </a:spcAft>
              <a:buClr>
                <a:schemeClr val="tx1"/>
              </a:buClr>
              <a:buNone/>
            </a:pPr>
            <a:r>
              <a:rPr lang="en-US" b="1" dirty="0" err="1">
                <a:latin typeface="Times New Roman"/>
                <a:cs typeface="Times New Roman"/>
              </a:rPr>
              <a:t>Niveaux</a:t>
            </a:r>
            <a:r>
              <a:rPr lang="en-US" b="1" dirty="0">
                <a:latin typeface="Times New Roman"/>
                <a:cs typeface="Times New Roman"/>
              </a:rPr>
              <a:t> de </a:t>
            </a:r>
            <a:r>
              <a:rPr lang="en-US" b="1" dirty="0" err="1">
                <a:latin typeface="Times New Roman"/>
                <a:cs typeface="Times New Roman"/>
              </a:rPr>
              <a:t>dopage</a:t>
            </a:r>
            <a:r>
              <a:rPr lang="en-US" b="1" dirty="0">
                <a:latin typeface="Times New Roman"/>
                <a:cs typeface="Times New Roman"/>
              </a:rPr>
              <a:t> :</a:t>
            </a:r>
          </a:p>
          <a:p>
            <a:pPr>
              <a:lnSpc>
                <a:spcPct val="100000"/>
              </a:lnSpc>
              <a:spcBef>
                <a:spcPct val="20000"/>
              </a:spcBef>
              <a:spcAft>
                <a:spcPct val="0"/>
              </a:spcAft>
              <a:buFont typeface="Wingdings" panose="05000000000000000000" pitchFamily="2" charset="2"/>
              <a:buChar char="v"/>
            </a:pPr>
            <a:r>
              <a:rPr lang="fr-FR" dirty="0">
                <a:latin typeface="Times New Roman"/>
                <a:cs typeface="Times New Roman"/>
              </a:rPr>
              <a:t>La Base (B) est très mince et légèrement dopée</a:t>
            </a:r>
            <a:endParaRPr lang="en-US" dirty="0">
              <a:latin typeface="Times New Roman"/>
              <a:ea typeface="+mn-lt"/>
              <a:cs typeface="+mn-lt"/>
            </a:endParaRPr>
          </a:p>
          <a:p>
            <a:pPr>
              <a:lnSpc>
                <a:spcPct val="100000"/>
              </a:lnSpc>
              <a:spcBef>
                <a:spcPct val="20000"/>
              </a:spcBef>
              <a:spcAft>
                <a:spcPct val="0"/>
              </a:spcAft>
              <a:buFont typeface="Wingdings" panose="05000000000000000000" pitchFamily="2" charset="2"/>
              <a:buChar char="v"/>
            </a:pPr>
            <a:r>
              <a:rPr lang="fr-FR" dirty="0">
                <a:latin typeface="Times New Roman"/>
                <a:cs typeface="Times New Roman"/>
              </a:rPr>
              <a:t>L’Emetteur (E) est fortement dopé, Il injecte des électrons dans la base.</a:t>
            </a:r>
            <a:endParaRPr lang="en-US" dirty="0">
              <a:latin typeface="Times New Roman"/>
              <a:ea typeface="+mn-lt"/>
              <a:cs typeface="+mn-lt"/>
            </a:endParaRPr>
          </a:p>
          <a:p>
            <a:pPr>
              <a:lnSpc>
                <a:spcPct val="100000"/>
              </a:lnSpc>
              <a:spcBef>
                <a:spcPct val="20000"/>
              </a:spcBef>
              <a:spcAft>
                <a:spcPct val="0"/>
              </a:spcAft>
              <a:buFont typeface="Wingdings" panose="05000000000000000000" pitchFamily="2" charset="2"/>
              <a:buChar char="v"/>
            </a:pPr>
            <a:r>
              <a:rPr lang="fr-FR" dirty="0">
                <a:latin typeface="Times New Roman"/>
                <a:cs typeface="Times New Roman"/>
              </a:rPr>
              <a:t>Le Collecteur (C) est moyennement dopé. Il collecte les électrons venant de la base. Le collecteur est la région la plus large de 3 régions. </a:t>
            </a:r>
            <a:endParaRPr lang="en-US" dirty="0">
              <a:latin typeface="Times New Roman"/>
              <a:ea typeface="+mn-lt"/>
              <a:cs typeface="+mn-lt"/>
            </a:endParaRPr>
          </a:p>
          <a:p>
            <a:pPr marL="0" indent="0">
              <a:lnSpc>
                <a:spcPct val="100000"/>
              </a:lnSpc>
              <a:spcBef>
                <a:spcPct val="20000"/>
              </a:spcBef>
              <a:spcAft>
                <a:spcPct val="0"/>
              </a:spcAft>
              <a:buNone/>
            </a:pPr>
            <a:endParaRPr lang="fr-FR" dirty="0">
              <a:latin typeface="Times New Roman"/>
              <a:ea typeface="+mn-lt"/>
              <a:cs typeface="Times New Roman"/>
            </a:endParaRPr>
          </a:p>
          <a:p>
            <a:pPr marL="0" indent="0">
              <a:lnSpc>
                <a:spcPct val="100000"/>
              </a:lnSpc>
              <a:spcBef>
                <a:spcPct val="20000"/>
              </a:spcBef>
              <a:spcAft>
                <a:spcPct val="0"/>
              </a:spcAft>
              <a:buNone/>
            </a:pPr>
            <a:endParaRPr lang="fr-FR" dirty="0">
              <a:latin typeface="Times New Roman"/>
              <a:ea typeface="+mn-lt"/>
              <a:cs typeface="+mn-lt"/>
            </a:endParaRPr>
          </a:p>
          <a:p>
            <a:pPr marL="383540" indent="-383540">
              <a:lnSpc>
                <a:spcPct val="100000"/>
              </a:lnSpc>
              <a:spcBef>
                <a:spcPct val="20000"/>
              </a:spcBef>
              <a:spcAft>
                <a:spcPct val="0"/>
              </a:spcAft>
            </a:pPr>
            <a:endParaRPr lang="fr-FR" dirty="0">
              <a:latin typeface="Times New Roman"/>
              <a:ea typeface="+mn-lt"/>
              <a:cs typeface="+mn-lt"/>
            </a:endParaRPr>
          </a:p>
          <a:p>
            <a:pPr marL="383540" indent="-383540">
              <a:lnSpc>
                <a:spcPct val="100000"/>
              </a:lnSpc>
              <a:spcBef>
                <a:spcPct val="20000"/>
              </a:spcBef>
              <a:spcAft>
                <a:spcPct val="0"/>
              </a:spcAft>
            </a:pPr>
            <a:endParaRPr lang="fr-FR" dirty="0">
              <a:latin typeface="Times New Roman"/>
              <a:ea typeface="+mn-lt"/>
              <a:cs typeface="+mn-lt"/>
            </a:endParaRPr>
          </a:p>
          <a:p>
            <a:pPr marL="383540" indent="-383540">
              <a:lnSpc>
                <a:spcPct val="100000"/>
              </a:lnSpc>
              <a:spcBef>
                <a:spcPct val="20000"/>
              </a:spcBef>
              <a:spcAft>
                <a:spcPct val="0"/>
              </a:spcAft>
            </a:pPr>
            <a:endParaRPr lang="fr-FR" dirty="0">
              <a:latin typeface="Times New Roman"/>
              <a:ea typeface="+mn-lt"/>
              <a:cs typeface="+mn-lt"/>
            </a:endParaRPr>
          </a:p>
          <a:p>
            <a:pPr marL="383540" indent="-383540"/>
            <a:endParaRPr lang="fr-FR" dirty="0">
              <a:latin typeface="Times New Roman"/>
              <a:ea typeface="+mn-lt"/>
              <a:cs typeface="+mn-lt"/>
            </a:endParaRPr>
          </a:p>
          <a:p>
            <a:pPr marL="383540" indent="-383540">
              <a:lnSpc>
                <a:spcPct val="100000"/>
              </a:lnSpc>
              <a:spcBef>
                <a:spcPct val="20000"/>
              </a:spcBef>
              <a:spcAft>
                <a:spcPct val="0"/>
              </a:spcAft>
            </a:pPr>
            <a:endParaRPr lang="fr-FR" dirty="0">
              <a:latin typeface="Times New Roman"/>
              <a:ea typeface="+mn-lt"/>
              <a:cs typeface="+mn-lt"/>
            </a:endParaRPr>
          </a:p>
          <a:p>
            <a:pPr marL="383540" indent="-383540"/>
            <a:endParaRPr lang="fr-FR" dirty="0">
              <a:latin typeface="Times New Roman"/>
              <a:ea typeface="+mn-lt"/>
              <a:cs typeface="+mn-lt"/>
            </a:endParaRPr>
          </a:p>
          <a:p>
            <a:pPr marL="383540" indent="-383540">
              <a:lnSpc>
                <a:spcPct val="100000"/>
              </a:lnSpc>
              <a:spcBef>
                <a:spcPct val="20000"/>
              </a:spcBef>
              <a:spcAft>
                <a:spcPct val="0"/>
              </a:spcAft>
            </a:pPr>
            <a:endParaRPr lang="fr-FR" dirty="0">
              <a:latin typeface="Times New Roman"/>
              <a:cs typeface="Times New Roman"/>
            </a:endParaRPr>
          </a:p>
          <a:p>
            <a:pPr marL="383540" indent="-383540"/>
            <a:endParaRPr lang="fr-FR" dirty="0">
              <a:latin typeface="Times New Roman"/>
              <a:cs typeface="Times New Roman"/>
            </a:endParaRPr>
          </a:p>
        </p:txBody>
      </p:sp>
      <p:sp>
        <p:nvSpPr>
          <p:cNvPr id="7" name="Espace réservé du contenu 2">
            <a:extLst>
              <a:ext uri="{FF2B5EF4-FFF2-40B4-BE49-F238E27FC236}">
                <a16:creationId xmlns:a16="http://schemas.microsoft.com/office/drawing/2014/main" id="{153F0C44-A849-0BF9-63C4-9399DF614353}"/>
              </a:ext>
            </a:extLst>
          </p:cNvPr>
          <p:cNvSpPr>
            <a:spLocks noGrp="1"/>
          </p:cNvSpPr>
          <p:nvPr/>
        </p:nvSpPr>
        <p:spPr>
          <a:xfrm>
            <a:off x="1375929" y="4500521"/>
            <a:ext cx="9589655" cy="1087583"/>
          </a:xfrm>
          <a:prstGeom prst="rect">
            <a:avLst/>
          </a:prstGeom>
        </p:spPr>
        <p:txBody>
          <a:bodyPr vert="horz" lIns="91440" tIns="45720" rIns="91440" bIns="45720" rtlCol="0" anchor="t">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383540" indent="-383540" algn="just">
              <a:lnSpc>
                <a:spcPct val="100000"/>
              </a:lnSpc>
              <a:spcBef>
                <a:spcPct val="20000"/>
              </a:spcBef>
              <a:spcAft>
                <a:spcPct val="0"/>
              </a:spcAft>
            </a:pPr>
            <a:endParaRPr lang="en-US" sz="1900" dirty="0">
              <a:latin typeface="Times New Roman"/>
              <a:ea typeface="+mn-lt"/>
              <a:cs typeface="Times New Roman"/>
            </a:endParaRPr>
          </a:p>
          <a:p>
            <a:pPr algn="just">
              <a:lnSpc>
                <a:spcPct val="100000"/>
              </a:lnSpc>
              <a:spcBef>
                <a:spcPct val="20000"/>
              </a:spcBef>
              <a:spcAft>
                <a:spcPct val="0"/>
              </a:spcAft>
              <a:buFont typeface="Wingdings" panose="05000000000000000000" pitchFamily="2" charset="2"/>
              <a:buChar char="v"/>
            </a:pPr>
            <a:r>
              <a:rPr lang="fr-FR" sz="1900" dirty="0">
                <a:latin typeface="Times New Roman"/>
                <a:ea typeface="+mn-lt"/>
                <a:cs typeface="+mn-lt"/>
              </a:rPr>
              <a:t>Les transistors les plus utilises sont les transistors NPN. Alors dans la suite de la </a:t>
            </a:r>
            <a:r>
              <a:rPr lang="fr-FR" sz="1900" dirty="0" err="1">
                <a:latin typeface="Times New Roman"/>
                <a:ea typeface="+mn-lt"/>
                <a:cs typeface="+mn-lt"/>
              </a:rPr>
              <a:t>presententation</a:t>
            </a:r>
            <a:r>
              <a:rPr lang="fr-FR" sz="1900" dirty="0">
                <a:latin typeface="Times New Roman"/>
                <a:ea typeface="+mn-lt"/>
                <a:cs typeface="+mn-lt"/>
              </a:rPr>
              <a:t> on essayera de discuter uniquement les circuits</a:t>
            </a:r>
            <a:endParaRPr lang="en-US" sz="1900" dirty="0">
              <a:latin typeface="Times New Roman"/>
              <a:ea typeface="+mn-lt"/>
              <a:cs typeface="+mn-lt"/>
            </a:endParaRPr>
          </a:p>
          <a:p>
            <a:pPr marL="383540" indent="-383540" algn="just">
              <a:lnSpc>
                <a:spcPct val="100000"/>
              </a:lnSpc>
              <a:spcBef>
                <a:spcPct val="20000"/>
              </a:spcBef>
              <a:spcAft>
                <a:spcPct val="0"/>
              </a:spcAft>
            </a:pPr>
            <a:endParaRPr lang="fr-FR" sz="1900" dirty="0">
              <a:latin typeface="Times New Roman"/>
              <a:ea typeface="+mn-lt"/>
              <a:cs typeface="+mn-lt"/>
            </a:endParaRPr>
          </a:p>
          <a:p>
            <a:pPr marL="383540" indent="-383540" algn="just">
              <a:lnSpc>
                <a:spcPct val="100000"/>
              </a:lnSpc>
              <a:spcBef>
                <a:spcPct val="20000"/>
              </a:spcBef>
              <a:spcAft>
                <a:spcPct val="0"/>
              </a:spcAft>
            </a:pPr>
            <a:endParaRPr lang="fr-FR" sz="1900" dirty="0">
              <a:latin typeface="Times New Roman"/>
              <a:ea typeface="+mn-lt"/>
              <a:cs typeface="+mn-lt"/>
            </a:endParaRPr>
          </a:p>
          <a:p>
            <a:pPr marL="383540" indent="-383540" algn="just">
              <a:lnSpc>
                <a:spcPct val="100000"/>
              </a:lnSpc>
              <a:spcBef>
                <a:spcPct val="20000"/>
              </a:spcBef>
              <a:spcAft>
                <a:spcPct val="0"/>
              </a:spcAft>
            </a:pPr>
            <a:endParaRPr lang="fr-FR" sz="1900" dirty="0">
              <a:latin typeface="Times New Roman"/>
              <a:ea typeface="+mn-lt"/>
              <a:cs typeface="+mn-lt"/>
            </a:endParaRPr>
          </a:p>
          <a:p>
            <a:pPr marL="383540" indent="-383540" algn="just"/>
            <a:endParaRPr lang="fr-FR" sz="1900" dirty="0">
              <a:latin typeface="Times New Roman"/>
              <a:ea typeface="+mn-lt"/>
              <a:cs typeface="+mn-lt"/>
            </a:endParaRPr>
          </a:p>
          <a:p>
            <a:pPr marL="383540" indent="-383540" algn="just">
              <a:lnSpc>
                <a:spcPct val="100000"/>
              </a:lnSpc>
              <a:spcBef>
                <a:spcPct val="20000"/>
              </a:spcBef>
              <a:spcAft>
                <a:spcPct val="0"/>
              </a:spcAft>
            </a:pPr>
            <a:endParaRPr lang="fr-FR" sz="1900" dirty="0">
              <a:latin typeface="Times New Roman"/>
              <a:ea typeface="+mn-lt"/>
              <a:cs typeface="+mn-lt"/>
            </a:endParaRPr>
          </a:p>
          <a:p>
            <a:pPr marL="383540" indent="-383540" algn="just"/>
            <a:endParaRPr lang="fr-FR" sz="1900" dirty="0">
              <a:latin typeface="Times New Roman"/>
              <a:ea typeface="+mn-lt"/>
              <a:cs typeface="+mn-lt"/>
            </a:endParaRPr>
          </a:p>
          <a:p>
            <a:pPr marL="383540" indent="-383540" algn="just">
              <a:lnSpc>
                <a:spcPct val="100000"/>
              </a:lnSpc>
              <a:spcBef>
                <a:spcPct val="20000"/>
              </a:spcBef>
              <a:spcAft>
                <a:spcPct val="0"/>
              </a:spcAft>
            </a:pPr>
            <a:endParaRPr lang="fr-FR" sz="1900" dirty="0">
              <a:latin typeface="Times New Roman"/>
              <a:cs typeface="Times New Roman"/>
            </a:endParaRPr>
          </a:p>
          <a:p>
            <a:pPr marL="383540" indent="-383540" algn="just"/>
            <a:endParaRPr lang="fr-FR" sz="1900" dirty="0">
              <a:latin typeface="Times New Roman"/>
              <a:cs typeface="Times New Roman"/>
            </a:endParaRPr>
          </a:p>
        </p:txBody>
      </p:sp>
      <p:sp>
        <p:nvSpPr>
          <p:cNvPr id="5" name="Titre 1">
            <a:extLst>
              <a:ext uri="{FF2B5EF4-FFF2-40B4-BE49-F238E27FC236}">
                <a16:creationId xmlns:a16="http://schemas.microsoft.com/office/drawing/2014/main" id="{A21CF3C3-D2CB-7808-B3EE-4B26D98F625B}"/>
              </a:ext>
            </a:extLst>
          </p:cNvPr>
          <p:cNvSpPr>
            <a:spLocks noGrp="1"/>
          </p:cNvSpPr>
          <p:nvPr>
            <p:ph type="title"/>
          </p:nvPr>
        </p:nvSpPr>
        <p:spPr>
          <a:xfrm>
            <a:off x="1371600" y="685800"/>
            <a:ext cx="9601200" cy="654628"/>
          </a:xfrm>
        </p:spPr>
        <p:txBody>
          <a:bodyPr>
            <a:normAutofit fontScale="90000"/>
          </a:bodyPr>
          <a:lstStyle/>
          <a:p>
            <a:r>
              <a:rPr lang="en-US" dirty="0">
                <a:ea typeface="+mj-lt"/>
                <a:cs typeface="+mj-lt"/>
              </a:rPr>
              <a:t>Composition interne</a:t>
            </a:r>
            <a:endParaRPr lang="fr-FR" dirty="0">
              <a:ea typeface="+mj-lt"/>
              <a:cs typeface="+mj-lt"/>
            </a:endParaRPr>
          </a:p>
          <a:p>
            <a:endParaRPr lang="fr-FR" dirty="0"/>
          </a:p>
        </p:txBody>
      </p:sp>
    </p:spTree>
    <p:extLst>
      <p:ext uri="{BB962C8B-B14F-4D97-AF65-F5344CB8AC3E}">
        <p14:creationId xmlns:p14="http://schemas.microsoft.com/office/powerpoint/2010/main" val="762961136"/>
      </p:ext>
    </p:extLst>
  </p:cSld>
  <p:clrMapOvr>
    <a:masterClrMapping/>
  </p:clrMapOvr>
  <p:transition spd="slow">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1CF3C3-D2CB-7808-B3EE-4B26D98F625B}"/>
              </a:ext>
            </a:extLst>
          </p:cNvPr>
          <p:cNvSpPr>
            <a:spLocks noGrp="1"/>
          </p:cNvSpPr>
          <p:nvPr>
            <p:ph type="title"/>
          </p:nvPr>
        </p:nvSpPr>
        <p:spPr>
          <a:xfrm>
            <a:off x="1371600" y="685800"/>
            <a:ext cx="9601200" cy="654628"/>
          </a:xfrm>
        </p:spPr>
        <p:txBody>
          <a:bodyPr>
            <a:normAutofit fontScale="90000"/>
          </a:bodyPr>
          <a:lstStyle/>
          <a:p>
            <a:r>
              <a:rPr lang="en-US" dirty="0">
                <a:ea typeface="+mj-lt"/>
                <a:cs typeface="+mj-lt"/>
              </a:rPr>
              <a:t>Composition interne</a:t>
            </a:r>
            <a:endParaRPr lang="fr-FR" dirty="0">
              <a:ea typeface="+mj-lt"/>
              <a:cs typeface="+mj-lt"/>
            </a:endParaRPr>
          </a:p>
          <a:p>
            <a:endParaRPr lang="fr-FR" dirty="0"/>
          </a:p>
        </p:txBody>
      </p:sp>
      <p:sp>
        <p:nvSpPr>
          <p:cNvPr id="3" name="Espace réservé du contenu 2">
            <a:extLst>
              <a:ext uri="{FF2B5EF4-FFF2-40B4-BE49-F238E27FC236}">
                <a16:creationId xmlns:a16="http://schemas.microsoft.com/office/drawing/2014/main" id="{76AAC66C-E5A6-C84F-A9E1-C13C76399C8C}"/>
              </a:ext>
            </a:extLst>
          </p:cNvPr>
          <p:cNvSpPr>
            <a:spLocks noGrp="1"/>
          </p:cNvSpPr>
          <p:nvPr>
            <p:ph idx="1"/>
          </p:nvPr>
        </p:nvSpPr>
        <p:spPr/>
        <p:txBody>
          <a:bodyPr vert="horz" lIns="91440" tIns="45720" rIns="91440" bIns="45720" rtlCol="0" anchor="t">
            <a:normAutofit/>
          </a:bodyPr>
          <a:lstStyle/>
          <a:p>
            <a:pPr marL="383540" indent="-383540" algn="just">
              <a:lnSpc>
                <a:spcPct val="100000"/>
              </a:lnSpc>
              <a:spcBef>
                <a:spcPct val="20000"/>
              </a:spcBef>
              <a:spcAft>
                <a:spcPct val="0"/>
              </a:spcAft>
            </a:pPr>
            <a:r>
              <a:rPr lang="fr-FR" dirty="0">
                <a:latin typeface="Times New Roman"/>
                <a:cs typeface="Times New Roman"/>
              </a:rPr>
              <a:t>Un semi-conducteur type P est un semi-conducteur intrinsèque (ex : silicium Si) dans lequel on a introduit des impuretés de type accepteurs (ex : Bohr B). Ces impuretés sont ainsi appelées parce qu'elles acceptent un électron de la bande de conduction pour réaliser une liaison avec le cristal semi-conducteur.</a:t>
            </a:r>
            <a:endParaRPr lang="en-US" dirty="0">
              <a:ea typeface="+mn-lt"/>
              <a:cs typeface="+mn-lt"/>
            </a:endParaRPr>
          </a:p>
          <a:p>
            <a:pPr marL="383540" indent="-383540" algn="just">
              <a:lnSpc>
                <a:spcPct val="100000"/>
              </a:lnSpc>
              <a:spcBef>
                <a:spcPct val="20000"/>
              </a:spcBef>
              <a:spcAft>
                <a:spcPct val="0"/>
              </a:spcAft>
            </a:pPr>
            <a:r>
              <a:rPr lang="fr-FR" dirty="0">
                <a:latin typeface="Times New Roman"/>
                <a:cs typeface="Times New Roman"/>
              </a:rPr>
              <a:t>Un semi-conducteur type N est un semi-conducteur intrinsèque (ex : silicium Si) dans lequel on a introduit des impuretés de type donneurs (ex : arsenic As). Ces impuretés sont ainsi appelées parce qu'elles donnent un électron à la bande de conduction pour réaliser une liaison avec le cristal semi-conducteur . </a:t>
            </a:r>
            <a:endParaRPr lang="en-US" dirty="0">
              <a:ea typeface="+mn-lt"/>
              <a:cs typeface="+mn-lt"/>
            </a:endParaRPr>
          </a:p>
          <a:p>
            <a:pPr marL="383540" indent="-383540" algn="just">
              <a:lnSpc>
                <a:spcPct val="100000"/>
              </a:lnSpc>
              <a:spcBef>
                <a:spcPct val="20000"/>
              </a:spcBef>
              <a:spcAft>
                <a:spcPct val="0"/>
              </a:spcAft>
            </a:pPr>
            <a:endParaRPr lang="en-US" dirty="0">
              <a:ea typeface="+mn-lt"/>
              <a:cs typeface="+mn-lt"/>
            </a:endParaRPr>
          </a:p>
          <a:p>
            <a:pPr marL="383540" indent="-383540"/>
            <a:endParaRPr lang="fr-FR" dirty="0"/>
          </a:p>
        </p:txBody>
      </p:sp>
    </p:spTree>
    <p:extLst>
      <p:ext uri="{BB962C8B-B14F-4D97-AF65-F5344CB8AC3E}">
        <p14:creationId xmlns:p14="http://schemas.microsoft.com/office/powerpoint/2010/main" val="3473215869"/>
      </p:ext>
    </p:extLst>
  </p:cSld>
  <p:clrMapOvr>
    <a:masterClrMapping/>
  </p:clrMapOvr>
  <p:transition spd="slow">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4534D3-B80B-7E4D-7CD1-198B00841E04}"/>
              </a:ext>
            </a:extLst>
          </p:cNvPr>
          <p:cNvSpPr>
            <a:spLocks noGrp="1"/>
          </p:cNvSpPr>
          <p:nvPr>
            <p:ph type="title"/>
          </p:nvPr>
        </p:nvSpPr>
        <p:spPr>
          <a:xfrm>
            <a:off x="1371600" y="685800"/>
            <a:ext cx="9601200" cy="689264"/>
          </a:xfrm>
        </p:spPr>
        <p:txBody>
          <a:bodyPr/>
          <a:lstStyle/>
          <a:p>
            <a:r>
              <a:rPr lang="en-US" dirty="0"/>
              <a:t>Composition interne</a:t>
            </a:r>
            <a:endParaRPr lang="fr-FR" dirty="0">
              <a:ea typeface="+mj-lt"/>
              <a:cs typeface="+mj-lt"/>
            </a:endParaRPr>
          </a:p>
          <a:p>
            <a:endParaRPr lang="fr-FR" dirty="0">
              <a:ea typeface="+mj-lt"/>
              <a:cs typeface="+mj-lt"/>
            </a:endParaRPr>
          </a:p>
          <a:p>
            <a:endParaRPr lang="fr-FR" dirty="0"/>
          </a:p>
        </p:txBody>
      </p:sp>
      <p:sp>
        <p:nvSpPr>
          <p:cNvPr id="3" name="Espace réservé du contenu 2">
            <a:extLst>
              <a:ext uri="{FF2B5EF4-FFF2-40B4-BE49-F238E27FC236}">
                <a16:creationId xmlns:a16="http://schemas.microsoft.com/office/drawing/2014/main" id="{C34A1ACD-AFC2-B518-2BF6-94752183EEFD}"/>
              </a:ext>
            </a:extLst>
          </p:cNvPr>
          <p:cNvSpPr>
            <a:spLocks noGrp="1"/>
          </p:cNvSpPr>
          <p:nvPr>
            <p:ph idx="1"/>
          </p:nvPr>
        </p:nvSpPr>
        <p:spPr>
          <a:xfrm>
            <a:off x="1371600" y="2006545"/>
            <a:ext cx="9601200" cy="921589"/>
          </a:xfrm>
        </p:spPr>
        <p:txBody>
          <a:bodyPr vert="horz" lIns="91440" tIns="45720" rIns="91440" bIns="45720" rtlCol="0" anchor="t">
            <a:normAutofit/>
          </a:bodyPr>
          <a:lstStyle/>
          <a:p>
            <a:pPr marL="383540" indent="-383540">
              <a:lnSpc>
                <a:spcPct val="100000"/>
              </a:lnSpc>
              <a:spcBef>
                <a:spcPct val="20000"/>
              </a:spcBef>
              <a:spcAft>
                <a:spcPct val="0"/>
              </a:spcAft>
            </a:pPr>
            <a:r>
              <a:rPr lang="fr-FR" dirty="0">
                <a:latin typeface="Times New Roman"/>
                <a:cs typeface="Times New Roman"/>
              </a:rPr>
              <a:t>Une jonction PN est la mise en contact entre un semi-conducteur type N et un semi-conducteur type P issus d'un même cristal.</a:t>
            </a:r>
            <a:endParaRPr lang="en-US" dirty="0">
              <a:ea typeface="+mn-lt"/>
              <a:cs typeface="+mn-lt"/>
            </a:endParaRPr>
          </a:p>
          <a:p>
            <a:pPr marL="383540" indent="-383540">
              <a:lnSpc>
                <a:spcPct val="100000"/>
              </a:lnSpc>
              <a:spcBef>
                <a:spcPct val="20000"/>
              </a:spcBef>
              <a:spcAft>
                <a:spcPct val="0"/>
              </a:spcAft>
            </a:pPr>
            <a:endParaRPr lang="en-US" dirty="0">
              <a:ea typeface="+mn-lt"/>
              <a:cs typeface="+mn-lt"/>
            </a:endParaRPr>
          </a:p>
          <a:p>
            <a:pPr marL="383540" indent="-383540"/>
            <a:endParaRPr lang="fr-FR" dirty="0"/>
          </a:p>
        </p:txBody>
      </p:sp>
      <p:pic>
        <p:nvPicPr>
          <p:cNvPr id="4" name="Image 4">
            <a:extLst>
              <a:ext uri="{FF2B5EF4-FFF2-40B4-BE49-F238E27FC236}">
                <a16:creationId xmlns:a16="http://schemas.microsoft.com/office/drawing/2014/main" id="{3792D3C3-473F-8EEB-F54F-2BB11D1E5FAE}"/>
              </a:ext>
            </a:extLst>
          </p:cNvPr>
          <p:cNvPicPr>
            <a:picLocks noChangeAspect="1"/>
          </p:cNvPicPr>
          <p:nvPr/>
        </p:nvPicPr>
        <p:blipFill>
          <a:blip r:embed="rId2"/>
          <a:stretch>
            <a:fillRect/>
          </a:stretch>
        </p:blipFill>
        <p:spPr>
          <a:xfrm>
            <a:off x="2097839" y="3013291"/>
            <a:ext cx="2743200" cy="1751570"/>
          </a:xfrm>
          <a:prstGeom prst="rect">
            <a:avLst/>
          </a:prstGeom>
        </p:spPr>
      </p:pic>
      <p:pic>
        <p:nvPicPr>
          <p:cNvPr id="5" name="Image 5">
            <a:extLst>
              <a:ext uri="{FF2B5EF4-FFF2-40B4-BE49-F238E27FC236}">
                <a16:creationId xmlns:a16="http://schemas.microsoft.com/office/drawing/2014/main" id="{8AE8FACB-4DE8-9AF3-5282-91275C34D438}"/>
              </a:ext>
            </a:extLst>
          </p:cNvPr>
          <p:cNvPicPr>
            <a:picLocks noChangeAspect="1"/>
          </p:cNvPicPr>
          <p:nvPr/>
        </p:nvPicPr>
        <p:blipFill>
          <a:blip r:embed="rId3"/>
          <a:stretch>
            <a:fillRect/>
          </a:stretch>
        </p:blipFill>
        <p:spPr>
          <a:xfrm>
            <a:off x="7355456" y="3013291"/>
            <a:ext cx="2743200" cy="1751570"/>
          </a:xfrm>
          <a:prstGeom prst="rect">
            <a:avLst/>
          </a:prstGeom>
        </p:spPr>
      </p:pic>
      <p:pic>
        <p:nvPicPr>
          <p:cNvPr id="6" name="Image 6">
            <a:extLst>
              <a:ext uri="{FF2B5EF4-FFF2-40B4-BE49-F238E27FC236}">
                <a16:creationId xmlns:a16="http://schemas.microsoft.com/office/drawing/2014/main" id="{455924A6-C9DB-00A8-1E03-FD02B55552CC}"/>
              </a:ext>
            </a:extLst>
          </p:cNvPr>
          <p:cNvPicPr>
            <a:picLocks noChangeAspect="1"/>
          </p:cNvPicPr>
          <p:nvPr/>
        </p:nvPicPr>
        <p:blipFill>
          <a:blip r:embed="rId4"/>
          <a:stretch>
            <a:fillRect/>
          </a:stretch>
        </p:blipFill>
        <p:spPr>
          <a:xfrm>
            <a:off x="4724400" y="4935172"/>
            <a:ext cx="2743200" cy="1645920"/>
          </a:xfrm>
          <a:prstGeom prst="rect">
            <a:avLst/>
          </a:prstGeom>
        </p:spPr>
      </p:pic>
    </p:spTree>
    <p:extLst>
      <p:ext uri="{BB962C8B-B14F-4D97-AF65-F5344CB8AC3E}">
        <p14:creationId xmlns:p14="http://schemas.microsoft.com/office/powerpoint/2010/main" val="50272222"/>
      </p:ext>
    </p:extLst>
  </p:cSld>
  <p:clrMapOvr>
    <a:masterClrMapping/>
  </p:clrMapOvr>
  <p:transition spd="slow">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F4534D3-B80B-7E4D-7CD1-198B00841E04}"/>
              </a:ext>
            </a:extLst>
          </p:cNvPr>
          <p:cNvSpPr>
            <a:spLocks noGrp="1"/>
          </p:cNvSpPr>
          <p:nvPr>
            <p:ph type="title"/>
          </p:nvPr>
        </p:nvSpPr>
        <p:spPr>
          <a:xfrm>
            <a:off x="1371600" y="685800"/>
            <a:ext cx="9601200" cy="689264"/>
          </a:xfrm>
        </p:spPr>
        <p:txBody>
          <a:bodyPr/>
          <a:lstStyle/>
          <a:p>
            <a:r>
              <a:rPr lang="en-US" dirty="0"/>
              <a:t>Composition interne</a:t>
            </a:r>
            <a:endParaRPr lang="fr-FR" dirty="0">
              <a:ea typeface="+mj-lt"/>
              <a:cs typeface="+mj-lt"/>
            </a:endParaRPr>
          </a:p>
          <a:p>
            <a:endParaRPr lang="fr-FR" dirty="0">
              <a:ea typeface="+mj-lt"/>
              <a:cs typeface="+mj-lt"/>
            </a:endParaRPr>
          </a:p>
          <a:p>
            <a:endParaRPr lang="fr-FR" dirty="0"/>
          </a:p>
        </p:txBody>
      </p:sp>
      <p:sp>
        <p:nvSpPr>
          <p:cNvPr id="8" name="Rectangle 7"/>
          <p:cNvSpPr/>
          <p:nvPr/>
        </p:nvSpPr>
        <p:spPr>
          <a:xfrm>
            <a:off x="1244957" y="1770527"/>
            <a:ext cx="10165724" cy="1323439"/>
          </a:xfrm>
          <a:prstGeom prst="rect">
            <a:avLst/>
          </a:prstGeom>
        </p:spPr>
        <p:txBody>
          <a:bodyPr wrap="square">
            <a:spAutoFit/>
          </a:bodyPr>
          <a:lstStyle/>
          <a:p>
            <a:pPr algn="just"/>
            <a:r>
              <a:rPr lang="fr-FR" sz="2000" dirty="0">
                <a:solidFill>
                  <a:schemeClr val="tx2"/>
                </a:solidFill>
                <a:latin typeface="Times New Roman"/>
                <a:cs typeface="Times New Roman"/>
              </a:rPr>
              <a:t>Le transistor est constitué par la succession de trois couches de semi-conducteur de type N-P-N (ou PN- P). Des connexions métalliques sont respectivement fixées sur la partie centrale appelée Base et sur les deux extrémités appelées Collecteur et Emetteur. La couche centrale est très mince par rapport aux autres.</a:t>
            </a:r>
            <a:endParaRPr lang="en-GB" sz="2000" dirty="0">
              <a:solidFill>
                <a:schemeClr val="tx2"/>
              </a:solidFill>
              <a:latin typeface="Times New Roman"/>
              <a:cs typeface="Times New Roman"/>
            </a:endParaRPr>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56243" y="3579581"/>
            <a:ext cx="5231913" cy="2476983"/>
          </a:xfrm>
          <a:prstGeom prst="rect">
            <a:avLst/>
          </a:prstGeom>
        </p:spPr>
      </p:pic>
      <p:sp>
        <p:nvSpPr>
          <p:cNvPr id="11" name="Rectangle 10"/>
          <p:cNvSpPr/>
          <p:nvPr/>
        </p:nvSpPr>
        <p:spPr>
          <a:xfrm>
            <a:off x="4895311" y="5966412"/>
            <a:ext cx="2865015" cy="369332"/>
          </a:xfrm>
          <a:prstGeom prst="rect">
            <a:avLst/>
          </a:prstGeom>
        </p:spPr>
        <p:txBody>
          <a:bodyPr wrap="none">
            <a:spAutoFit/>
          </a:bodyPr>
          <a:lstStyle/>
          <a:p>
            <a:pPr algn="ctr"/>
            <a:r>
              <a:rPr lang="fr-FR" dirty="0" smtClean="0"/>
              <a:t>Exemple d’un transistor NPN</a:t>
            </a:r>
            <a:endParaRPr lang="fr-FR" dirty="0"/>
          </a:p>
        </p:txBody>
      </p:sp>
    </p:spTree>
    <p:extLst>
      <p:ext uri="{BB962C8B-B14F-4D97-AF65-F5344CB8AC3E}">
        <p14:creationId xmlns:p14="http://schemas.microsoft.com/office/powerpoint/2010/main" val="127332858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82C2F2-3C90-AC07-78DC-32390534358E}"/>
              </a:ext>
            </a:extLst>
          </p:cNvPr>
          <p:cNvSpPr>
            <a:spLocks noGrp="1"/>
          </p:cNvSpPr>
          <p:nvPr>
            <p:ph type="title"/>
          </p:nvPr>
        </p:nvSpPr>
        <p:spPr>
          <a:xfrm>
            <a:off x="1371600" y="685800"/>
            <a:ext cx="9601200" cy="700810"/>
          </a:xfrm>
        </p:spPr>
        <p:txBody>
          <a:bodyPr/>
          <a:lstStyle/>
          <a:p>
            <a:r>
              <a:rPr lang="fr-FR" dirty="0"/>
              <a:t>Fonctionnement et </a:t>
            </a:r>
            <a:r>
              <a:rPr lang="fr-FR" dirty="0" smtClean="0"/>
              <a:t>caractéristique</a:t>
            </a:r>
            <a:endParaRPr lang="fr-FR" dirty="0"/>
          </a:p>
        </p:txBody>
      </p:sp>
      <p:sp>
        <p:nvSpPr>
          <p:cNvPr id="3" name="Espace réservé du contenu 2">
            <a:extLst>
              <a:ext uri="{FF2B5EF4-FFF2-40B4-BE49-F238E27FC236}">
                <a16:creationId xmlns:a16="http://schemas.microsoft.com/office/drawing/2014/main" id="{962A887E-6293-75C7-610A-96E63A87D8C4}"/>
              </a:ext>
            </a:extLst>
          </p:cNvPr>
          <p:cNvSpPr>
            <a:spLocks noGrp="1"/>
          </p:cNvSpPr>
          <p:nvPr>
            <p:ph idx="1"/>
          </p:nvPr>
        </p:nvSpPr>
        <p:spPr>
          <a:xfrm>
            <a:off x="1355624" y="2133114"/>
            <a:ext cx="9601200" cy="1022231"/>
          </a:xfrm>
        </p:spPr>
        <p:txBody>
          <a:bodyPr vert="horz" lIns="91440" tIns="45720" rIns="91440" bIns="45720" rtlCol="0" anchor="t">
            <a:noAutofit/>
          </a:bodyPr>
          <a:lstStyle/>
          <a:p>
            <a:pPr marL="383540" indent="-383540">
              <a:lnSpc>
                <a:spcPct val="100000"/>
              </a:lnSpc>
              <a:spcBef>
                <a:spcPct val="20000"/>
              </a:spcBef>
              <a:spcAft>
                <a:spcPct val="0"/>
              </a:spcAft>
            </a:pPr>
            <a:r>
              <a:rPr lang="en-US" dirty="0">
                <a:latin typeface="Times New Roman"/>
                <a:cs typeface="Times New Roman"/>
              </a:rPr>
              <a:t>Grandeurs </a:t>
            </a:r>
            <a:r>
              <a:rPr lang="en-US" dirty="0" err="1">
                <a:latin typeface="Times New Roman"/>
                <a:cs typeface="Times New Roman"/>
              </a:rPr>
              <a:t>caractéristiques</a:t>
            </a:r>
            <a:r>
              <a:rPr lang="en-US" dirty="0">
                <a:latin typeface="Times New Roman"/>
                <a:cs typeface="Times New Roman"/>
              </a:rPr>
              <a:t> :</a:t>
            </a:r>
            <a:r>
              <a:rPr lang="en-US">
                <a:latin typeface="Times New Roman"/>
                <a:cs typeface="Times New Roman"/>
              </a:rPr>
              <a:t> </a:t>
            </a:r>
            <a:r>
              <a:rPr lang="en-US" smtClean="0">
                <a:latin typeface="Times New Roman"/>
                <a:cs typeface="Times New Roman"/>
              </a:rPr>
              <a:t>V</a:t>
            </a:r>
            <a:r>
              <a:rPr lang="en-US" baseline="-25000" smtClean="0">
                <a:latin typeface="Times New Roman"/>
                <a:cs typeface="Times New Roman"/>
              </a:rPr>
              <a:t>BE </a:t>
            </a:r>
            <a:r>
              <a:rPr lang="en-US" smtClean="0">
                <a:latin typeface="Times New Roman"/>
                <a:cs typeface="Times New Roman"/>
              </a:rPr>
              <a:t>, I</a:t>
            </a:r>
            <a:r>
              <a:rPr lang="en-US" baseline="-25000" smtClean="0">
                <a:latin typeface="Times New Roman"/>
                <a:cs typeface="Times New Roman"/>
              </a:rPr>
              <a:t>B </a:t>
            </a:r>
            <a:r>
              <a:rPr lang="en-US" smtClean="0">
                <a:latin typeface="Times New Roman"/>
                <a:cs typeface="Times New Roman"/>
              </a:rPr>
              <a:t>, I</a:t>
            </a:r>
            <a:r>
              <a:rPr lang="en-US" baseline="-25000" smtClean="0">
                <a:latin typeface="Times New Roman"/>
                <a:cs typeface="Times New Roman"/>
              </a:rPr>
              <a:t>C </a:t>
            </a:r>
            <a:r>
              <a:rPr lang="en-US" smtClean="0">
                <a:latin typeface="Times New Roman"/>
                <a:cs typeface="Times New Roman"/>
              </a:rPr>
              <a:t>, </a:t>
            </a:r>
            <a:r>
              <a:rPr lang="en-US" dirty="0" smtClean="0">
                <a:latin typeface="Times New Roman"/>
                <a:cs typeface="Times New Roman"/>
              </a:rPr>
              <a:t>V</a:t>
            </a:r>
            <a:r>
              <a:rPr lang="en-US" baseline="-25000" dirty="0" smtClean="0">
                <a:latin typeface="Times New Roman"/>
                <a:cs typeface="Times New Roman"/>
              </a:rPr>
              <a:t>CE</a:t>
            </a:r>
            <a:endParaRPr lang="en-US" baseline="-25000" dirty="0">
              <a:latin typeface="Times New Roman"/>
              <a:cs typeface="Times New Roman"/>
            </a:endParaRPr>
          </a:p>
          <a:p>
            <a:pPr marL="383540" indent="-383540">
              <a:lnSpc>
                <a:spcPct val="100000"/>
              </a:lnSpc>
              <a:spcBef>
                <a:spcPct val="20000"/>
              </a:spcBef>
              <a:spcAft>
                <a:spcPct val="0"/>
              </a:spcAft>
            </a:pPr>
            <a:r>
              <a:rPr lang="en-US" dirty="0">
                <a:latin typeface="Times New Roman"/>
                <a:cs typeface="Times New Roman"/>
              </a:rPr>
              <a:t>On </a:t>
            </a:r>
            <a:r>
              <a:rPr lang="en-US" dirty="0" err="1">
                <a:latin typeface="Times New Roman"/>
                <a:cs typeface="Times New Roman"/>
              </a:rPr>
              <a:t>associe</a:t>
            </a:r>
            <a:r>
              <a:rPr lang="en-US" dirty="0">
                <a:latin typeface="Times New Roman"/>
                <a:cs typeface="Times New Roman"/>
              </a:rPr>
              <a:t> a </a:t>
            </a:r>
            <a:r>
              <a:rPr lang="en-US" dirty="0" err="1">
                <a:latin typeface="Times New Roman"/>
                <a:cs typeface="Times New Roman"/>
              </a:rPr>
              <a:t>chaque</a:t>
            </a:r>
            <a:r>
              <a:rPr lang="en-US" dirty="0">
                <a:latin typeface="Times New Roman"/>
                <a:cs typeface="Times New Roman"/>
              </a:rPr>
              <a:t> type de transistor 6 grandeurs </a:t>
            </a:r>
            <a:r>
              <a:rPr lang="en-US" dirty="0" err="1">
                <a:latin typeface="Times New Roman"/>
                <a:cs typeface="Times New Roman"/>
              </a:rPr>
              <a:t>electriques</a:t>
            </a:r>
            <a:r>
              <a:rPr lang="en-US" dirty="0">
                <a:latin typeface="Times New Roman"/>
                <a:cs typeface="Times New Roman"/>
              </a:rPr>
              <a:t> : trois courants et trois tensions.</a:t>
            </a:r>
          </a:p>
          <a:p>
            <a:pPr marL="383540" indent="-383540">
              <a:lnSpc>
                <a:spcPct val="100000"/>
              </a:lnSpc>
              <a:spcBef>
                <a:spcPct val="20000"/>
              </a:spcBef>
              <a:spcAft>
                <a:spcPct val="0"/>
              </a:spcAft>
            </a:pPr>
            <a:endParaRPr lang="en-US" dirty="0">
              <a:latin typeface="Times New Roman"/>
              <a:cs typeface="Times New Roman"/>
            </a:endParaRPr>
          </a:p>
          <a:p>
            <a:pPr marL="383540" indent="-383540"/>
            <a:endParaRPr lang="fr-FR" dirty="0">
              <a:latin typeface="Times New Roman"/>
              <a:cs typeface="Times New Roman"/>
            </a:endParaRPr>
          </a:p>
        </p:txBody>
      </p:sp>
      <p:pic>
        <p:nvPicPr>
          <p:cNvPr id="5" name="Image 5">
            <a:extLst>
              <a:ext uri="{FF2B5EF4-FFF2-40B4-BE49-F238E27FC236}">
                <a16:creationId xmlns:a16="http://schemas.microsoft.com/office/drawing/2014/main" id="{740E6944-0BFE-8A22-C250-9FBC542C1D41}"/>
              </a:ext>
            </a:extLst>
          </p:cNvPr>
          <p:cNvPicPr>
            <a:picLocks noChangeAspect="1"/>
          </p:cNvPicPr>
          <p:nvPr/>
        </p:nvPicPr>
        <p:blipFill>
          <a:blip r:embed="rId2"/>
          <a:stretch>
            <a:fillRect/>
          </a:stretch>
        </p:blipFill>
        <p:spPr>
          <a:xfrm>
            <a:off x="1996406" y="3354951"/>
            <a:ext cx="3433313" cy="1970536"/>
          </a:xfrm>
          <a:prstGeom prst="rect">
            <a:avLst/>
          </a:prstGeom>
        </p:spPr>
      </p:pic>
      <p:sp>
        <p:nvSpPr>
          <p:cNvPr id="6" name="Espace réservé du contenu 2">
            <a:extLst>
              <a:ext uri="{FF2B5EF4-FFF2-40B4-BE49-F238E27FC236}">
                <a16:creationId xmlns:a16="http://schemas.microsoft.com/office/drawing/2014/main" id="{90B07A55-7C42-1B00-7FDE-BA77F399C0E6}"/>
              </a:ext>
            </a:extLst>
          </p:cNvPr>
          <p:cNvSpPr txBox="1">
            <a:spLocks/>
          </p:cNvSpPr>
          <p:nvPr/>
        </p:nvSpPr>
        <p:spPr bwMode="auto">
          <a:xfrm>
            <a:off x="7140474" y="3354802"/>
            <a:ext cx="3816350" cy="1871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40" tIns="45720" rIns="91440" bIns="45720" anchor="t"/>
          <a:lstStyle>
            <a:defPPr>
              <a:defRPr lang="fr-FR"/>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eaLnBrk="1" hangingPunct="1"/>
            <a:r>
              <a:rPr lang="fr-FR" altLang="fr-FR" sz="1600" dirty="0">
                <a:latin typeface="Times New Roman"/>
                <a:cs typeface="Times New Roman"/>
              </a:rPr>
              <a:t>V</a:t>
            </a:r>
            <a:r>
              <a:rPr lang="fr-FR" altLang="fr-FR" sz="1600" baseline="-25000" dirty="0">
                <a:latin typeface="Times New Roman"/>
                <a:cs typeface="Times New Roman"/>
              </a:rPr>
              <a:t>BE</a:t>
            </a:r>
            <a:r>
              <a:rPr lang="fr-FR" altLang="fr-FR" sz="1600" dirty="0">
                <a:latin typeface="Times New Roman"/>
                <a:cs typeface="Times New Roman"/>
              </a:rPr>
              <a:t> : tension entre base-émetteur.</a:t>
            </a:r>
          </a:p>
          <a:p>
            <a:pPr eaLnBrk="1" hangingPunct="1"/>
            <a:r>
              <a:rPr lang="fr-FR" altLang="fr-FR" sz="1600" dirty="0">
                <a:latin typeface="Times New Roman"/>
                <a:cs typeface="Times New Roman"/>
              </a:rPr>
              <a:t>V</a:t>
            </a:r>
            <a:r>
              <a:rPr lang="fr-FR" altLang="fr-FR" sz="1600" baseline="-25000" dirty="0">
                <a:latin typeface="Times New Roman"/>
                <a:cs typeface="Times New Roman"/>
              </a:rPr>
              <a:t>CE</a:t>
            </a:r>
            <a:r>
              <a:rPr lang="fr-FR" altLang="fr-FR" sz="1600" dirty="0">
                <a:latin typeface="Times New Roman"/>
                <a:cs typeface="Times New Roman"/>
              </a:rPr>
              <a:t> : tension entre collecteur-émetteur.</a:t>
            </a:r>
          </a:p>
          <a:p>
            <a:pPr eaLnBrk="1" hangingPunct="1"/>
            <a:r>
              <a:rPr lang="fr-FR" altLang="fr-FR" sz="1600" dirty="0">
                <a:latin typeface="Times New Roman"/>
                <a:cs typeface="Times New Roman"/>
              </a:rPr>
              <a:t>V</a:t>
            </a:r>
            <a:r>
              <a:rPr lang="fr-FR" altLang="fr-FR" sz="1600" baseline="-25000" dirty="0">
                <a:latin typeface="Times New Roman"/>
                <a:cs typeface="Times New Roman"/>
              </a:rPr>
              <a:t>CB</a:t>
            </a:r>
            <a:r>
              <a:rPr lang="fr-FR" altLang="fr-FR" sz="1600" dirty="0">
                <a:latin typeface="Times New Roman"/>
                <a:cs typeface="Times New Roman"/>
              </a:rPr>
              <a:t> : tension entre collecteur-base.</a:t>
            </a:r>
          </a:p>
          <a:p>
            <a:pPr eaLnBrk="1" hangingPunct="1"/>
            <a:r>
              <a:rPr lang="fr-FR" altLang="fr-FR" sz="1600" dirty="0">
                <a:latin typeface="Times New Roman"/>
                <a:cs typeface="Arial"/>
              </a:rPr>
              <a:t>I</a:t>
            </a:r>
            <a:r>
              <a:rPr lang="fr-FR" altLang="fr-FR" sz="1600" baseline="-25000" dirty="0">
                <a:latin typeface="Times New Roman"/>
                <a:cs typeface="Arial"/>
              </a:rPr>
              <a:t>B</a:t>
            </a:r>
            <a:r>
              <a:rPr lang="fr-FR" altLang="fr-FR" sz="1600" dirty="0">
                <a:latin typeface="Times New Roman"/>
                <a:cs typeface="Arial"/>
              </a:rPr>
              <a:t> ,I</a:t>
            </a:r>
            <a:r>
              <a:rPr lang="fr-FR" altLang="fr-FR" sz="1600" baseline="-25000" dirty="0">
                <a:latin typeface="Times New Roman"/>
                <a:cs typeface="Arial"/>
              </a:rPr>
              <a:t>C</a:t>
            </a:r>
            <a:r>
              <a:rPr lang="fr-FR" altLang="fr-FR" sz="1600" dirty="0">
                <a:latin typeface="Times New Roman"/>
                <a:cs typeface="Arial"/>
              </a:rPr>
              <a:t> , I</a:t>
            </a:r>
            <a:r>
              <a:rPr lang="fr-FR" altLang="fr-FR" sz="1600" baseline="-25000" dirty="0">
                <a:latin typeface="Times New Roman"/>
                <a:cs typeface="Arial"/>
              </a:rPr>
              <a:t>E</a:t>
            </a:r>
            <a:r>
              <a:rPr lang="fr-FR" altLang="fr-FR" sz="1600" dirty="0">
                <a:latin typeface="Times New Roman"/>
                <a:cs typeface="Arial"/>
              </a:rPr>
              <a:t>: sont respectivement les </a:t>
            </a:r>
            <a:r>
              <a:rPr lang="fr-FR" altLang="fr-FR" sz="1600" dirty="0">
                <a:latin typeface="Times New Roman"/>
                <a:cs typeface="Times New Roman"/>
              </a:rPr>
              <a:t>courant de base, collecteur et émetteur.</a:t>
            </a:r>
            <a:endParaRPr lang="en-US" altLang="fr-FR" sz="1600" dirty="0">
              <a:latin typeface="Times New Roman"/>
              <a:cs typeface="Times New Roman"/>
            </a:endParaRPr>
          </a:p>
          <a:p>
            <a:r>
              <a:rPr lang="fr-FR" altLang="fr-FR" sz="1600" dirty="0">
                <a:latin typeface="Times New Roman"/>
                <a:cs typeface="Times New Roman"/>
              </a:rPr>
              <a:t>Les grandeurs </a:t>
            </a:r>
            <a:r>
              <a:rPr lang="fr-FR" altLang="fr-FR" sz="1600" dirty="0" err="1">
                <a:latin typeface="Times New Roman"/>
                <a:cs typeface="Times New Roman"/>
              </a:rPr>
              <a:t>citees</a:t>
            </a:r>
            <a:r>
              <a:rPr lang="fr-FR" altLang="fr-FR" sz="1600" dirty="0">
                <a:latin typeface="Times New Roman"/>
                <a:cs typeface="Times New Roman"/>
              </a:rPr>
              <a:t> ci-dessus sont tous positives.</a:t>
            </a:r>
          </a:p>
        </p:txBody>
      </p:sp>
      <p:sp>
        <p:nvSpPr>
          <p:cNvPr id="8" name="Espace réservé du contenu 2">
            <a:extLst>
              <a:ext uri="{FF2B5EF4-FFF2-40B4-BE49-F238E27FC236}">
                <a16:creationId xmlns:a16="http://schemas.microsoft.com/office/drawing/2014/main" id="{C3D0B1AA-0BC5-1223-AAE0-430894FD3B86}"/>
              </a:ext>
            </a:extLst>
          </p:cNvPr>
          <p:cNvSpPr txBox="1">
            <a:spLocks/>
          </p:cNvSpPr>
          <p:nvPr/>
        </p:nvSpPr>
        <p:spPr>
          <a:xfrm>
            <a:off x="4318001" y="5624946"/>
            <a:ext cx="3551382" cy="883686"/>
          </a:xfrm>
          <a:prstGeom prst="rect">
            <a:avLst/>
          </a:prstGeom>
          <a:ln w="28575">
            <a:solidFill>
              <a:srgbClr val="FF0000"/>
            </a:solidFill>
          </a:ln>
        </p:spPr>
        <p:txBody>
          <a:bodyPr vert="horz" lIns="91440" tIns="45720" rIns="91440" bIns="45720" rtlCol="0" anchor="t">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pPr marL="0" indent="0" algn="ctr">
              <a:lnSpc>
                <a:spcPct val="100000"/>
              </a:lnSpc>
              <a:spcBef>
                <a:spcPct val="20000"/>
              </a:spcBef>
              <a:spcAft>
                <a:spcPct val="0"/>
              </a:spcAft>
              <a:buNone/>
            </a:pPr>
            <a:r>
              <a:rPr lang="en-US" dirty="0">
                <a:latin typeface="Times New Roman"/>
                <a:ea typeface="+mn-lt"/>
                <a:cs typeface="+mn-lt"/>
              </a:rPr>
              <a:t>I</a:t>
            </a:r>
            <a:r>
              <a:rPr lang="en-US" baseline="-25000" dirty="0">
                <a:latin typeface="Times New Roman"/>
                <a:ea typeface="+mn-lt"/>
                <a:cs typeface="+mn-lt"/>
              </a:rPr>
              <a:t>E</a:t>
            </a:r>
            <a:r>
              <a:rPr lang="en-US" dirty="0">
                <a:latin typeface="Times New Roman"/>
                <a:ea typeface="+mn-lt"/>
                <a:cs typeface="+mn-lt"/>
              </a:rPr>
              <a:t> = I</a:t>
            </a:r>
            <a:r>
              <a:rPr lang="en-US" baseline="-25000" dirty="0">
                <a:latin typeface="Times New Roman"/>
                <a:ea typeface="+mn-lt"/>
                <a:cs typeface="+mn-lt"/>
              </a:rPr>
              <a:t>B</a:t>
            </a:r>
            <a:r>
              <a:rPr lang="en-US" dirty="0">
                <a:latin typeface="Times New Roman"/>
                <a:ea typeface="+mn-lt"/>
                <a:cs typeface="+mn-lt"/>
              </a:rPr>
              <a:t> + I</a:t>
            </a:r>
            <a:r>
              <a:rPr lang="en-US" baseline="-25000" dirty="0">
                <a:latin typeface="Times New Roman"/>
                <a:ea typeface="+mn-lt"/>
                <a:cs typeface="+mn-lt"/>
              </a:rPr>
              <a:t>C</a:t>
            </a:r>
            <a:r>
              <a:rPr lang="en-US" dirty="0">
                <a:latin typeface="Times New Roman"/>
                <a:ea typeface="+mn-lt"/>
                <a:cs typeface="+mn-lt"/>
              </a:rPr>
              <a:t> </a:t>
            </a:r>
            <a:endParaRPr lang="fr-FR" dirty="0">
              <a:latin typeface="Franklin Gothic Book" panose="020B0503020102020204"/>
              <a:ea typeface="+mn-lt"/>
              <a:cs typeface="+mn-lt"/>
            </a:endParaRPr>
          </a:p>
          <a:p>
            <a:pPr marL="0" indent="0" algn="ctr">
              <a:lnSpc>
                <a:spcPct val="100000"/>
              </a:lnSpc>
              <a:spcBef>
                <a:spcPct val="20000"/>
              </a:spcBef>
              <a:spcAft>
                <a:spcPct val="0"/>
              </a:spcAft>
              <a:buNone/>
            </a:pPr>
            <a:r>
              <a:rPr lang="en-US" dirty="0">
                <a:latin typeface="Times New Roman"/>
                <a:ea typeface="+mn-lt"/>
                <a:cs typeface="+mn-lt"/>
              </a:rPr>
              <a:t>V</a:t>
            </a:r>
            <a:r>
              <a:rPr lang="en-US" baseline="-25000" dirty="0">
                <a:latin typeface="Times New Roman"/>
                <a:ea typeface="+mn-lt"/>
                <a:cs typeface="+mn-lt"/>
              </a:rPr>
              <a:t>CE</a:t>
            </a:r>
            <a:r>
              <a:rPr lang="en-US" dirty="0">
                <a:latin typeface="Times New Roman"/>
                <a:ea typeface="+mn-lt"/>
                <a:cs typeface="+mn-lt"/>
              </a:rPr>
              <a:t> = V</a:t>
            </a:r>
            <a:r>
              <a:rPr lang="en-US" baseline="-25000" dirty="0">
                <a:latin typeface="Times New Roman"/>
                <a:ea typeface="+mn-lt"/>
                <a:cs typeface="+mn-lt"/>
              </a:rPr>
              <a:t>CB</a:t>
            </a:r>
            <a:r>
              <a:rPr lang="en-US" dirty="0">
                <a:latin typeface="Times New Roman"/>
                <a:ea typeface="+mn-lt"/>
                <a:cs typeface="+mn-lt"/>
              </a:rPr>
              <a:t> + V</a:t>
            </a:r>
            <a:r>
              <a:rPr lang="en-US" baseline="-25000" dirty="0">
                <a:latin typeface="Times New Roman"/>
                <a:ea typeface="+mn-lt"/>
                <a:cs typeface="+mn-lt"/>
              </a:rPr>
              <a:t>BE</a:t>
            </a:r>
            <a:endParaRPr lang="fr-FR"/>
          </a:p>
          <a:p>
            <a:pPr marL="383540" indent="-383540" algn="ctr">
              <a:lnSpc>
                <a:spcPct val="100000"/>
              </a:lnSpc>
              <a:spcBef>
                <a:spcPct val="20000"/>
              </a:spcBef>
              <a:spcAft>
                <a:spcPct val="0"/>
              </a:spcAft>
            </a:pPr>
            <a:endParaRPr lang="en-US" dirty="0">
              <a:latin typeface="Times New Roman"/>
              <a:ea typeface="+mn-lt"/>
              <a:cs typeface="+mn-lt"/>
            </a:endParaRPr>
          </a:p>
          <a:p>
            <a:pPr marL="383540" indent="-383540" algn="ctr"/>
            <a:endParaRPr lang="fr-FR" dirty="0">
              <a:latin typeface="Times New Roman"/>
              <a:cs typeface="Times New Roman"/>
            </a:endParaRPr>
          </a:p>
        </p:txBody>
      </p:sp>
    </p:spTree>
    <p:extLst>
      <p:ext uri="{BB962C8B-B14F-4D97-AF65-F5344CB8AC3E}">
        <p14:creationId xmlns:p14="http://schemas.microsoft.com/office/powerpoint/2010/main" val="2482761102"/>
      </p:ext>
    </p:extLst>
  </p:cSld>
  <p:clrMapOvr>
    <a:masterClrMapping/>
  </p:clrMapOvr>
  <p:transition spd="slow">
    <p:wip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51120" y="1105849"/>
            <a:ext cx="8332573" cy="400110"/>
          </a:xfrm>
          <a:prstGeom prst="rect">
            <a:avLst/>
          </a:prstGeom>
        </p:spPr>
        <p:txBody>
          <a:bodyPr wrap="square">
            <a:spAutoFit/>
          </a:bodyPr>
          <a:lstStyle/>
          <a:p>
            <a:pPr marL="285750" indent="-285750">
              <a:buFont typeface="Arial" panose="020B0604020202020204" pitchFamily="34" charset="0"/>
              <a:buChar char="•"/>
            </a:pPr>
            <a:r>
              <a:rPr lang="fr-FR" sz="2000" b="1" dirty="0">
                <a:latin typeface="Times New Roman" panose="02020603050405020304" pitchFamily="18" charset="0"/>
                <a:cs typeface="Times New Roman" panose="02020603050405020304" pitchFamily="18" charset="0"/>
              </a:rPr>
              <a:t>Fonctionnement du transistor bipolaire en </a:t>
            </a:r>
            <a:r>
              <a:rPr lang="fr-FR" sz="2000" b="1" dirty="0" smtClean="0">
                <a:latin typeface="Times New Roman" panose="02020603050405020304" pitchFamily="18" charset="0"/>
                <a:cs typeface="Times New Roman" panose="02020603050405020304" pitchFamily="18" charset="0"/>
              </a:rPr>
              <a:t>régime statique:</a:t>
            </a:r>
            <a:endParaRPr lang="en-GB" sz="2000" b="1" dirty="0">
              <a:latin typeface="Times New Roman" panose="02020603050405020304" pitchFamily="18" charset="0"/>
              <a:cs typeface="Times New Roman" panose="02020603050405020304" pitchFamily="18" charset="0"/>
            </a:endParaRPr>
          </a:p>
        </p:txBody>
      </p:sp>
      <p:sp>
        <p:nvSpPr>
          <p:cNvPr id="3" name="Rectangle 2"/>
          <p:cNvSpPr/>
          <p:nvPr/>
        </p:nvSpPr>
        <p:spPr>
          <a:xfrm>
            <a:off x="848844" y="1505959"/>
            <a:ext cx="10832294" cy="2862322"/>
          </a:xfrm>
          <a:prstGeom prst="rect">
            <a:avLst/>
          </a:prstGeom>
        </p:spPr>
        <p:txBody>
          <a:bodyPr wrap="square">
            <a:spAutoFit/>
          </a:bodyPr>
          <a:lstStyle/>
          <a:p>
            <a:pPr algn="just"/>
            <a:r>
              <a:rPr lang="fr-FR" sz="2000" dirty="0">
                <a:latin typeface="Times New Roman" panose="02020603050405020304" pitchFamily="18" charset="0"/>
                <a:cs typeface="Times New Roman" panose="02020603050405020304" pitchFamily="18" charset="0"/>
              </a:rPr>
              <a:t>L’étude statique sert à étudier la polarisation du transistor, droite de charge statique </a:t>
            </a:r>
            <a:r>
              <a:rPr lang="fr-FR" sz="2000" dirty="0" smtClean="0">
                <a:latin typeface="Times New Roman" panose="02020603050405020304" pitchFamily="18" charset="0"/>
                <a:cs typeface="Times New Roman" panose="02020603050405020304" pitchFamily="18" charset="0"/>
              </a:rPr>
              <a:t>et calcul </a:t>
            </a:r>
            <a:r>
              <a:rPr lang="fr-FR" sz="2000" dirty="0">
                <a:latin typeface="Times New Roman" panose="02020603050405020304" pitchFamily="18" charset="0"/>
                <a:cs typeface="Times New Roman" panose="02020603050405020304" pitchFamily="18" charset="0"/>
              </a:rPr>
              <a:t>du point </a:t>
            </a:r>
            <a:endParaRPr lang="fr-FR" sz="2000" dirty="0" smtClean="0">
              <a:latin typeface="Times New Roman" panose="02020603050405020304" pitchFamily="18" charset="0"/>
              <a:cs typeface="Times New Roman" panose="02020603050405020304" pitchFamily="18" charset="0"/>
            </a:endParaRPr>
          </a:p>
          <a:p>
            <a:pPr algn="just"/>
            <a:r>
              <a:rPr lang="fr-FR" sz="2000" dirty="0" smtClean="0">
                <a:latin typeface="Times New Roman" panose="02020603050405020304" pitchFamily="18" charset="0"/>
                <a:cs typeface="Times New Roman" panose="02020603050405020304" pitchFamily="18" charset="0"/>
              </a:rPr>
              <a:t>de </a:t>
            </a:r>
            <a:r>
              <a:rPr lang="fr-FR" sz="2000" dirty="0">
                <a:latin typeface="Times New Roman" panose="02020603050405020304" pitchFamily="18" charset="0"/>
                <a:cs typeface="Times New Roman" panose="02020603050405020304" pitchFamily="18" charset="0"/>
              </a:rPr>
              <a:t>fonctionnement. L’étude sera menée sur un transistor bipolaire de </a:t>
            </a:r>
            <a:r>
              <a:rPr lang="fr-FR" sz="2000" dirty="0" smtClean="0">
                <a:latin typeface="Times New Roman" panose="02020603050405020304" pitchFamily="18" charset="0"/>
                <a:cs typeface="Times New Roman" panose="02020603050405020304" pitchFamily="18" charset="0"/>
              </a:rPr>
              <a:t>type NPN </a:t>
            </a:r>
            <a:r>
              <a:rPr lang="fr-FR" sz="2000" dirty="0">
                <a:latin typeface="Times New Roman" panose="02020603050405020304" pitchFamily="18" charset="0"/>
                <a:cs typeface="Times New Roman" panose="02020603050405020304" pitchFamily="18" charset="0"/>
              </a:rPr>
              <a:t>qui est le plus utilisé et le plus facile à réaliser. </a:t>
            </a:r>
            <a:endParaRPr lang="fr-FR" sz="2000" dirty="0" smtClean="0">
              <a:latin typeface="Times New Roman" panose="02020603050405020304" pitchFamily="18" charset="0"/>
              <a:cs typeface="Times New Roman" panose="02020603050405020304" pitchFamily="18" charset="0"/>
            </a:endParaRPr>
          </a:p>
          <a:p>
            <a:pPr algn="just"/>
            <a:r>
              <a:rPr lang="fr-FR" sz="2000" dirty="0" smtClean="0">
                <a:latin typeface="Times New Roman" panose="02020603050405020304" pitchFamily="18" charset="0"/>
                <a:cs typeface="Times New Roman" panose="02020603050405020304" pitchFamily="18" charset="0"/>
              </a:rPr>
              <a:t>Trois </a:t>
            </a:r>
            <a:r>
              <a:rPr lang="fr-FR" sz="2000" dirty="0">
                <a:latin typeface="Times New Roman" panose="02020603050405020304" pitchFamily="18" charset="0"/>
                <a:cs typeface="Times New Roman" panose="02020603050405020304" pitchFamily="18" charset="0"/>
              </a:rPr>
              <a:t>conditions qu’il </a:t>
            </a:r>
            <a:r>
              <a:rPr lang="fr-FR" sz="2000" dirty="0" smtClean="0">
                <a:latin typeface="Times New Roman" panose="02020603050405020304" pitchFamily="18" charset="0"/>
                <a:cs typeface="Times New Roman" panose="02020603050405020304" pitchFamily="18" charset="0"/>
              </a:rPr>
              <a:t>faut respecter </a:t>
            </a:r>
            <a:r>
              <a:rPr lang="fr-FR" sz="2000" dirty="0">
                <a:latin typeface="Times New Roman" panose="02020603050405020304" pitchFamily="18" charset="0"/>
                <a:cs typeface="Times New Roman" panose="02020603050405020304" pitchFamily="18" charset="0"/>
              </a:rPr>
              <a:t>pour qu’il y ait </a:t>
            </a:r>
            <a:r>
              <a:rPr lang="fr-FR" sz="2000" dirty="0" smtClean="0">
                <a:latin typeface="Times New Roman" panose="02020603050405020304" pitchFamily="18" charset="0"/>
                <a:cs typeface="Times New Roman" panose="02020603050405020304" pitchFamily="18" charset="0"/>
              </a:rPr>
              <a:t>un fonctionnement </a:t>
            </a:r>
            <a:r>
              <a:rPr lang="fr-FR" sz="2000" dirty="0">
                <a:latin typeface="Times New Roman" panose="02020603050405020304" pitchFamily="18" charset="0"/>
                <a:cs typeface="Times New Roman" panose="02020603050405020304" pitchFamily="18" charset="0"/>
              </a:rPr>
              <a:t>normal du transistor bipolaire </a:t>
            </a:r>
            <a:r>
              <a:rPr lang="fr-FR" sz="2000" dirty="0" smtClean="0">
                <a:latin typeface="Times New Roman" panose="02020603050405020304" pitchFamily="18" charset="0"/>
                <a:cs typeface="Times New Roman" panose="02020603050405020304" pitchFamily="18" charset="0"/>
              </a:rPr>
              <a:t>:</a:t>
            </a:r>
            <a:endParaRPr lang="fr-FR" sz="2000" dirty="0">
              <a:latin typeface="Times New Roman" panose="02020603050405020304" pitchFamily="18" charset="0"/>
              <a:cs typeface="Times New Roman" panose="02020603050405020304" pitchFamily="18" charset="0"/>
            </a:endParaRPr>
          </a:p>
          <a:p>
            <a:pPr algn="just">
              <a:lnSpc>
                <a:spcPct val="150000"/>
              </a:lnSpc>
            </a:pPr>
            <a:r>
              <a:rPr lang="fr-FR" sz="2000" dirty="0">
                <a:latin typeface="Times New Roman" panose="02020603050405020304" pitchFamily="18" charset="0"/>
                <a:cs typeface="Times New Roman" panose="02020603050405020304" pitchFamily="18" charset="0"/>
              </a:rPr>
              <a:t>• La jonction base-émetteur (B.E) soit polarisée en direct et la jonction base-collecteur soit polarisée en inverse.</a:t>
            </a:r>
          </a:p>
          <a:p>
            <a:pPr algn="just"/>
            <a:r>
              <a:rPr lang="fr-FR" sz="2000" dirty="0">
                <a:latin typeface="Times New Roman" panose="02020603050405020304" pitchFamily="18" charset="0"/>
                <a:cs typeface="Times New Roman" panose="02020603050405020304" pitchFamily="18" charset="0"/>
              </a:rPr>
              <a:t>• L’émetteur et le collecteur soient fortement dopés, et l’émetteur est plus dopé que le collecteur.</a:t>
            </a:r>
          </a:p>
          <a:p>
            <a:pPr algn="just"/>
            <a:r>
              <a:rPr lang="fr-FR" sz="2000" dirty="0">
                <a:latin typeface="Times New Roman" panose="02020603050405020304" pitchFamily="18" charset="0"/>
                <a:cs typeface="Times New Roman" panose="02020603050405020304" pitchFamily="18" charset="0"/>
              </a:rPr>
              <a:t>• La base étroite et soit faiblement </a:t>
            </a:r>
            <a:r>
              <a:rPr lang="fr-FR" sz="2000" dirty="0" smtClean="0">
                <a:latin typeface="Times New Roman" panose="02020603050405020304" pitchFamily="18" charset="0"/>
                <a:cs typeface="Times New Roman" panose="02020603050405020304" pitchFamily="18" charset="0"/>
              </a:rPr>
              <a:t>dopée</a:t>
            </a:r>
            <a:r>
              <a:rPr lang="en-GB" sz="2000" dirty="0" smtClean="0">
                <a:latin typeface="Times New Roman" panose="02020603050405020304" pitchFamily="18" charset="0"/>
                <a:cs typeface="Times New Roman" panose="02020603050405020304" pitchFamily="18" charset="0"/>
              </a:rPr>
              <a:t>.</a:t>
            </a:r>
            <a:endParaRPr lang="fr-FR" sz="2000" dirty="0" smtClean="0">
              <a:latin typeface="Times New Roman" panose="02020603050405020304" pitchFamily="18" charset="0"/>
              <a:cs typeface="Times New Roman" panose="02020603050405020304" pitchFamily="18" charset="0"/>
            </a:endParaRPr>
          </a:p>
        </p:txBody>
      </p:sp>
      <p:sp>
        <p:nvSpPr>
          <p:cNvPr id="8" name="Rectangle 7"/>
          <p:cNvSpPr/>
          <p:nvPr/>
        </p:nvSpPr>
        <p:spPr>
          <a:xfrm>
            <a:off x="848844" y="4388297"/>
            <a:ext cx="10832294" cy="646331"/>
          </a:xfrm>
          <a:prstGeom prst="rect">
            <a:avLst/>
          </a:prstGeom>
        </p:spPr>
        <p:txBody>
          <a:bodyPr wrap="square">
            <a:spAutoFit/>
          </a:bodyPr>
          <a:lstStyle/>
          <a:p>
            <a:r>
              <a:rPr lang="fr-FR" dirty="0">
                <a:latin typeface="Times New Roman" panose="02020603050405020304" pitchFamily="18" charset="0"/>
                <a:cs typeface="Times New Roman" panose="02020603050405020304" pitchFamily="18" charset="0"/>
              </a:rPr>
              <a:t>Il existe alors trois possibilités de montage de </a:t>
            </a:r>
            <a:r>
              <a:rPr lang="fr-FR" dirty="0" smtClean="0">
                <a:latin typeface="Times New Roman" panose="02020603050405020304" pitchFamily="18" charset="0"/>
                <a:cs typeface="Times New Roman" panose="02020603050405020304" pitchFamily="18" charset="0"/>
              </a:rPr>
              <a:t>transistor NPN </a:t>
            </a:r>
            <a:r>
              <a:rPr lang="fr-FR" dirty="0">
                <a:latin typeface="Times New Roman" panose="02020603050405020304" pitchFamily="18" charset="0"/>
                <a:cs typeface="Times New Roman" panose="02020603050405020304" pitchFamily="18" charset="0"/>
              </a:rPr>
              <a:t>: le montage émetteur commun, le montage base commune et le montage collecteur </a:t>
            </a:r>
            <a:r>
              <a:rPr lang="fr-FR" dirty="0" smtClean="0">
                <a:latin typeface="Times New Roman" panose="02020603050405020304" pitchFamily="18" charset="0"/>
                <a:cs typeface="Times New Roman" panose="02020603050405020304" pitchFamily="18" charset="0"/>
              </a:rPr>
              <a:t>commun.</a:t>
            </a:r>
            <a:endParaRPr lang="en-GB"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76262" y="5034628"/>
            <a:ext cx="4707129" cy="1823372"/>
          </a:xfrm>
          <a:prstGeom prst="rect">
            <a:avLst/>
          </a:prstGeom>
        </p:spPr>
      </p:pic>
      <p:sp>
        <p:nvSpPr>
          <p:cNvPr id="7" name="Titre 1">
            <a:extLst>
              <a:ext uri="{FF2B5EF4-FFF2-40B4-BE49-F238E27FC236}">
                <a16:creationId xmlns:a16="http://schemas.microsoft.com/office/drawing/2014/main" id="{AD82C2F2-3C90-AC07-78DC-32390534358E}"/>
              </a:ext>
            </a:extLst>
          </p:cNvPr>
          <p:cNvSpPr>
            <a:spLocks noGrp="1"/>
          </p:cNvSpPr>
          <p:nvPr>
            <p:ph type="title"/>
          </p:nvPr>
        </p:nvSpPr>
        <p:spPr>
          <a:xfrm>
            <a:off x="1351120" y="266192"/>
            <a:ext cx="9601200" cy="700810"/>
          </a:xfrm>
        </p:spPr>
        <p:txBody>
          <a:bodyPr/>
          <a:lstStyle/>
          <a:p>
            <a:r>
              <a:rPr lang="fr-FR" dirty="0"/>
              <a:t>Fonctionnement et </a:t>
            </a:r>
            <a:r>
              <a:rPr lang="fr-FR" dirty="0" smtClean="0"/>
              <a:t>caractéristique</a:t>
            </a:r>
            <a:endParaRPr lang="fr-FR" dirty="0"/>
          </a:p>
        </p:txBody>
      </p:sp>
    </p:spTree>
    <p:extLst>
      <p:ext uri="{BB962C8B-B14F-4D97-AF65-F5344CB8AC3E}">
        <p14:creationId xmlns:p14="http://schemas.microsoft.com/office/powerpoint/2010/main" val="414920043"/>
      </p:ext>
    </p:extLst>
  </p:cSld>
  <p:clrMapOvr>
    <a:masterClrMapping/>
  </p:clrMapOvr>
  <p:transition spd="slow">
    <p:wip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78663" y="1854968"/>
            <a:ext cx="4929731" cy="3264450"/>
          </a:xfrm>
          <a:prstGeom prst="rect">
            <a:avLst/>
          </a:prstGeom>
        </p:spPr>
      </p:pic>
      <p:sp>
        <p:nvSpPr>
          <p:cNvPr id="6" name="Titre 1">
            <a:extLst>
              <a:ext uri="{FF2B5EF4-FFF2-40B4-BE49-F238E27FC236}">
                <a16:creationId xmlns:a16="http://schemas.microsoft.com/office/drawing/2014/main" id="{AD82C2F2-3C90-AC07-78DC-32390534358E}"/>
              </a:ext>
            </a:extLst>
          </p:cNvPr>
          <p:cNvSpPr>
            <a:spLocks noGrp="1"/>
          </p:cNvSpPr>
          <p:nvPr>
            <p:ph type="title"/>
          </p:nvPr>
        </p:nvSpPr>
        <p:spPr>
          <a:xfrm>
            <a:off x="1351120" y="266192"/>
            <a:ext cx="9601200" cy="700810"/>
          </a:xfrm>
        </p:spPr>
        <p:txBody>
          <a:bodyPr/>
          <a:lstStyle/>
          <a:p>
            <a:r>
              <a:rPr lang="fr-FR" dirty="0"/>
              <a:t>Fonctionnement et </a:t>
            </a:r>
            <a:r>
              <a:rPr lang="fr-FR" dirty="0" smtClean="0"/>
              <a:t>caractéristique</a:t>
            </a:r>
            <a:endParaRPr lang="fr-FR" dirty="0"/>
          </a:p>
        </p:txBody>
      </p:sp>
      <p:sp>
        <p:nvSpPr>
          <p:cNvPr id="7" name="Rectangle 6"/>
          <p:cNvSpPr/>
          <p:nvPr/>
        </p:nvSpPr>
        <p:spPr>
          <a:xfrm>
            <a:off x="1351120" y="1105849"/>
            <a:ext cx="8332573" cy="400110"/>
          </a:xfrm>
          <a:prstGeom prst="rect">
            <a:avLst/>
          </a:prstGeom>
        </p:spPr>
        <p:txBody>
          <a:bodyPr wrap="square">
            <a:spAutoFit/>
          </a:bodyPr>
          <a:lstStyle/>
          <a:p>
            <a:pPr marL="285750" indent="-285750">
              <a:buFont typeface="Arial" panose="020B0604020202020204" pitchFamily="34" charset="0"/>
              <a:buChar char="•"/>
            </a:pPr>
            <a:r>
              <a:rPr lang="fr-FR" sz="2000" b="1" dirty="0">
                <a:latin typeface="Times New Roman" panose="02020603050405020304" pitchFamily="18" charset="0"/>
                <a:cs typeface="Times New Roman" panose="02020603050405020304" pitchFamily="18" charset="0"/>
              </a:rPr>
              <a:t>Fonctionnement du transistor bipolaire en </a:t>
            </a:r>
            <a:r>
              <a:rPr lang="fr-FR" sz="2000" b="1" dirty="0" smtClean="0">
                <a:latin typeface="Times New Roman" panose="02020603050405020304" pitchFamily="18" charset="0"/>
                <a:cs typeface="Times New Roman" panose="02020603050405020304" pitchFamily="18" charset="0"/>
              </a:rPr>
              <a:t>régime statique:</a:t>
            </a:r>
            <a:endParaRPr lang="en-GB" sz="2000" b="1" dirty="0">
              <a:latin typeface="Times New Roman" panose="02020603050405020304" pitchFamily="18" charset="0"/>
              <a:cs typeface="Times New Roman" panose="02020603050405020304" pitchFamily="18" charset="0"/>
            </a:endParaRPr>
          </a:p>
        </p:txBody>
      </p:sp>
      <p:sp>
        <p:nvSpPr>
          <p:cNvPr id="8" name="Rectangle 7"/>
          <p:cNvSpPr/>
          <p:nvPr/>
        </p:nvSpPr>
        <p:spPr>
          <a:xfrm>
            <a:off x="1351120" y="5535548"/>
            <a:ext cx="10341736" cy="1015663"/>
          </a:xfrm>
          <a:prstGeom prst="rect">
            <a:avLst/>
          </a:prstGeom>
        </p:spPr>
        <p:txBody>
          <a:bodyPr wrap="square">
            <a:spAutoFit/>
          </a:bodyPr>
          <a:lstStyle/>
          <a:p>
            <a:pPr algn="just"/>
            <a:r>
              <a:rPr lang="fr-FR" sz="2000" b="1" dirty="0">
                <a:latin typeface="Times New Roman" panose="02020603050405020304" pitchFamily="18" charset="0"/>
                <a:cs typeface="Times New Roman" panose="02020603050405020304" pitchFamily="18" charset="0"/>
              </a:rPr>
              <a:t>Régime linéaire </a:t>
            </a:r>
            <a:r>
              <a:rPr lang="fr-FR" sz="2000" dirty="0">
                <a:latin typeface="Times New Roman" panose="02020603050405020304" pitchFamily="18" charset="0"/>
                <a:cs typeface="Times New Roman" panose="02020603050405020304" pitchFamily="18" charset="0"/>
              </a:rPr>
              <a:t>: Le transistor se comporte comme une source de courant commandé par un courant. Le transistor est alors, le plus souvent, utilisé dans un montage amplificateur. </a:t>
            </a:r>
            <a:r>
              <a:rPr lang="fr-FR" sz="2000" dirty="0" err="1">
                <a:latin typeface="Times New Roman" panose="02020603050405020304" pitchFamily="18" charset="0"/>
                <a:cs typeface="Times New Roman" panose="02020603050405020304" pitchFamily="18" charset="0"/>
              </a:rPr>
              <a:t>Ic</a:t>
            </a:r>
            <a:r>
              <a:rPr lang="fr-FR" sz="2000" dirty="0">
                <a:latin typeface="Times New Roman" panose="02020603050405020304" pitchFamily="18" charset="0"/>
                <a:cs typeface="Times New Roman" panose="02020603050405020304" pitchFamily="18" charset="0"/>
              </a:rPr>
              <a:t> = βI</a:t>
            </a:r>
            <a:r>
              <a:rPr lang="fr-FR" sz="2000" baseline="-25000" dirty="0">
                <a:latin typeface="Times New Roman" panose="02020603050405020304" pitchFamily="18" charset="0"/>
                <a:cs typeface="Times New Roman" panose="02020603050405020304" pitchFamily="18" charset="0"/>
              </a:rPr>
              <a:t>B</a:t>
            </a:r>
            <a:r>
              <a:rPr lang="fr-FR" sz="2000" dirty="0">
                <a:latin typeface="Times New Roman" panose="02020603050405020304" pitchFamily="18" charset="0"/>
                <a:cs typeface="Times New Roman" panose="02020603050405020304" pitchFamily="18" charset="0"/>
              </a:rPr>
              <a:t> et </a:t>
            </a:r>
            <a:endParaRPr lang="fr-DZ"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V</a:t>
            </a:r>
            <a:r>
              <a:rPr lang="fr-FR" sz="2000" baseline="-25000" dirty="0">
                <a:latin typeface="Times New Roman" panose="02020603050405020304" pitchFamily="18" charset="0"/>
                <a:cs typeface="Times New Roman" panose="02020603050405020304" pitchFamily="18" charset="0"/>
              </a:rPr>
              <a:t>BE0</a:t>
            </a:r>
            <a:r>
              <a:rPr lang="fr-FR" sz="2000" dirty="0">
                <a:latin typeface="Times New Roman" panose="02020603050405020304" pitchFamily="18" charset="0"/>
                <a:cs typeface="Times New Roman" panose="02020603050405020304" pitchFamily="18" charset="0"/>
              </a:rPr>
              <a:t> &lt; V</a:t>
            </a:r>
            <a:r>
              <a:rPr lang="fr-FR" sz="2000" baseline="-25000" dirty="0">
                <a:latin typeface="Times New Roman" panose="02020603050405020304" pitchFamily="18" charset="0"/>
                <a:cs typeface="Times New Roman" panose="02020603050405020304" pitchFamily="18" charset="0"/>
              </a:rPr>
              <a:t>BE</a:t>
            </a:r>
            <a:r>
              <a:rPr lang="fr-FR" sz="2000" dirty="0">
                <a:latin typeface="Times New Roman" panose="02020603050405020304" pitchFamily="18" charset="0"/>
                <a:cs typeface="Times New Roman" panose="02020603050405020304" pitchFamily="18" charset="0"/>
              </a:rPr>
              <a:t> &lt; V</a:t>
            </a:r>
            <a:r>
              <a:rPr lang="fr-FR" sz="2000" baseline="-25000" dirty="0">
                <a:latin typeface="Times New Roman" panose="02020603050405020304" pitchFamily="18" charset="0"/>
                <a:cs typeface="Times New Roman" panose="02020603050405020304" pitchFamily="18" charset="0"/>
              </a:rPr>
              <a:t>BEsat</a:t>
            </a:r>
            <a:r>
              <a:rPr lang="fr-FR" sz="2000" dirty="0">
                <a:latin typeface="Times New Roman" panose="02020603050405020304" pitchFamily="18" charset="0"/>
                <a:cs typeface="Times New Roman" panose="02020603050405020304" pitchFamily="18" charset="0"/>
              </a:rPr>
              <a:t> . </a:t>
            </a:r>
          </a:p>
        </p:txBody>
      </p:sp>
      <p:sp>
        <p:nvSpPr>
          <p:cNvPr id="3" name="Rectangle 2"/>
          <p:cNvSpPr/>
          <p:nvPr/>
        </p:nvSpPr>
        <p:spPr>
          <a:xfrm flipH="1">
            <a:off x="810506" y="1739157"/>
            <a:ext cx="3301284" cy="3170099"/>
          </a:xfrm>
          <a:prstGeom prst="rect">
            <a:avLst/>
          </a:prstGeom>
        </p:spPr>
        <p:txBody>
          <a:bodyPr wrap="square">
            <a:spAutoFit/>
          </a:bodyPr>
          <a:lstStyle/>
          <a:p>
            <a:pPr algn="just"/>
            <a:r>
              <a:rPr lang="fr-FR" sz="2000" b="1" dirty="0">
                <a:latin typeface="Times New Roman" panose="02020603050405020304" pitchFamily="18" charset="0"/>
                <a:cs typeface="Times New Roman" panose="02020603050405020304" pitchFamily="18" charset="0"/>
              </a:rPr>
              <a:t>Régime saturé </a:t>
            </a:r>
            <a:r>
              <a:rPr lang="fr-FR" sz="2000" dirty="0">
                <a:latin typeface="Times New Roman" panose="02020603050405020304" pitchFamily="18" charset="0"/>
                <a:cs typeface="Times New Roman" panose="02020603050405020304" pitchFamily="18" charset="0"/>
              </a:rPr>
              <a:t>: Le transistor se comporte comme un interrupteur fermé, </a:t>
            </a:r>
            <a:endParaRPr lang="fr-DZ"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V</a:t>
            </a:r>
            <a:r>
              <a:rPr lang="fr-FR" sz="2000" baseline="-25000" dirty="0">
                <a:latin typeface="Times New Roman" panose="02020603050405020304" pitchFamily="18" charset="0"/>
                <a:cs typeface="Times New Roman" panose="02020603050405020304" pitchFamily="18" charset="0"/>
              </a:rPr>
              <a:t>CE</a:t>
            </a:r>
            <a:r>
              <a:rPr lang="fr-FR" sz="2000" dirty="0">
                <a:latin typeface="Times New Roman" panose="02020603050405020304" pitchFamily="18" charset="0"/>
                <a:cs typeface="Times New Roman" panose="02020603050405020304" pitchFamily="18" charset="0"/>
              </a:rPr>
              <a:t> = V</a:t>
            </a:r>
            <a:r>
              <a:rPr lang="fr-FR" sz="2000" baseline="-25000" dirty="0">
                <a:latin typeface="Times New Roman" panose="02020603050405020304" pitchFamily="18" charset="0"/>
                <a:cs typeface="Times New Roman" panose="02020603050405020304" pitchFamily="18" charset="0"/>
              </a:rPr>
              <a:t>CEsat</a:t>
            </a:r>
            <a:endParaRPr lang="fr-DZ" sz="2000" baseline="-25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 (est de l’ordre de 0,3 à 0,4V), toute augmentation de I</a:t>
            </a:r>
            <a:r>
              <a:rPr lang="fr-FR" sz="2000" baseline="-25000" dirty="0">
                <a:latin typeface="Times New Roman" panose="02020603050405020304" pitchFamily="18" charset="0"/>
                <a:cs typeface="Times New Roman" panose="02020603050405020304" pitchFamily="18" charset="0"/>
              </a:rPr>
              <a:t>B</a:t>
            </a:r>
            <a:r>
              <a:rPr lang="fr-FR" sz="2000" dirty="0">
                <a:latin typeface="Times New Roman" panose="02020603050405020304" pitchFamily="18" charset="0"/>
                <a:cs typeface="Times New Roman" panose="02020603050405020304" pitchFamily="18" charset="0"/>
              </a:rPr>
              <a:t> ne modifie pratiquement </a:t>
            </a:r>
            <a:r>
              <a:rPr lang="fr-FR" sz="2000" dirty="0" smtClean="0">
                <a:latin typeface="Times New Roman" panose="02020603050405020304" pitchFamily="18" charset="0"/>
                <a:cs typeface="Times New Roman" panose="02020603050405020304" pitchFamily="18" charset="0"/>
              </a:rPr>
              <a:t>pas</a:t>
            </a:r>
            <a:endParaRPr lang="fr-DZ" sz="2000" dirty="0" smtClean="0">
              <a:latin typeface="Times New Roman" panose="02020603050405020304" pitchFamily="18" charset="0"/>
              <a:cs typeface="Times New Roman" panose="02020603050405020304" pitchFamily="18" charset="0"/>
            </a:endParaRPr>
          </a:p>
          <a:p>
            <a:pPr algn="just"/>
            <a:r>
              <a:rPr lang="fr-FR" sz="2000" dirty="0" smtClean="0">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IC </a:t>
            </a:r>
            <a:endParaRPr lang="fr-DZ"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(IC = I</a:t>
            </a:r>
            <a:r>
              <a:rPr lang="fr-FR" sz="2000" baseline="-25000" dirty="0">
                <a:latin typeface="Times New Roman" panose="02020603050405020304" pitchFamily="18" charset="0"/>
                <a:cs typeface="Times New Roman" panose="02020603050405020304" pitchFamily="18" charset="0"/>
              </a:rPr>
              <a:t>Csat</a:t>
            </a:r>
            <a:r>
              <a:rPr lang="fr-FR" sz="2000" dirty="0">
                <a:latin typeface="Times New Roman" panose="02020603050405020304" pitchFamily="18" charset="0"/>
                <a:cs typeface="Times New Roman" panose="02020603050405020304" pitchFamily="18" charset="0"/>
              </a:rPr>
              <a:t> &lt; βI</a:t>
            </a:r>
            <a:r>
              <a:rPr lang="fr-FR" sz="2000" baseline="-25000" dirty="0">
                <a:latin typeface="Times New Roman" panose="02020603050405020304" pitchFamily="18" charset="0"/>
                <a:cs typeface="Times New Roman" panose="02020603050405020304" pitchFamily="18" charset="0"/>
              </a:rPr>
              <a:t>B</a:t>
            </a:r>
            <a:r>
              <a:rPr lang="fr-FR" sz="2000" dirty="0">
                <a:latin typeface="Times New Roman" panose="02020603050405020304" pitchFamily="18" charset="0"/>
                <a:cs typeface="Times New Roman" panose="02020603050405020304" pitchFamily="18" charset="0"/>
              </a:rPr>
              <a:t>) et </a:t>
            </a:r>
            <a:endParaRPr lang="fr-DZ" sz="2000" dirty="0" smtClean="0">
              <a:latin typeface="Times New Roman" panose="02020603050405020304" pitchFamily="18" charset="0"/>
              <a:cs typeface="Times New Roman" panose="02020603050405020304" pitchFamily="18" charset="0"/>
            </a:endParaRPr>
          </a:p>
          <a:p>
            <a:pPr algn="just"/>
            <a:r>
              <a:rPr lang="fr-FR" sz="2000" dirty="0" smtClean="0">
                <a:latin typeface="Times New Roman" panose="02020603050405020304" pitchFamily="18" charset="0"/>
                <a:cs typeface="Times New Roman" panose="02020603050405020304" pitchFamily="18" charset="0"/>
              </a:rPr>
              <a:t>IB </a:t>
            </a:r>
            <a:r>
              <a:rPr lang="fr-FR" sz="2000" dirty="0">
                <a:latin typeface="Times New Roman" panose="02020603050405020304" pitchFamily="18" charset="0"/>
                <a:cs typeface="Times New Roman" panose="02020603050405020304" pitchFamily="18" charset="0"/>
              </a:rPr>
              <a:t>&gt; I</a:t>
            </a:r>
            <a:r>
              <a:rPr lang="fr-FR" sz="2000" baseline="-25000" dirty="0">
                <a:latin typeface="Times New Roman" panose="02020603050405020304" pitchFamily="18" charset="0"/>
                <a:cs typeface="Times New Roman" panose="02020603050405020304" pitchFamily="18" charset="0"/>
              </a:rPr>
              <a:t>Bsat</a:t>
            </a:r>
            <a:r>
              <a:rPr lang="fr-FR" sz="2000" dirty="0">
                <a:latin typeface="Times New Roman" panose="02020603050405020304" pitchFamily="18" charset="0"/>
                <a:cs typeface="Times New Roman" panose="02020603050405020304" pitchFamily="18" charset="0"/>
              </a:rPr>
              <a:t>.</a:t>
            </a:r>
          </a:p>
        </p:txBody>
      </p:sp>
      <p:sp>
        <p:nvSpPr>
          <p:cNvPr id="9" name="Rectangle 8"/>
          <p:cNvSpPr/>
          <p:nvPr/>
        </p:nvSpPr>
        <p:spPr>
          <a:xfrm>
            <a:off x="9375267" y="2046934"/>
            <a:ext cx="2653602" cy="1938992"/>
          </a:xfrm>
          <a:prstGeom prst="rect">
            <a:avLst/>
          </a:prstGeom>
        </p:spPr>
        <p:txBody>
          <a:bodyPr wrap="square">
            <a:spAutoFit/>
          </a:bodyPr>
          <a:lstStyle/>
          <a:p>
            <a:pPr algn="just"/>
            <a:r>
              <a:rPr lang="fr-FR" sz="2000" b="1" dirty="0">
                <a:latin typeface="Times New Roman" panose="02020603050405020304" pitchFamily="18" charset="0"/>
                <a:cs typeface="Times New Roman" panose="02020603050405020304" pitchFamily="18" charset="0"/>
              </a:rPr>
              <a:t>Régime bloqué </a:t>
            </a:r>
            <a:r>
              <a:rPr lang="fr-FR" sz="2000" dirty="0">
                <a:latin typeface="Times New Roman" panose="02020603050405020304" pitchFamily="18" charset="0"/>
                <a:cs typeface="Times New Roman" panose="02020603050405020304" pitchFamily="18" charset="0"/>
              </a:rPr>
              <a:t>: Le </a:t>
            </a:r>
            <a:r>
              <a:rPr lang="fr-FR" sz="2000" dirty="0" smtClean="0">
                <a:latin typeface="Times New Roman" panose="02020603050405020304" pitchFamily="18" charset="0"/>
                <a:cs typeface="Times New Roman" panose="02020603050405020304" pitchFamily="18" charset="0"/>
              </a:rPr>
              <a:t>transistor</a:t>
            </a:r>
            <a:r>
              <a:rPr lang="fr-DZ" sz="2000" dirty="0" smtClean="0">
                <a:latin typeface="Times New Roman" panose="02020603050405020304" pitchFamily="18" charset="0"/>
                <a:cs typeface="Times New Roman" panose="02020603050405020304" pitchFamily="18" charset="0"/>
              </a:rPr>
              <a:t> </a:t>
            </a:r>
            <a:r>
              <a:rPr lang="fr-FR" sz="2000" dirty="0" smtClean="0">
                <a:latin typeface="Times New Roman" panose="02020603050405020304" pitchFamily="18" charset="0"/>
                <a:cs typeface="Times New Roman" panose="02020603050405020304" pitchFamily="18" charset="0"/>
              </a:rPr>
              <a:t>se </a:t>
            </a:r>
            <a:r>
              <a:rPr lang="fr-FR" sz="2000" dirty="0">
                <a:latin typeface="Times New Roman" panose="02020603050405020304" pitchFamily="18" charset="0"/>
                <a:cs typeface="Times New Roman" panose="02020603050405020304" pitchFamily="18" charset="0"/>
              </a:rPr>
              <a:t>comporte comme un interrupteur ouvert</a:t>
            </a:r>
            <a:r>
              <a:rPr lang="fr-FR" sz="2000" dirty="0" smtClean="0">
                <a:latin typeface="Times New Roman" panose="02020603050405020304" pitchFamily="18" charset="0"/>
                <a:cs typeface="Times New Roman" panose="02020603050405020304" pitchFamily="18" charset="0"/>
              </a:rPr>
              <a:t>,</a:t>
            </a:r>
            <a:r>
              <a:rPr lang="fr-DZ" sz="2000" dirty="0" smtClean="0">
                <a:latin typeface="Times New Roman" panose="02020603050405020304" pitchFamily="18" charset="0"/>
                <a:cs typeface="Times New Roman" panose="02020603050405020304" pitchFamily="18" charset="0"/>
              </a:rPr>
              <a:t> </a:t>
            </a:r>
            <a:r>
              <a:rPr lang="fr-FR" sz="2000" dirty="0" smtClean="0">
                <a:latin typeface="Times New Roman" panose="02020603050405020304" pitchFamily="18" charset="0"/>
                <a:cs typeface="Times New Roman" panose="02020603050405020304" pitchFamily="18" charset="0"/>
              </a:rPr>
              <a:t>I</a:t>
            </a:r>
            <a:r>
              <a:rPr lang="fr-FR" sz="2000" baseline="-25000" dirty="0" smtClean="0">
                <a:latin typeface="Times New Roman" panose="02020603050405020304" pitchFamily="18" charset="0"/>
                <a:cs typeface="Times New Roman" panose="02020603050405020304" pitchFamily="18" charset="0"/>
              </a:rPr>
              <a:t>B</a:t>
            </a:r>
            <a:r>
              <a:rPr lang="fr-FR" sz="2000" dirty="0" smtClean="0">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 0 et </a:t>
            </a:r>
            <a:endParaRPr lang="fr-DZ"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V</a:t>
            </a:r>
            <a:r>
              <a:rPr lang="fr-FR" sz="2000" baseline="-25000" dirty="0">
                <a:latin typeface="Times New Roman" panose="02020603050405020304" pitchFamily="18" charset="0"/>
                <a:cs typeface="Times New Roman" panose="02020603050405020304" pitchFamily="18" charset="0"/>
              </a:rPr>
              <a:t>BE</a:t>
            </a:r>
            <a:r>
              <a:rPr lang="fr-FR" sz="2000" dirty="0">
                <a:latin typeface="Times New Roman" panose="02020603050405020304" pitchFamily="18" charset="0"/>
                <a:cs typeface="Times New Roman" panose="02020603050405020304" pitchFamily="18" charset="0"/>
              </a:rPr>
              <a:t> &lt; V</a:t>
            </a:r>
            <a:r>
              <a:rPr lang="fr-FR" sz="2000" baseline="-25000" dirty="0">
                <a:latin typeface="Times New Roman" panose="02020603050405020304" pitchFamily="18" charset="0"/>
                <a:cs typeface="Times New Roman" panose="02020603050405020304" pitchFamily="18" charset="0"/>
              </a:rPr>
              <a:t>BE0</a:t>
            </a:r>
            <a:r>
              <a:rPr lang="fr-FR" sz="2000" dirty="0">
                <a:latin typeface="Times New Roman" panose="02020603050405020304" pitchFamily="18" charset="0"/>
                <a:cs typeface="Times New Roman" panose="02020603050405020304" pitchFamily="18" charset="0"/>
              </a:rPr>
              <a:t> , </a:t>
            </a:r>
            <a:endParaRPr lang="fr-DZ" sz="2000" dirty="0">
              <a:latin typeface="Times New Roman" panose="02020603050405020304" pitchFamily="18" charset="0"/>
              <a:cs typeface="Times New Roman" panose="02020603050405020304" pitchFamily="18" charset="0"/>
            </a:endParaRPr>
          </a:p>
          <a:p>
            <a:pPr algn="just"/>
            <a:r>
              <a:rPr lang="fr-FR" sz="2000" dirty="0">
                <a:latin typeface="Times New Roman" panose="02020603050405020304" pitchFamily="18" charset="0"/>
                <a:cs typeface="Times New Roman" panose="02020603050405020304" pitchFamily="18" charset="0"/>
              </a:rPr>
              <a:t>IC = 0 quelque soit V</a:t>
            </a:r>
            <a:r>
              <a:rPr lang="fr-FR" sz="2000" baseline="-25000" dirty="0">
                <a:latin typeface="Times New Roman" panose="02020603050405020304" pitchFamily="18" charset="0"/>
                <a:cs typeface="Times New Roman" panose="02020603050405020304" pitchFamily="18" charset="0"/>
              </a:rPr>
              <a:t>CE</a:t>
            </a:r>
            <a:r>
              <a:rPr lang="fr-FR"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830957967"/>
      </p:ext>
    </p:extLst>
  </p:cSld>
  <p:clrMapOvr>
    <a:masterClrMapping/>
  </p:clrMapOvr>
  <p:transition spd="slow">
    <p:wip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AD82C2F2-3C90-AC07-78DC-32390534358E}"/>
              </a:ext>
            </a:extLst>
          </p:cNvPr>
          <p:cNvSpPr>
            <a:spLocks noGrp="1"/>
          </p:cNvSpPr>
          <p:nvPr>
            <p:ph type="title"/>
          </p:nvPr>
        </p:nvSpPr>
        <p:spPr>
          <a:xfrm>
            <a:off x="1270620" y="530516"/>
            <a:ext cx="9601200" cy="700810"/>
          </a:xfrm>
        </p:spPr>
        <p:txBody>
          <a:bodyPr/>
          <a:lstStyle/>
          <a:p>
            <a:r>
              <a:rPr lang="fr-FR" dirty="0"/>
              <a:t>Fonctionnement et </a:t>
            </a:r>
            <a:r>
              <a:rPr lang="fr-FR" dirty="0" smtClean="0"/>
              <a:t>caractéristique</a:t>
            </a:r>
            <a:endParaRPr lang="fr-FR" dirty="0"/>
          </a:p>
        </p:txBody>
      </p:sp>
      <p:sp>
        <p:nvSpPr>
          <p:cNvPr id="5" name="Rectangle 4"/>
          <p:cNvSpPr/>
          <p:nvPr/>
        </p:nvSpPr>
        <p:spPr>
          <a:xfrm>
            <a:off x="1106422" y="1472526"/>
            <a:ext cx="8332573" cy="400110"/>
          </a:xfrm>
          <a:prstGeom prst="rect">
            <a:avLst/>
          </a:prstGeom>
        </p:spPr>
        <p:txBody>
          <a:bodyPr wrap="square">
            <a:spAutoFit/>
          </a:bodyPr>
          <a:lstStyle/>
          <a:p>
            <a:pPr marL="285750" indent="-285750">
              <a:buFont typeface="Arial" panose="020B0604020202020204" pitchFamily="34" charset="0"/>
              <a:buChar char="•"/>
            </a:pPr>
            <a:r>
              <a:rPr lang="fr-FR" sz="2000" b="1" dirty="0">
                <a:latin typeface="Times New Roman" panose="02020603050405020304" pitchFamily="18" charset="0"/>
                <a:cs typeface="Times New Roman" panose="02020603050405020304" pitchFamily="18" charset="0"/>
              </a:rPr>
              <a:t>Fonctionnement du transistor bipolaire en </a:t>
            </a:r>
            <a:r>
              <a:rPr lang="fr-FR" sz="2000" b="1" dirty="0" smtClean="0">
                <a:latin typeface="Times New Roman" panose="02020603050405020304" pitchFamily="18" charset="0"/>
                <a:cs typeface="Times New Roman" panose="02020603050405020304" pitchFamily="18" charset="0"/>
              </a:rPr>
              <a:t>régime dynamique :</a:t>
            </a:r>
            <a:endParaRPr lang="en-GB" sz="2000" b="1" dirty="0">
              <a:latin typeface="Times New Roman" panose="02020603050405020304" pitchFamily="18" charset="0"/>
              <a:cs typeface="Times New Roman" panose="02020603050405020304" pitchFamily="18" charset="0"/>
            </a:endParaRPr>
          </a:p>
        </p:txBody>
      </p:sp>
      <p:sp>
        <p:nvSpPr>
          <p:cNvPr id="6" name="Rectangle 5"/>
          <p:cNvSpPr/>
          <p:nvPr/>
        </p:nvSpPr>
        <p:spPr>
          <a:xfrm>
            <a:off x="1106422" y="2023486"/>
            <a:ext cx="10626231" cy="646331"/>
          </a:xfrm>
          <a:prstGeom prst="rect">
            <a:avLst/>
          </a:prstGeom>
        </p:spPr>
        <p:txBody>
          <a:bodyPr wrap="square">
            <a:spAutoFit/>
          </a:bodyPr>
          <a:lstStyle/>
          <a:p>
            <a:r>
              <a:rPr lang="fr-FR" dirty="0">
                <a:latin typeface="Times New Roman" panose="02020603050405020304" pitchFamily="18" charset="0"/>
                <a:cs typeface="Times New Roman" panose="02020603050405020304" pitchFamily="18" charset="0"/>
              </a:rPr>
              <a:t>L’étude dynamique sert à calculer du gain en tension, gain en courant, impédance d’entrée et impédance de sortie </a:t>
            </a:r>
            <a:r>
              <a:rPr lang="fr-FR" dirty="0" smtClean="0">
                <a:latin typeface="Times New Roman" panose="02020603050405020304" pitchFamily="18" charset="0"/>
                <a:cs typeface="Times New Roman" panose="02020603050405020304" pitchFamily="18" charset="0"/>
              </a:rPr>
              <a:t>lorsqu’on applique des petites variations à l’une des grandeurs électriques</a:t>
            </a:r>
            <a:r>
              <a:rPr lang="fr-FR" dirty="0">
                <a:latin typeface="Times New Roman" panose="02020603050405020304" pitchFamily="18" charset="0"/>
                <a:cs typeface="Times New Roman" panose="02020603050405020304" pitchFamily="18" charset="0"/>
              </a:rPr>
              <a:t>.</a:t>
            </a:r>
            <a:endParaRPr lang="en-GB" dirty="0">
              <a:latin typeface="Times New Roman" panose="02020603050405020304" pitchFamily="18" charset="0"/>
              <a:cs typeface="Times New Roman" panose="02020603050405020304" pitchFamily="18" charset="0"/>
            </a:endParaRPr>
          </a:p>
        </p:txBody>
      </p:sp>
      <p:sp>
        <p:nvSpPr>
          <p:cNvPr id="7" name="Rectangle 6"/>
          <p:cNvSpPr/>
          <p:nvPr/>
        </p:nvSpPr>
        <p:spPr>
          <a:xfrm>
            <a:off x="1106422" y="2820667"/>
            <a:ext cx="4699620" cy="369332"/>
          </a:xfrm>
          <a:prstGeom prst="rect">
            <a:avLst/>
          </a:prstGeom>
        </p:spPr>
        <p:txBody>
          <a:bodyPr wrap="none">
            <a:spAutoFit/>
          </a:bodyPr>
          <a:lstStyle/>
          <a:p>
            <a:r>
              <a:rPr lang="fr-FR" dirty="0">
                <a:latin typeface="Times New Roman" panose="02020603050405020304" pitchFamily="18" charset="0"/>
                <a:cs typeface="Times New Roman" panose="02020603050405020304" pitchFamily="18" charset="0"/>
              </a:rPr>
              <a:t>Schéma équivalent d’un transistor en alternatif :</a:t>
            </a:r>
            <a:endParaRPr lang="en-GB" dirty="0">
              <a:latin typeface="Times New Roman" panose="02020603050405020304" pitchFamily="18" charset="0"/>
              <a:cs typeface="Times New Roman" panose="02020603050405020304" pitchFamily="18" charset="0"/>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84266" y="3346901"/>
            <a:ext cx="4634275" cy="1694867"/>
          </a:xfrm>
          <a:prstGeom prst="rect">
            <a:avLst/>
          </a:prstGeom>
        </p:spPr>
      </p:pic>
      <p:sp>
        <p:nvSpPr>
          <p:cNvPr id="9" name="Rectangle 8"/>
          <p:cNvSpPr/>
          <p:nvPr/>
        </p:nvSpPr>
        <p:spPr>
          <a:xfrm>
            <a:off x="1106422" y="5162465"/>
            <a:ext cx="11452512" cy="369332"/>
          </a:xfrm>
          <a:prstGeom prst="rect">
            <a:avLst/>
          </a:prstGeom>
        </p:spPr>
        <p:txBody>
          <a:bodyPr wrap="square">
            <a:spAutoFit/>
          </a:bodyPr>
          <a:lstStyle/>
          <a:p>
            <a:r>
              <a:rPr lang="fr-FR" dirty="0">
                <a:latin typeface="Times New Roman" panose="02020603050405020304" pitchFamily="18" charset="0"/>
                <a:cs typeface="Times New Roman" panose="02020603050405020304" pitchFamily="18" charset="0"/>
              </a:rPr>
              <a:t>En régime dynamique, le transistor peut être considéré comme un quadripôle défini par ses paramètres hybrides :</a:t>
            </a: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32727" y="5718852"/>
            <a:ext cx="3121646" cy="974632"/>
          </a:xfrm>
          <a:prstGeom prst="rect">
            <a:avLst/>
          </a:prstGeom>
        </p:spPr>
      </p:pic>
    </p:spTree>
    <p:extLst>
      <p:ext uri="{BB962C8B-B14F-4D97-AF65-F5344CB8AC3E}">
        <p14:creationId xmlns:p14="http://schemas.microsoft.com/office/powerpoint/2010/main" val="2877136643"/>
      </p:ext>
    </p:extLst>
  </p:cSld>
  <p:clrMapOvr>
    <a:masterClrMapping/>
  </p:clrMapOvr>
  <p:transition spd="slow">
    <p:wip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7"/>
          <p:cNvSpPr txBox="1">
            <a:spLocks/>
          </p:cNvSpPr>
          <p:nvPr/>
        </p:nvSpPr>
        <p:spPr>
          <a:xfrm>
            <a:off x="0" y="25400"/>
            <a:ext cx="12192000" cy="12827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gn="ctr"/>
            <a:endParaRPr lang="en-GB" dirty="0"/>
          </a:p>
        </p:txBody>
      </p:sp>
      <p:sp>
        <p:nvSpPr>
          <p:cNvPr id="6" name="Rectangle 5"/>
          <p:cNvSpPr/>
          <p:nvPr/>
        </p:nvSpPr>
        <p:spPr>
          <a:xfrm>
            <a:off x="929560" y="1415778"/>
            <a:ext cx="10983398" cy="1015663"/>
          </a:xfrm>
          <a:prstGeom prst="rect">
            <a:avLst/>
          </a:prstGeom>
        </p:spPr>
        <p:txBody>
          <a:bodyPr wrap="square">
            <a:spAutoFit/>
          </a:bodyPr>
          <a:lstStyle/>
          <a:p>
            <a:pPr algn="just"/>
            <a:r>
              <a:rPr lang="fr-FR" sz="2000" dirty="0" smtClean="0">
                <a:latin typeface="Times New Roman" panose="02020603050405020304" pitchFamily="18" charset="0"/>
                <a:cs typeface="Times New Roman" panose="02020603050405020304" pitchFamily="18" charset="0"/>
              </a:rPr>
              <a:t>Ils </a:t>
            </a:r>
            <a:r>
              <a:rPr lang="fr-FR" sz="2000" dirty="0">
                <a:latin typeface="Times New Roman" panose="02020603050405020304" pitchFamily="18" charset="0"/>
                <a:cs typeface="Times New Roman" panose="02020603050405020304" pitchFamily="18" charset="0"/>
              </a:rPr>
              <a:t>sont utilisés dans de nombreux circuits, qu'il s'agisse de filtres, de stabilisateurs de tension, et bien d'autres fonctions. Il s'agit de composants à trois broches, sur lesquelles peut appliquer une tension électrique.</a:t>
            </a:r>
            <a:endParaRPr lang="en-GB" sz="2000" dirty="0">
              <a:latin typeface="Times New Roman" panose="02020603050405020304" pitchFamily="18" charset="0"/>
              <a:cs typeface="Times New Roman" panose="02020603050405020304" pitchFamily="18" charset="0"/>
            </a:endParaRPr>
          </a:p>
        </p:txBody>
      </p:sp>
      <p:sp>
        <p:nvSpPr>
          <p:cNvPr id="7" name="Rectangle 6"/>
          <p:cNvSpPr/>
          <p:nvPr/>
        </p:nvSpPr>
        <p:spPr>
          <a:xfrm>
            <a:off x="963904" y="2539120"/>
            <a:ext cx="11582400" cy="400110"/>
          </a:xfrm>
          <a:prstGeom prst="rect">
            <a:avLst/>
          </a:prstGeom>
        </p:spPr>
        <p:txBody>
          <a:bodyPr wrap="square">
            <a:spAutoFit/>
          </a:bodyPr>
          <a:lstStyle/>
          <a:p>
            <a:pPr indent="-285750" algn="just">
              <a:buFont typeface="Arial" panose="020B0604020202020204" pitchFamily="34" charset="0"/>
              <a:buChar char="•"/>
            </a:pPr>
            <a:r>
              <a:rPr lang="fr-FR" sz="2000" dirty="0">
                <a:latin typeface="Times New Roman" panose="02020603050405020304" pitchFamily="18" charset="0"/>
                <a:cs typeface="Times New Roman" panose="02020603050405020304" pitchFamily="18" charset="0"/>
              </a:rPr>
              <a:t>Ils sont utilisés de deux manières différentes : soit comme interrupteurs, soit comme amplificateurs.</a:t>
            </a:r>
            <a:endParaRPr lang="en-GB" sz="2000" dirty="0">
              <a:latin typeface="Times New Roman" panose="02020603050405020304" pitchFamily="18" charset="0"/>
              <a:cs typeface="Times New Roman" panose="02020603050405020304" pitchFamily="18" charset="0"/>
            </a:endParaRPr>
          </a:p>
        </p:txBody>
      </p:sp>
      <p:sp>
        <p:nvSpPr>
          <p:cNvPr id="8" name="Rectangle 7"/>
          <p:cNvSpPr/>
          <p:nvPr/>
        </p:nvSpPr>
        <p:spPr>
          <a:xfrm>
            <a:off x="963904" y="2933173"/>
            <a:ext cx="10949054" cy="2554545"/>
          </a:xfrm>
          <a:prstGeom prst="rect">
            <a:avLst/>
          </a:prstGeom>
        </p:spPr>
        <p:txBody>
          <a:bodyPr wrap="square">
            <a:spAutoFit/>
          </a:bodyPr>
          <a:lstStyle/>
          <a:p>
            <a:pPr indent="-285750" algn="just">
              <a:buFont typeface="Arial" panose="020B0604020202020204" pitchFamily="34" charset="0"/>
              <a:buChar char="•"/>
            </a:pPr>
            <a:r>
              <a:rPr lang="fr-FR" sz="2000" dirty="0" smtClean="0">
                <a:latin typeface="Times New Roman" panose="02020603050405020304" pitchFamily="18" charset="0"/>
                <a:cs typeface="Times New Roman" panose="02020603050405020304" pitchFamily="18" charset="0"/>
              </a:rPr>
              <a:t>Ils </a:t>
            </a:r>
            <a:r>
              <a:rPr lang="fr-FR" sz="2000" dirty="0">
                <a:latin typeface="Times New Roman" panose="02020603050405020304" pitchFamily="18" charset="0"/>
                <a:cs typeface="Times New Roman" panose="02020603050405020304" pitchFamily="18" charset="0"/>
              </a:rPr>
              <a:t>servent d'interrupteurs </a:t>
            </a:r>
            <a:r>
              <a:rPr lang="fr-FR" sz="2000" dirty="0" err="1">
                <a:latin typeface="Times New Roman" panose="02020603050405020304" pitchFamily="18" charset="0"/>
                <a:cs typeface="Times New Roman" panose="02020603050405020304" pitchFamily="18" charset="0"/>
              </a:rPr>
              <a:t>commandables</a:t>
            </a:r>
            <a:r>
              <a:rPr lang="fr-FR" sz="2000" dirty="0">
                <a:latin typeface="Times New Roman" panose="02020603050405020304" pitchFamily="18" charset="0"/>
                <a:cs typeface="Times New Roman" panose="02020603050405020304" pitchFamily="18" charset="0"/>
              </a:rPr>
              <a:t>, à savoir des interrupteurs commandés par leur troisième broche. Ils se comportent comme un interrupteur fermé ou ouvert selon ce qu'on met sur la troisième broche.</a:t>
            </a:r>
          </a:p>
          <a:p>
            <a:pPr indent="-285750" algn="just">
              <a:buFont typeface="Arial" panose="020B0604020202020204" pitchFamily="34" charset="0"/>
              <a:buChar char="•"/>
            </a:pPr>
            <a:r>
              <a:rPr lang="fr-FR" sz="2000" dirty="0" smtClean="0">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Ils amplifient une tension ou un courant qui les traverse. Le coefficient d'amplification est déterminé par la tension et le courant placé sur la troisième broche. Plus précisément, les transistors bipolaires sont des amplificateurs de courant. Ils reçoivent un courant sur la broche d'entrée, et en fournissent une version multipliée sur leur sortie. Le coefficient multiplicateur dépend du courant ou de la tension sur la broche de contrôle.</a:t>
            </a:r>
            <a:endParaRPr lang="en-GB" sz="2000" dirty="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3261" y="4776387"/>
            <a:ext cx="1809353" cy="2357329"/>
          </a:xfrm>
          <a:prstGeom prst="rect">
            <a:avLst/>
          </a:prstGeom>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01324" y="5241497"/>
            <a:ext cx="2311623" cy="1427111"/>
          </a:xfrm>
          <a:prstGeom prst="rect">
            <a:avLst/>
          </a:prstGeom>
        </p:spPr>
      </p:pic>
      <p:sp>
        <p:nvSpPr>
          <p:cNvPr id="11" name="Titre 1">
            <a:extLst>
              <a:ext uri="{FF2B5EF4-FFF2-40B4-BE49-F238E27FC236}">
                <a16:creationId xmlns:a16="http://schemas.microsoft.com/office/drawing/2014/main" id="{AD82C2F2-3C90-AC07-78DC-32390534358E}"/>
              </a:ext>
            </a:extLst>
          </p:cNvPr>
          <p:cNvSpPr>
            <a:spLocks noGrp="1"/>
          </p:cNvSpPr>
          <p:nvPr>
            <p:ph type="title"/>
          </p:nvPr>
        </p:nvSpPr>
        <p:spPr>
          <a:xfrm>
            <a:off x="1270620" y="530516"/>
            <a:ext cx="9601200" cy="700810"/>
          </a:xfrm>
        </p:spPr>
        <p:txBody>
          <a:bodyPr/>
          <a:lstStyle/>
          <a:p>
            <a:r>
              <a:rPr lang="fr-FR" dirty="0">
                <a:latin typeface="Times New Roman" panose="02020603050405020304" pitchFamily="18" charset="0"/>
                <a:cs typeface="Times New Roman" panose="02020603050405020304" pitchFamily="18" charset="0"/>
              </a:rPr>
              <a:t>Utilisation</a:t>
            </a:r>
            <a:endParaRPr lang="fr-FR" dirty="0"/>
          </a:p>
        </p:txBody>
      </p:sp>
    </p:spTree>
    <p:extLst>
      <p:ext uri="{BB962C8B-B14F-4D97-AF65-F5344CB8AC3E}">
        <p14:creationId xmlns:p14="http://schemas.microsoft.com/office/powerpoint/2010/main" val="242824734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53534" y="1508215"/>
            <a:ext cx="10604500" cy="1631216"/>
          </a:xfrm>
          <a:prstGeom prst="rect">
            <a:avLst/>
          </a:prstGeom>
        </p:spPr>
        <p:txBody>
          <a:bodyPr wrap="square">
            <a:spAutoFit/>
          </a:bodyPr>
          <a:lstStyle/>
          <a:p>
            <a:r>
              <a:rPr lang="fr-FR" sz="2000" dirty="0">
                <a:solidFill>
                  <a:schemeClr val="tx2"/>
                </a:solidFill>
                <a:latin typeface="Times New Roman"/>
                <a:cs typeface="Times New Roman"/>
              </a:rPr>
              <a:t>La norme Pro Electron impose un codage comportant trois informations: une première lettre désigne le matériau semi-conducteur utilisé, une deuxième lettre renseigne sur la nature du composant, puis vient un groupe de trois chiffres (pour les produits "grand public") ou deux chiffres et une lettre (produits industriels).</a:t>
            </a:r>
          </a:p>
          <a:p>
            <a:pPr algn="just"/>
            <a:endParaRPr lang="fr-FR" sz="2000" dirty="0">
              <a:solidFill>
                <a:schemeClr val="tx2"/>
              </a:solidFill>
              <a:latin typeface="Times New Roman"/>
              <a:cs typeface="Times New Roman"/>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7688" y="2985542"/>
            <a:ext cx="7175571" cy="2522622"/>
          </a:xfrm>
          <a:prstGeom prst="rect">
            <a:avLst/>
          </a:prstGeom>
        </p:spPr>
      </p:pic>
      <p:sp>
        <p:nvSpPr>
          <p:cNvPr id="6" name="Rectangle 5"/>
          <p:cNvSpPr/>
          <p:nvPr/>
        </p:nvSpPr>
        <p:spPr>
          <a:xfrm>
            <a:off x="1278673" y="5784220"/>
            <a:ext cx="10653603" cy="707886"/>
          </a:xfrm>
          <a:prstGeom prst="rect">
            <a:avLst/>
          </a:prstGeom>
        </p:spPr>
        <p:txBody>
          <a:bodyPr wrap="square">
            <a:spAutoFit/>
          </a:bodyPr>
          <a:lstStyle/>
          <a:p>
            <a:r>
              <a:rPr lang="fr-FR" sz="2000" dirty="0">
                <a:solidFill>
                  <a:schemeClr val="tx2"/>
                </a:solidFill>
                <a:latin typeface="Times New Roman"/>
                <a:cs typeface="Times New Roman"/>
              </a:rPr>
              <a:t>la BA159 est une diode signal, le BC547 est un transistor faible puissance, le BD135 est un transistor de puissance.</a:t>
            </a:r>
          </a:p>
        </p:txBody>
      </p:sp>
      <p:sp>
        <p:nvSpPr>
          <p:cNvPr id="7" name="Titre 1">
            <a:extLst>
              <a:ext uri="{FF2B5EF4-FFF2-40B4-BE49-F238E27FC236}">
                <a16:creationId xmlns:a16="http://schemas.microsoft.com/office/drawing/2014/main" id="{AD82C2F2-3C90-AC07-78DC-32390534358E}"/>
              </a:ext>
            </a:extLst>
          </p:cNvPr>
          <p:cNvSpPr>
            <a:spLocks noGrp="1"/>
          </p:cNvSpPr>
          <p:nvPr>
            <p:ph type="title"/>
          </p:nvPr>
        </p:nvSpPr>
        <p:spPr>
          <a:xfrm>
            <a:off x="1371600" y="685800"/>
            <a:ext cx="9601200" cy="700810"/>
          </a:xfrm>
        </p:spPr>
        <p:txBody>
          <a:bodyPr/>
          <a:lstStyle/>
          <a:p>
            <a:r>
              <a:rPr lang="fr-FR" dirty="0" smtClean="0"/>
              <a:t>Nomenclature</a:t>
            </a:r>
            <a:endParaRPr lang="fr-FR" dirty="0"/>
          </a:p>
        </p:txBody>
      </p:sp>
    </p:spTree>
    <p:extLst>
      <p:ext uri="{BB962C8B-B14F-4D97-AF65-F5344CB8AC3E}">
        <p14:creationId xmlns:p14="http://schemas.microsoft.com/office/powerpoint/2010/main" val="215060342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1">
            <a:extLst>
              <a:ext uri="{FF2B5EF4-FFF2-40B4-BE49-F238E27FC236}">
                <a16:creationId xmlns:a16="http://schemas.microsoft.com/office/drawing/2014/main" id="{AD82C2F2-3C90-AC07-78DC-32390534358E}"/>
              </a:ext>
            </a:extLst>
          </p:cNvPr>
          <p:cNvSpPr txBox="1">
            <a:spLocks/>
          </p:cNvSpPr>
          <p:nvPr/>
        </p:nvSpPr>
        <p:spPr>
          <a:xfrm>
            <a:off x="1371600" y="685800"/>
            <a:ext cx="9601200" cy="700810"/>
          </a:xfrm>
          <a:prstGeom prst="rect">
            <a:avLst/>
          </a:prstGeom>
        </p:spPr>
        <p:txBody>
          <a:bodyPr vert="horz" lIns="91440" tIns="45720" rIns="91440" bIns="45720" rtlCol="0" anchor="t">
            <a:normAutofit/>
          </a:bodyPr>
          <a:lst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a:lstStyle>
          <a:p>
            <a:r>
              <a:rPr lang="fr-FR" dirty="0" smtClean="0"/>
              <a:t>Conclusion</a:t>
            </a:r>
            <a:endParaRPr lang="fr-FR" dirty="0"/>
          </a:p>
        </p:txBody>
      </p:sp>
      <p:sp>
        <p:nvSpPr>
          <p:cNvPr id="5" name="Rectangle 4"/>
          <p:cNvSpPr/>
          <p:nvPr/>
        </p:nvSpPr>
        <p:spPr>
          <a:xfrm>
            <a:off x="2056326" y="2279562"/>
            <a:ext cx="8439955" cy="2862322"/>
          </a:xfrm>
          <a:prstGeom prst="rect">
            <a:avLst/>
          </a:prstGeom>
        </p:spPr>
        <p:txBody>
          <a:bodyPr wrap="square">
            <a:spAutoFit/>
          </a:bodyPr>
          <a:lstStyle/>
          <a:p>
            <a:pPr algn="just">
              <a:lnSpc>
                <a:spcPct val="150000"/>
              </a:lnSpc>
            </a:pPr>
            <a:r>
              <a:rPr lang="fr-FR" sz="2000" dirty="0" smtClean="0">
                <a:latin typeface="Times New Roman" panose="02020603050405020304" pitchFamily="18" charset="0"/>
                <a:cs typeface="Times New Roman" panose="02020603050405020304" pitchFamily="18" charset="0"/>
              </a:rPr>
              <a:t>Il existe beaucoup  de montages de transistor de </a:t>
            </a:r>
            <a:r>
              <a:rPr lang="fr-FR" sz="2000" dirty="0" smtClean="0">
                <a:latin typeface="Times New Roman" panose="02020603050405020304" pitchFamily="18" charset="0"/>
                <a:cs typeface="Times New Roman" panose="02020603050405020304" pitchFamily="18" charset="0"/>
              </a:rPr>
              <a:t>t</a:t>
            </a:r>
            <a:r>
              <a:rPr lang="fr-FR" sz="2000" dirty="0" smtClean="0">
                <a:latin typeface="Times New Roman" panose="02020603050405020304" pitchFamily="18" charset="0"/>
                <a:cs typeface="Times New Roman" panose="02020603050405020304" pitchFamily="18" charset="0"/>
              </a:rPr>
              <a:t>elle sorte que les </a:t>
            </a:r>
            <a:r>
              <a:rPr lang="fr-FR" sz="2000" dirty="0">
                <a:latin typeface="Times New Roman" panose="02020603050405020304" pitchFamily="18" charset="0"/>
                <a:cs typeface="Times New Roman" panose="02020603050405020304" pitchFamily="18" charset="0"/>
              </a:rPr>
              <a:t>transistors </a:t>
            </a:r>
            <a:r>
              <a:rPr lang="fr-FR" sz="2000" dirty="0" smtClean="0">
                <a:latin typeface="Times New Roman" panose="02020603050405020304" pitchFamily="18" charset="0"/>
                <a:cs typeface="Times New Roman" panose="02020603050405020304" pitchFamily="18" charset="0"/>
              </a:rPr>
              <a:t>bipolaires sont utilisés surtout </a:t>
            </a:r>
            <a:r>
              <a:rPr lang="fr-FR" sz="2000" dirty="0">
                <a:latin typeface="Times New Roman" panose="02020603050405020304" pitchFamily="18" charset="0"/>
                <a:cs typeface="Times New Roman" panose="02020603050405020304" pitchFamily="18" charset="0"/>
              </a:rPr>
              <a:t>pour fabriquer des circuits électroniques, comme des ordinateurs, des téléphones et bien d'autres objets numériques du quotidien. </a:t>
            </a:r>
            <a:r>
              <a:rPr lang="en-US" sz="2000" dirty="0">
                <a:latin typeface="Times New Roman"/>
                <a:ea typeface="Times New Roman"/>
                <a:cs typeface="Times New Roman"/>
                <a:sym typeface="Times New Roman"/>
              </a:rPr>
              <a:t>. Ce </a:t>
            </a:r>
            <a:r>
              <a:rPr lang="en-US" sz="2000" dirty="0" err="1">
                <a:latin typeface="Times New Roman"/>
                <a:ea typeface="Times New Roman"/>
                <a:cs typeface="Times New Roman"/>
                <a:sym typeface="Times New Roman"/>
              </a:rPr>
              <a:t>composant</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est</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considéré</a:t>
            </a:r>
            <a:r>
              <a:rPr lang="en-US" sz="2000" dirty="0">
                <a:latin typeface="Times New Roman"/>
                <a:ea typeface="Times New Roman"/>
                <a:cs typeface="Times New Roman"/>
                <a:sym typeface="Times New Roman"/>
              </a:rPr>
              <a:t> par </a:t>
            </a:r>
            <a:r>
              <a:rPr lang="en-US" sz="2000" dirty="0" err="1" smtClean="0">
                <a:latin typeface="Times New Roman"/>
                <a:ea typeface="Times New Roman"/>
                <a:cs typeface="Times New Roman"/>
                <a:sym typeface="Times New Roman"/>
              </a:rPr>
              <a:t>certains</a:t>
            </a:r>
            <a:r>
              <a:rPr lang="en-US" sz="2000" dirty="0" smtClean="0">
                <a:latin typeface="Times New Roman"/>
                <a:ea typeface="Times New Roman"/>
                <a:cs typeface="Times New Roman"/>
                <a:sym typeface="Times New Roman"/>
              </a:rPr>
              <a:t>, </a:t>
            </a:r>
            <a:r>
              <a:rPr lang="en-US" sz="2000" dirty="0" err="1" smtClean="0">
                <a:latin typeface="Times New Roman"/>
                <a:ea typeface="Times New Roman"/>
                <a:cs typeface="Times New Roman"/>
                <a:sym typeface="Times New Roman"/>
              </a:rPr>
              <a:t>comme</a:t>
            </a:r>
            <a:r>
              <a:rPr lang="en-US" sz="2000" dirty="0" smtClean="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l'une</a:t>
            </a:r>
            <a:r>
              <a:rPr lang="en-US" sz="2000" dirty="0">
                <a:latin typeface="Times New Roman"/>
                <a:ea typeface="Times New Roman"/>
                <a:cs typeface="Times New Roman"/>
                <a:sym typeface="Times New Roman"/>
              </a:rPr>
              <a:t> des </a:t>
            </a:r>
            <a:r>
              <a:rPr lang="en-US" sz="2000" dirty="0" err="1">
                <a:latin typeface="Times New Roman"/>
                <a:ea typeface="Times New Roman"/>
                <a:cs typeface="Times New Roman"/>
                <a:sym typeface="Times New Roman"/>
              </a:rPr>
              <a:t>grandes</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réalisations</a:t>
            </a:r>
            <a:r>
              <a:rPr lang="en-US" sz="2000" dirty="0">
                <a:latin typeface="Times New Roman"/>
                <a:ea typeface="Times New Roman"/>
                <a:cs typeface="Times New Roman"/>
                <a:sym typeface="Times New Roman"/>
              </a:rPr>
              <a:t> du 20eme siècle, et </a:t>
            </a:r>
            <a:r>
              <a:rPr lang="en-US" sz="2000" dirty="0" err="1">
                <a:latin typeface="Times New Roman"/>
                <a:ea typeface="Times New Roman"/>
                <a:cs typeface="Times New Roman"/>
                <a:sym typeface="Times New Roman"/>
              </a:rPr>
              <a:t>certains</a:t>
            </a:r>
            <a:r>
              <a:rPr lang="en-US" sz="2000" dirty="0">
                <a:latin typeface="Times New Roman"/>
                <a:ea typeface="Times New Roman"/>
                <a:cs typeface="Times New Roman"/>
                <a:sym typeface="Times New Roman"/>
              </a:rPr>
              <a:t> le </a:t>
            </a:r>
            <a:r>
              <a:rPr lang="en-US" sz="2000" dirty="0" err="1">
                <a:latin typeface="Times New Roman"/>
                <a:ea typeface="Times New Roman"/>
                <a:cs typeface="Times New Roman"/>
                <a:sym typeface="Times New Roman"/>
              </a:rPr>
              <a:t>considèrent</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comme</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l'une</a:t>
            </a:r>
            <a:r>
              <a:rPr lang="en-US" sz="2000" dirty="0">
                <a:latin typeface="Times New Roman"/>
                <a:ea typeface="Times New Roman"/>
                <a:cs typeface="Times New Roman"/>
                <a:sym typeface="Times New Roman"/>
              </a:rPr>
              <a:t> des </a:t>
            </a:r>
            <a:r>
              <a:rPr lang="en-US" sz="2000" dirty="0" err="1">
                <a:latin typeface="Times New Roman"/>
                <a:ea typeface="Times New Roman"/>
                <a:cs typeface="Times New Roman"/>
                <a:sym typeface="Times New Roman"/>
              </a:rPr>
              <a:t>réalisations</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technologiques</a:t>
            </a:r>
            <a:r>
              <a:rPr lang="en-US" sz="2000" dirty="0">
                <a:latin typeface="Times New Roman"/>
                <a:ea typeface="Times New Roman"/>
                <a:cs typeface="Times New Roman"/>
                <a:sym typeface="Times New Roman"/>
              </a:rPr>
              <a:t> les plus </a:t>
            </a:r>
            <a:r>
              <a:rPr lang="en-US" sz="2000" dirty="0" err="1">
                <a:latin typeface="Times New Roman"/>
                <a:ea typeface="Times New Roman"/>
                <a:cs typeface="Times New Roman"/>
                <a:sym typeface="Times New Roman"/>
              </a:rPr>
              <a:t>importantes</a:t>
            </a:r>
            <a:r>
              <a:rPr lang="en-US" sz="2000" dirty="0">
                <a:latin typeface="Times New Roman"/>
                <a:ea typeface="Times New Roman"/>
                <a:cs typeface="Times New Roman"/>
                <a:sym typeface="Times New Roman"/>
              </a:rPr>
              <a:t> de </a:t>
            </a:r>
            <a:r>
              <a:rPr lang="en-US" sz="2000" dirty="0" err="1">
                <a:latin typeface="Times New Roman"/>
                <a:ea typeface="Times New Roman"/>
                <a:cs typeface="Times New Roman"/>
                <a:sym typeface="Times New Roman"/>
              </a:rPr>
              <a:t>l'histoire</a:t>
            </a:r>
            <a:r>
              <a:rPr lang="en-US" sz="2000" dirty="0">
                <a:latin typeface="Times New Roman"/>
                <a:ea typeface="Times New Roman"/>
                <a:cs typeface="Times New Roman"/>
                <a:sym typeface="Times New Roman"/>
              </a:rPr>
              <a:t> de </a:t>
            </a:r>
            <a:r>
              <a:rPr lang="en-US" sz="2000" dirty="0" err="1">
                <a:latin typeface="Times New Roman"/>
                <a:ea typeface="Times New Roman"/>
                <a:cs typeface="Times New Roman"/>
                <a:sym typeface="Times New Roman"/>
              </a:rPr>
              <a:t>l'humanité</a:t>
            </a:r>
            <a:r>
              <a:rPr lang="en-US" sz="2000" dirty="0">
                <a:latin typeface="Times New Roman"/>
                <a:ea typeface="Times New Roman"/>
                <a:cs typeface="Times New Roman"/>
                <a:sym typeface="Times New Roman"/>
              </a:rPr>
              <a:t>.</a:t>
            </a:r>
            <a:endParaRPr lang="fr-FR" sz="2000" dirty="0"/>
          </a:p>
        </p:txBody>
      </p:sp>
    </p:spTree>
    <p:extLst>
      <p:ext uri="{BB962C8B-B14F-4D97-AF65-F5344CB8AC3E}">
        <p14:creationId xmlns:p14="http://schemas.microsoft.com/office/powerpoint/2010/main" val="379256277"/>
      </p:ext>
    </p:extLst>
  </p:cSld>
  <p:clrMapOvr>
    <a:masterClrMapping/>
  </p:clrMapOvr>
  <p:transition spd="slow">
    <p:wip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194429" y="2652179"/>
            <a:ext cx="9976257" cy="3276600"/>
          </a:xfrm>
        </p:spPr>
        <p:txBody>
          <a:bodyPr>
            <a:normAutofit/>
          </a:bodyPr>
          <a:lstStyle/>
          <a:p>
            <a:r>
              <a:rPr lang="fr-FR" sz="8000" dirty="0" smtClean="0">
                <a:solidFill>
                  <a:schemeClr val="tx1"/>
                </a:solidFill>
                <a:latin typeface="Bahnschrift Condensed" panose="020B0502040204020203" pitchFamily="34" charset="0"/>
                <a:cs typeface="Times New Roman" panose="02020603050405020304" pitchFamily="18" charset="0"/>
              </a:rPr>
              <a:t>Merci pour votre Attention</a:t>
            </a:r>
            <a:endParaRPr lang="en-GB" sz="6600" dirty="0">
              <a:solidFill>
                <a:schemeClr val="tx1"/>
              </a:solidFill>
              <a:latin typeface="Bahnschrift Condensed" panose="020B0502040204020203" pitchFamily="34" charset="0"/>
              <a:cs typeface="Times New Roman" panose="02020603050405020304" pitchFamily="18" charset="0"/>
            </a:endParaRPr>
          </a:p>
        </p:txBody>
      </p:sp>
    </p:spTree>
    <p:extLst>
      <p:ext uri="{BB962C8B-B14F-4D97-AF65-F5344CB8AC3E}">
        <p14:creationId xmlns:p14="http://schemas.microsoft.com/office/powerpoint/2010/main" val="299188391"/>
      </p:ext>
    </p:extLst>
  </p:cSld>
  <p:clrMapOvr>
    <a:masterClrMapping/>
  </p:clrMapOvr>
  <p:transition spd="slow">
    <p:wipe/>
  </p:transition>
  <p:timing>
    <p:tnLst>
      <p:par>
        <p:cTn id="1" dur="indefinite" restart="never" nodeType="tmRoot"/>
      </p:par>
    </p:tnLst>
  </p:timing>
</p:sld>
</file>

<file path=ppt/theme/theme1.xml><?xml version="1.0" encoding="utf-8"?>
<a:theme xmlns:a="http://schemas.openxmlformats.org/drawingml/2006/main" name="Rogner">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144</TotalTime>
  <Words>977</Words>
  <Application>Microsoft Office PowerPoint</Application>
  <PresentationFormat>Widescreen</PresentationFormat>
  <Paragraphs>130</Paragraphs>
  <Slides>20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Bahnschrift Condensed</vt:lpstr>
      <vt:lpstr>Calibri</vt:lpstr>
      <vt:lpstr>Franklin Gothic Book</vt:lpstr>
      <vt:lpstr>Libre Franklin</vt:lpstr>
      <vt:lpstr>Times New Roman</vt:lpstr>
      <vt:lpstr>Wingdings</vt:lpstr>
      <vt:lpstr>Wingdings,Sans-Serif</vt:lpstr>
      <vt:lpstr>Rogner</vt:lpstr>
      <vt:lpstr>Transistor Bipolaire </vt:lpstr>
      <vt:lpstr>PLAN</vt:lpstr>
      <vt:lpstr>Introduction</vt:lpstr>
      <vt:lpstr>Historique</vt:lpstr>
      <vt:lpstr>Description et Symbole </vt:lpstr>
      <vt:lpstr>Types du transistor </vt:lpstr>
      <vt:lpstr>Types du transistor </vt:lpstr>
      <vt:lpstr>Composition interne </vt:lpstr>
      <vt:lpstr>Composition interne </vt:lpstr>
      <vt:lpstr>Composition interne </vt:lpstr>
      <vt:lpstr>Composition interne  </vt:lpstr>
      <vt:lpstr>Composition interne  </vt:lpstr>
      <vt:lpstr>Fonctionnement et caractéristique</vt:lpstr>
      <vt:lpstr>Fonctionnement et caractéristique</vt:lpstr>
      <vt:lpstr>Fonctionnement et caractéristique</vt:lpstr>
      <vt:lpstr>Fonctionnement et caractéristique</vt:lpstr>
      <vt:lpstr>Utilisation</vt:lpstr>
      <vt:lpstr>Nomenclature</vt:lpstr>
      <vt:lpstr>PowerPoint Presentation</vt:lpstr>
      <vt:lpstr>Merci pour votre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aser</cp:lastModifiedBy>
  <cp:revision>18</cp:revision>
  <dcterms:modified xsi:type="dcterms:W3CDTF">2022-12-22T09:19:50Z</dcterms:modified>
</cp:coreProperties>
</file>