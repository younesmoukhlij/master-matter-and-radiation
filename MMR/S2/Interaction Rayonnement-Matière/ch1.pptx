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6" r:id="rId1"/>
  </p:sldMasterIdLst>
  <p:notesMasterIdLst>
    <p:notesMasterId r:id="rId35"/>
  </p:notesMasterIdLst>
  <p:handoutMasterIdLst>
    <p:handoutMasterId r:id="rId36"/>
  </p:handoutMasterIdLst>
  <p:sldIdLst>
    <p:sldId id="287" r:id="rId2"/>
    <p:sldId id="262" r:id="rId3"/>
    <p:sldId id="263" r:id="rId4"/>
    <p:sldId id="392" r:id="rId5"/>
    <p:sldId id="393" r:id="rId6"/>
    <p:sldId id="394" r:id="rId7"/>
    <p:sldId id="395" r:id="rId8"/>
    <p:sldId id="396" r:id="rId9"/>
    <p:sldId id="397" r:id="rId10"/>
    <p:sldId id="355" r:id="rId11"/>
    <p:sldId id="398" r:id="rId12"/>
    <p:sldId id="399" r:id="rId13"/>
    <p:sldId id="400" r:id="rId14"/>
    <p:sldId id="357" r:id="rId15"/>
    <p:sldId id="401" r:id="rId16"/>
    <p:sldId id="402" r:id="rId17"/>
    <p:sldId id="403" r:id="rId18"/>
    <p:sldId id="404" r:id="rId19"/>
    <p:sldId id="405" r:id="rId20"/>
    <p:sldId id="356" r:id="rId21"/>
    <p:sldId id="406" r:id="rId22"/>
    <p:sldId id="407" r:id="rId23"/>
    <p:sldId id="408" r:id="rId24"/>
    <p:sldId id="409" r:id="rId25"/>
    <p:sldId id="413" r:id="rId26"/>
    <p:sldId id="358" r:id="rId27"/>
    <p:sldId id="410" r:id="rId28"/>
    <p:sldId id="412" r:id="rId29"/>
    <p:sldId id="411" r:id="rId30"/>
    <p:sldId id="360" r:id="rId31"/>
    <p:sldId id="414" r:id="rId32"/>
    <p:sldId id="390" r:id="rId33"/>
    <p:sldId id="415" r:id="rId34"/>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Arial" pitchFamily="34" charset="0"/>
        <a:ea typeface="+mn-ea"/>
        <a:cs typeface="Arial" pitchFamily="34" charset="0"/>
      </a:defRPr>
    </a:lvl1pPr>
    <a:lvl2pPr marL="457200" algn="l" rtl="0" fontAlgn="base">
      <a:spcBef>
        <a:spcPct val="0"/>
      </a:spcBef>
      <a:spcAft>
        <a:spcPct val="0"/>
      </a:spcAft>
      <a:defRPr sz="2400" kern="1200">
        <a:solidFill>
          <a:schemeClr val="tx1"/>
        </a:solidFill>
        <a:latin typeface="Arial" pitchFamily="34" charset="0"/>
        <a:ea typeface="+mn-ea"/>
        <a:cs typeface="Arial" pitchFamily="34" charset="0"/>
      </a:defRPr>
    </a:lvl2pPr>
    <a:lvl3pPr marL="914400" algn="l" rtl="0" fontAlgn="base">
      <a:spcBef>
        <a:spcPct val="0"/>
      </a:spcBef>
      <a:spcAft>
        <a:spcPct val="0"/>
      </a:spcAft>
      <a:defRPr sz="2400"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sz="2400"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sz="2400" kern="1200">
        <a:solidFill>
          <a:schemeClr val="tx1"/>
        </a:solidFill>
        <a:latin typeface="Arial" pitchFamily="34" charset="0"/>
        <a:ea typeface="+mn-ea"/>
        <a:cs typeface="Arial" pitchFamily="34" charset="0"/>
      </a:defRPr>
    </a:lvl5pPr>
    <a:lvl6pPr marL="2286000" algn="l" defTabSz="914400" rtl="0" eaLnBrk="1" latinLnBrk="0" hangingPunct="1">
      <a:defRPr sz="2400" kern="1200">
        <a:solidFill>
          <a:schemeClr val="tx1"/>
        </a:solidFill>
        <a:latin typeface="Arial" pitchFamily="34" charset="0"/>
        <a:ea typeface="+mn-ea"/>
        <a:cs typeface="Arial" pitchFamily="34" charset="0"/>
      </a:defRPr>
    </a:lvl6pPr>
    <a:lvl7pPr marL="2743200" algn="l" defTabSz="914400" rtl="0" eaLnBrk="1" latinLnBrk="0" hangingPunct="1">
      <a:defRPr sz="2400" kern="1200">
        <a:solidFill>
          <a:schemeClr val="tx1"/>
        </a:solidFill>
        <a:latin typeface="Arial" pitchFamily="34" charset="0"/>
        <a:ea typeface="+mn-ea"/>
        <a:cs typeface="Arial" pitchFamily="34" charset="0"/>
      </a:defRPr>
    </a:lvl7pPr>
    <a:lvl8pPr marL="3200400" algn="l" defTabSz="914400" rtl="0" eaLnBrk="1" latinLnBrk="0" hangingPunct="1">
      <a:defRPr sz="2400" kern="1200">
        <a:solidFill>
          <a:schemeClr val="tx1"/>
        </a:solidFill>
        <a:latin typeface="Arial" pitchFamily="34" charset="0"/>
        <a:ea typeface="+mn-ea"/>
        <a:cs typeface="Arial" pitchFamily="34" charset="0"/>
      </a:defRPr>
    </a:lvl8pPr>
    <a:lvl9pPr marL="3657600" algn="l" defTabSz="914400" rtl="0" eaLnBrk="1" latinLnBrk="0" hangingPunct="1">
      <a:defRPr sz="2400" kern="1200">
        <a:solidFill>
          <a:schemeClr val="tx1"/>
        </a:solidFill>
        <a:latin typeface="Arial" pitchFamily="34" charset="0"/>
        <a:ea typeface="+mn-ea"/>
        <a:cs typeface="Arial" pitchFamily="34"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webPr encoding="windows-1252"/>
  <p:clrMru>
    <a:srgbClr val="FF0000"/>
    <a:srgbClr val="009900"/>
    <a:srgbClr val="6666FF"/>
    <a:srgbClr val="CC3300"/>
    <a:srgbClr val="800080"/>
    <a:srgbClr val="339966"/>
    <a:srgbClr val="99CC00"/>
    <a:srgbClr val="CCCC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85812" autoAdjust="0"/>
  </p:normalViewPr>
  <p:slideViewPr>
    <p:cSldViewPr>
      <p:cViewPr>
        <p:scale>
          <a:sx n="69" d="100"/>
          <a:sy n="69" d="100"/>
        </p:scale>
        <p:origin x="-1194" y="-168"/>
      </p:cViewPr>
      <p:guideLst>
        <p:guide orient="horz" pos="2160"/>
        <p:guide pos="102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cs typeface="Arial" charset="0"/>
              </a:defRPr>
            </a:lvl1pPr>
          </a:lstStyle>
          <a:p>
            <a:pPr>
              <a:defRPr/>
            </a:pPr>
            <a:endParaRPr lang="fr-FR"/>
          </a:p>
        </p:txBody>
      </p:sp>
      <p:sp>
        <p:nvSpPr>
          <p:cNvPr id="3" name="Espace réservé de la date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atin typeface="Arial" charset="0"/>
                <a:cs typeface="Arial" charset="0"/>
              </a:defRPr>
            </a:lvl1pPr>
          </a:lstStyle>
          <a:p>
            <a:pPr>
              <a:defRPr/>
            </a:pPr>
            <a:fld id="{9C8EFF9B-9E65-4A2D-83CA-EB494D727BBF}" type="datetimeFigureOut">
              <a:rPr lang="fr-FR"/>
              <a:pPr>
                <a:defRPr/>
              </a:pPr>
              <a:t>14/04/2020</a:t>
            </a:fld>
            <a:endParaRPr lang="fr-FR"/>
          </a:p>
        </p:txBody>
      </p:sp>
      <p:sp>
        <p:nvSpPr>
          <p:cNvPr id="4" name="Espace réservé du pied de page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atin typeface="Arial" charset="0"/>
                <a:cs typeface="Arial" charset="0"/>
              </a:defRPr>
            </a:lvl1pPr>
          </a:lstStyle>
          <a:p>
            <a:pPr>
              <a:defRPr/>
            </a:pPr>
            <a:r>
              <a:rPr lang="fr-FR"/>
              <a:t>FPK Ahmed Fathi</a:t>
            </a:r>
          </a:p>
        </p:txBody>
      </p:sp>
      <p:sp>
        <p:nvSpPr>
          <p:cNvPr id="5" name="Espace réservé du numéro de diapositiv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atin typeface="Arial" charset="0"/>
                <a:cs typeface="Arial" charset="0"/>
              </a:defRPr>
            </a:lvl1pPr>
          </a:lstStyle>
          <a:p>
            <a:pPr>
              <a:defRPr/>
            </a:pPr>
            <a:fld id="{EEC21380-F8B7-4C20-9F9C-C97AA0223FA3}" type="slidenum">
              <a:rPr lang="fr-FR"/>
              <a:pPr>
                <a:defRPr/>
              </a:pPr>
              <a:t>‹N°›</a:t>
            </a:fld>
            <a:endParaRPr lang="fr-FR"/>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cs typeface="Arial" charset="0"/>
              </a:defRPr>
            </a:lvl1pPr>
          </a:lstStyle>
          <a:p>
            <a:pPr>
              <a:defRPr/>
            </a:pPr>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cs typeface="Arial" charset="0"/>
              </a:defRPr>
            </a:lvl1pPr>
          </a:lstStyle>
          <a:p>
            <a:pPr>
              <a:defRPr/>
            </a:pPr>
            <a:fld id="{DB7BA8C0-D4C0-4733-81A1-55E0E2DB07FA}" type="datetimeFigureOut">
              <a:rPr lang="fr-FR"/>
              <a:pPr>
                <a:defRPr/>
              </a:pPr>
              <a:t>14/04/2020</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fr-FR" noProof="0" smtClean="0"/>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noProof="0" smtClean="0"/>
              <a:t>Cliquez pour modifier les styles du texte du masque</a:t>
            </a:r>
          </a:p>
          <a:p>
            <a:pPr lvl="1"/>
            <a:r>
              <a:rPr lang="fr-FR" noProof="0" smtClean="0"/>
              <a:t>Deuxième niveau</a:t>
            </a:r>
          </a:p>
          <a:p>
            <a:pPr lvl="2"/>
            <a:r>
              <a:rPr lang="fr-FR" noProof="0" smtClean="0"/>
              <a:t>Troisième niveau</a:t>
            </a:r>
          </a:p>
          <a:p>
            <a:pPr lvl="3"/>
            <a:r>
              <a:rPr lang="fr-FR" noProof="0" smtClean="0"/>
              <a:t>Quatrième niveau</a:t>
            </a:r>
          </a:p>
          <a:p>
            <a:pPr lvl="4"/>
            <a:r>
              <a:rPr lang="fr-FR" noProof="0" smtClean="0"/>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cs typeface="Arial" charset="0"/>
              </a:defRPr>
            </a:lvl1pPr>
          </a:lstStyle>
          <a:p>
            <a:pPr>
              <a:defRPr/>
            </a:pPr>
            <a:r>
              <a:rPr lang="fr-FR"/>
              <a:t>FPK Ahmed Fathi</a:t>
            </a: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charset="0"/>
                <a:cs typeface="Arial" charset="0"/>
              </a:defRPr>
            </a:lvl1pPr>
          </a:lstStyle>
          <a:p>
            <a:pPr>
              <a:defRPr/>
            </a:pPr>
            <a:fld id="{CE80CC06-3D10-4B36-A7C6-03E50D0F88E1}" type="slidenum">
              <a:rPr lang="fr-FR"/>
              <a:pPr>
                <a:defRPr/>
              </a:pPr>
              <a:t>‹N°›</a:t>
            </a:fld>
            <a:endParaRPr lang="fr-FR"/>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Espace réservé de l'image des diapositives 1"/>
          <p:cNvSpPr>
            <a:spLocks noGrp="1" noRot="1" noChangeAspect="1" noTextEdit="1"/>
          </p:cNvSpPr>
          <p:nvPr>
            <p:ph type="sldImg"/>
          </p:nvPr>
        </p:nvSpPr>
        <p:spPr bwMode="auto">
          <a:noFill/>
          <a:ln>
            <a:solidFill>
              <a:srgbClr val="000000"/>
            </a:solidFill>
            <a:miter lim="800000"/>
            <a:headEnd/>
            <a:tailEnd/>
          </a:ln>
        </p:spPr>
      </p:sp>
      <p:sp>
        <p:nvSpPr>
          <p:cNvPr id="19459"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endParaRPr lang="fr-FR" smtClean="0"/>
          </a:p>
        </p:txBody>
      </p:sp>
      <p:sp>
        <p:nvSpPr>
          <p:cNvPr id="19460" name="Espace réservé du pied de page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fr-FR" smtClean="0">
                <a:latin typeface="Arial" pitchFamily="34" charset="0"/>
                <a:cs typeface="Arial" pitchFamily="34" charset="0"/>
              </a:rPr>
              <a:t>FPK Ahmed Fathi</a:t>
            </a:r>
          </a:p>
        </p:txBody>
      </p:sp>
      <p:sp>
        <p:nvSpPr>
          <p:cNvPr id="19461" name="Espace réservé du numéro de diapositive 4"/>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B5995C2-C3D6-4A86-9565-A08A9ACEE83E}" type="slidenum">
              <a:rPr lang="fr-FR" smtClean="0">
                <a:latin typeface="Arial" pitchFamily="34" charset="0"/>
                <a:cs typeface="Arial" pitchFamily="34" charset="0"/>
              </a:rPr>
              <a:pPr/>
              <a:t>5</a:t>
            </a:fld>
            <a:endParaRPr lang="fr-FR" smtClean="0">
              <a:latin typeface="Arial" pitchFamily="34" charset="0"/>
              <a:cs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312322" name="Rectangle 2"/>
          <p:cNvSpPr>
            <a:spLocks noGrp="1" noRot="1" noChangeArrowheads="1"/>
          </p:cNvSpPr>
          <p:nvPr>
            <p:ph type="ctrTitle"/>
          </p:nvPr>
        </p:nvSpPr>
        <p:spPr>
          <a:xfrm>
            <a:off x="685800" y="1981200"/>
            <a:ext cx="7772400" cy="1600200"/>
          </a:xfrm>
        </p:spPr>
        <p:txBody>
          <a:bodyPr/>
          <a:lstStyle>
            <a:lvl1pPr>
              <a:defRPr/>
            </a:lvl1pPr>
          </a:lstStyle>
          <a:p>
            <a:r>
              <a:rPr lang="fr-FR"/>
              <a:t>Cliquez pour modifier le style du titre</a:t>
            </a:r>
          </a:p>
        </p:txBody>
      </p:sp>
      <p:sp>
        <p:nvSpPr>
          <p:cNvPr id="312323" name="Rectangle 3"/>
          <p:cNvSpPr>
            <a:spLocks noGrp="1" noRot="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fr-FR"/>
              <a:t>Cliquez pour modifier le style des sous-titres du masque</a:t>
            </a:r>
          </a:p>
        </p:txBody>
      </p:sp>
      <p:sp>
        <p:nvSpPr>
          <p:cNvPr id="4" name="Rectangle 4"/>
          <p:cNvSpPr>
            <a:spLocks noGrp="1" noChangeArrowheads="1"/>
          </p:cNvSpPr>
          <p:nvPr>
            <p:ph type="dt" sz="half" idx="10"/>
          </p:nvPr>
        </p:nvSpPr>
        <p:spPr>
          <a:ln/>
        </p:spPr>
        <p:txBody>
          <a:bodyPr/>
          <a:lstStyle>
            <a:lvl1pPr>
              <a:defRPr/>
            </a:lvl1pPr>
          </a:lstStyle>
          <a:p>
            <a:pPr>
              <a:defRPr/>
            </a:pPr>
            <a:fld id="{F2C41E8B-F444-4CF3-9190-1754C9DD6960}" type="datetime1">
              <a:rPr lang="fr-FR"/>
              <a:pPr>
                <a:defRPr/>
              </a:pPr>
              <a:t>14/04/2020</a:t>
            </a:fld>
            <a:endParaRPr lang="fr-FR"/>
          </a:p>
        </p:txBody>
      </p:sp>
      <p:sp>
        <p:nvSpPr>
          <p:cNvPr id="5" name="Rectangle 5"/>
          <p:cNvSpPr>
            <a:spLocks noGrp="1" noChangeArrowheads="1"/>
          </p:cNvSpPr>
          <p:nvPr>
            <p:ph type="ftr" sz="quarter" idx="11"/>
          </p:nvPr>
        </p:nvSpPr>
        <p:spPr>
          <a:ln/>
        </p:spPr>
        <p:txBody>
          <a:bodyPr/>
          <a:lstStyle>
            <a:lvl1pPr>
              <a:defRPr/>
            </a:lvl1pPr>
          </a:lstStyle>
          <a:p>
            <a:pPr>
              <a:defRPr/>
            </a:pPr>
            <a:r>
              <a:rPr lang="fr-FR"/>
              <a:t>Pr Ahmed Fathi </a:t>
            </a:r>
          </a:p>
        </p:txBody>
      </p:sp>
      <p:sp>
        <p:nvSpPr>
          <p:cNvPr id="6" name="Rectangle 6"/>
          <p:cNvSpPr>
            <a:spLocks noGrp="1" noChangeArrowheads="1"/>
          </p:cNvSpPr>
          <p:nvPr>
            <p:ph type="sldNum" sz="quarter" idx="12"/>
          </p:nvPr>
        </p:nvSpPr>
        <p:spPr>
          <a:ln/>
        </p:spPr>
        <p:txBody>
          <a:bodyPr/>
          <a:lstStyle>
            <a:lvl1pPr>
              <a:defRPr/>
            </a:lvl1pPr>
          </a:lstStyle>
          <a:p>
            <a:pPr>
              <a:defRPr/>
            </a:pPr>
            <a:fld id="{77A97036-F778-4085-AB25-D1D47FFEC66B}" type="slidenum">
              <a:rPr lang="fr-FR"/>
              <a:pPr>
                <a:defRPr/>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4"/>
          <p:cNvSpPr>
            <a:spLocks noGrp="1" noChangeArrowheads="1"/>
          </p:cNvSpPr>
          <p:nvPr>
            <p:ph type="dt" sz="half" idx="10"/>
          </p:nvPr>
        </p:nvSpPr>
        <p:spPr>
          <a:ln/>
        </p:spPr>
        <p:txBody>
          <a:bodyPr/>
          <a:lstStyle>
            <a:lvl1pPr>
              <a:defRPr/>
            </a:lvl1pPr>
          </a:lstStyle>
          <a:p>
            <a:pPr>
              <a:defRPr/>
            </a:pPr>
            <a:fld id="{FD87E788-EE92-4EC9-B038-090B70CA8F44}" type="datetime1">
              <a:rPr lang="fr-FR"/>
              <a:pPr>
                <a:defRPr/>
              </a:pPr>
              <a:t>14/04/2020</a:t>
            </a:fld>
            <a:endParaRPr lang="fr-FR"/>
          </a:p>
        </p:txBody>
      </p:sp>
      <p:sp>
        <p:nvSpPr>
          <p:cNvPr id="5" name="Rectangle 5"/>
          <p:cNvSpPr>
            <a:spLocks noGrp="1" noChangeArrowheads="1"/>
          </p:cNvSpPr>
          <p:nvPr>
            <p:ph type="ftr" sz="quarter" idx="11"/>
          </p:nvPr>
        </p:nvSpPr>
        <p:spPr>
          <a:ln/>
        </p:spPr>
        <p:txBody>
          <a:bodyPr/>
          <a:lstStyle>
            <a:lvl1pPr>
              <a:defRPr/>
            </a:lvl1pPr>
          </a:lstStyle>
          <a:p>
            <a:pPr>
              <a:defRPr/>
            </a:pPr>
            <a:r>
              <a:rPr lang="fr-FR"/>
              <a:t>Pr Ahmed Fathi </a:t>
            </a:r>
          </a:p>
        </p:txBody>
      </p:sp>
      <p:sp>
        <p:nvSpPr>
          <p:cNvPr id="6" name="Rectangle 6"/>
          <p:cNvSpPr>
            <a:spLocks noGrp="1" noChangeArrowheads="1"/>
          </p:cNvSpPr>
          <p:nvPr>
            <p:ph type="sldNum" sz="quarter" idx="12"/>
          </p:nvPr>
        </p:nvSpPr>
        <p:spPr>
          <a:ln/>
        </p:spPr>
        <p:txBody>
          <a:bodyPr/>
          <a:lstStyle>
            <a:lvl1pPr>
              <a:defRPr/>
            </a:lvl1pPr>
          </a:lstStyle>
          <a:p>
            <a:pPr>
              <a:defRPr/>
            </a:pPr>
            <a:fld id="{799DBC88-C8E7-41D4-9645-F41EE2010849}" type="slidenum">
              <a:rPr lang="fr-FR"/>
              <a:pPr>
                <a:defRPr/>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Cliquez pour modifier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smtClean="0"/>
              <a:t>Cliquez pour modifier les styles du texte du masque</a:t>
            </a:r>
          </a:p>
        </p:txBody>
      </p:sp>
      <p:sp>
        <p:nvSpPr>
          <p:cNvPr id="4" name="Rectangle 4"/>
          <p:cNvSpPr>
            <a:spLocks noGrp="1" noChangeArrowheads="1"/>
          </p:cNvSpPr>
          <p:nvPr>
            <p:ph type="dt" sz="half" idx="10"/>
          </p:nvPr>
        </p:nvSpPr>
        <p:spPr>
          <a:ln/>
        </p:spPr>
        <p:txBody>
          <a:bodyPr/>
          <a:lstStyle>
            <a:lvl1pPr>
              <a:defRPr/>
            </a:lvl1pPr>
          </a:lstStyle>
          <a:p>
            <a:pPr>
              <a:defRPr/>
            </a:pPr>
            <a:fld id="{2CF64613-5C5C-454A-B4BD-A72111F10ED1}" type="datetime1">
              <a:rPr lang="fr-FR"/>
              <a:pPr>
                <a:defRPr/>
              </a:pPr>
              <a:t>14/04/2020</a:t>
            </a:fld>
            <a:endParaRPr lang="fr-FR"/>
          </a:p>
        </p:txBody>
      </p:sp>
      <p:sp>
        <p:nvSpPr>
          <p:cNvPr id="5" name="Rectangle 5"/>
          <p:cNvSpPr>
            <a:spLocks noGrp="1" noChangeArrowheads="1"/>
          </p:cNvSpPr>
          <p:nvPr>
            <p:ph type="ftr" sz="quarter" idx="11"/>
          </p:nvPr>
        </p:nvSpPr>
        <p:spPr>
          <a:ln/>
        </p:spPr>
        <p:txBody>
          <a:bodyPr/>
          <a:lstStyle>
            <a:lvl1pPr>
              <a:defRPr/>
            </a:lvl1pPr>
          </a:lstStyle>
          <a:p>
            <a:pPr>
              <a:defRPr/>
            </a:pPr>
            <a:r>
              <a:rPr lang="fr-FR"/>
              <a:t>Pr Ahmed Fathi </a:t>
            </a:r>
          </a:p>
        </p:txBody>
      </p:sp>
      <p:sp>
        <p:nvSpPr>
          <p:cNvPr id="6" name="Rectangle 6"/>
          <p:cNvSpPr>
            <a:spLocks noGrp="1" noChangeArrowheads="1"/>
          </p:cNvSpPr>
          <p:nvPr>
            <p:ph type="sldNum" sz="quarter" idx="12"/>
          </p:nvPr>
        </p:nvSpPr>
        <p:spPr>
          <a:ln/>
        </p:spPr>
        <p:txBody>
          <a:bodyPr/>
          <a:lstStyle>
            <a:lvl1pPr>
              <a:defRPr/>
            </a:lvl1pPr>
          </a:lstStyle>
          <a:p>
            <a:pPr>
              <a:defRPr/>
            </a:pPr>
            <a:fld id="{455E562E-3D20-4FFE-86A5-DFD81A0CA0D5}" type="slidenum">
              <a:rPr lang="fr-FR"/>
              <a:pPr>
                <a:defRPr/>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301625"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Rectangle 4"/>
          <p:cNvSpPr>
            <a:spLocks noGrp="1" noChangeArrowheads="1"/>
          </p:cNvSpPr>
          <p:nvPr>
            <p:ph type="dt" sz="half" idx="10"/>
          </p:nvPr>
        </p:nvSpPr>
        <p:spPr>
          <a:ln/>
        </p:spPr>
        <p:txBody>
          <a:bodyPr/>
          <a:lstStyle>
            <a:lvl1pPr>
              <a:defRPr/>
            </a:lvl1pPr>
          </a:lstStyle>
          <a:p>
            <a:pPr>
              <a:defRPr/>
            </a:pPr>
            <a:fld id="{1BDA11A8-5CDE-4CFA-8555-F1BE61241C25}" type="datetime1">
              <a:rPr lang="fr-FR"/>
              <a:pPr>
                <a:defRPr/>
              </a:pPr>
              <a:t>14/04/2020</a:t>
            </a:fld>
            <a:endParaRPr lang="fr-FR"/>
          </a:p>
        </p:txBody>
      </p:sp>
      <p:sp>
        <p:nvSpPr>
          <p:cNvPr id="6" name="Rectangle 5"/>
          <p:cNvSpPr>
            <a:spLocks noGrp="1" noChangeArrowheads="1"/>
          </p:cNvSpPr>
          <p:nvPr>
            <p:ph type="ftr" sz="quarter" idx="11"/>
          </p:nvPr>
        </p:nvSpPr>
        <p:spPr>
          <a:ln/>
        </p:spPr>
        <p:txBody>
          <a:bodyPr/>
          <a:lstStyle>
            <a:lvl1pPr>
              <a:defRPr/>
            </a:lvl1pPr>
          </a:lstStyle>
          <a:p>
            <a:pPr>
              <a:defRPr/>
            </a:pPr>
            <a:r>
              <a:rPr lang="fr-FR"/>
              <a:t>Pr Ahmed Fathi </a:t>
            </a:r>
          </a:p>
        </p:txBody>
      </p:sp>
      <p:sp>
        <p:nvSpPr>
          <p:cNvPr id="7" name="Rectangle 6"/>
          <p:cNvSpPr>
            <a:spLocks noGrp="1" noChangeArrowheads="1"/>
          </p:cNvSpPr>
          <p:nvPr>
            <p:ph type="sldNum" sz="quarter" idx="12"/>
          </p:nvPr>
        </p:nvSpPr>
        <p:spPr>
          <a:ln/>
        </p:spPr>
        <p:txBody>
          <a:bodyPr/>
          <a:lstStyle>
            <a:lvl1pPr>
              <a:defRPr/>
            </a:lvl1pPr>
          </a:lstStyle>
          <a:p>
            <a:pPr>
              <a:defRPr/>
            </a:pPr>
            <a:fld id="{8FCFBB8E-6263-4C2E-8909-FD8C6A539F35}" type="slidenum">
              <a:rPr lang="fr-FR"/>
              <a:pPr>
                <a:defRPr/>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Rectangle 4"/>
          <p:cNvSpPr>
            <a:spLocks noGrp="1" noChangeArrowheads="1"/>
          </p:cNvSpPr>
          <p:nvPr>
            <p:ph type="dt" sz="half" idx="10"/>
          </p:nvPr>
        </p:nvSpPr>
        <p:spPr>
          <a:ln/>
        </p:spPr>
        <p:txBody>
          <a:bodyPr/>
          <a:lstStyle>
            <a:lvl1pPr>
              <a:defRPr/>
            </a:lvl1pPr>
          </a:lstStyle>
          <a:p>
            <a:pPr>
              <a:defRPr/>
            </a:pPr>
            <a:fld id="{06AA6246-E52A-49DE-B35F-456338CF56D9}" type="datetime1">
              <a:rPr lang="fr-FR"/>
              <a:pPr>
                <a:defRPr/>
              </a:pPr>
              <a:t>14/04/2020</a:t>
            </a:fld>
            <a:endParaRPr lang="fr-FR"/>
          </a:p>
        </p:txBody>
      </p:sp>
      <p:sp>
        <p:nvSpPr>
          <p:cNvPr id="8" name="Rectangle 5"/>
          <p:cNvSpPr>
            <a:spLocks noGrp="1" noChangeArrowheads="1"/>
          </p:cNvSpPr>
          <p:nvPr>
            <p:ph type="ftr" sz="quarter" idx="11"/>
          </p:nvPr>
        </p:nvSpPr>
        <p:spPr>
          <a:ln/>
        </p:spPr>
        <p:txBody>
          <a:bodyPr/>
          <a:lstStyle>
            <a:lvl1pPr>
              <a:defRPr/>
            </a:lvl1pPr>
          </a:lstStyle>
          <a:p>
            <a:pPr>
              <a:defRPr/>
            </a:pPr>
            <a:r>
              <a:rPr lang="fr-FR"/>
              <a:t>Pr Ahmed Fathi </a:t>
            </a:r>
          </a:p>
        </p:txBody>
      </p:sp>
      <p:sp>
        <p:nvSpPr>
          <p:cNvPr id="9" name="Rectangle 6"/>
          <p:cNvSpPr>
            <a:spLocks noGrp="1" noChangeArrowheads="1"/>
          </p:cNvSpPr>
          <p:nvPr>
            <p:ph type="sldNum" sz="quarter" idx="12"/>
          </p:nvPr>
        </p:nvSpPr>
        <p:spPr>
          <a:ln/>
        </p:spPr>
        <p:txBody>
          <a:bodyPr/>
          <a:lstStyle>
            <a:lvl1pPr>
              <a:defRPr/>
            </a:lvl1pPr>
          </a:lstStyle>
          <a:p>
            <a:pPr>
              <a:defRPr/>
            </a:pPr>
            <a:fld id="{80850DAE-942E-4D26-A047-6127555D6542}" type="slidenum">
              <a:rPr lang="fr-FR"/>
              <a:pPr>
                <a:defRPr/>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Rectangle 4"/>
          <p:cNvSpPr>
            <a:spLocks noGrp="1" noChangeArrowheads="1"/>
          </p:cNvSpPr>
          <p:nvPr>
            <p:ph type="dt" sz="half" idx="10"/>
          </p:nvPr>
        </p:nvSpPr>
        <p:spPr>
          <a:ln/>
        </p:spPr>
        <p:txBody>
          <a:bodyPr/>
          <a:lstStyle>
            <a:lvl1pPr>
              <a:defRPr/>
            </a:lvl1pPr>
          </a:lstStyle>
          <a:p>
            <a:pPr>
              <a:defRPr/>
            </a:pPr>
            <a:fld id="{87E785DB-ADF4-4FF6-B347-F1DD7217D88A}" type="datetime1">
              <a:rPr lang="fr-FR"/>
              <a:pPr>
                <a:defRPr/>
              </a:pPr>
              <a:t>14/04/2020</a:t>
            </a:fld>
            <a:endParaRPr lang="fr-FR"/>
          </a:p>
        </p:txBody>
      </p:sp>
      <p:sp>
        <p:nvSpPr>
          <p:cNvPr id="4" name="Rectangle 5"/>
          <p:cNvSpPr>
            <a:spLocks noGrp="1" noChangeArrowheads="1"/>
          </p:cNvSpPr>
          <p:nvPr>
            <p:ph type="ftr" sz="quarter" idx="11"/>
          </p:nvPr>
        </p:nvSpPr>
        <p:spPr>
          <a:ln/>
        </p:spPr>
        <p:txBody>
          <a:bodyPr/>
          <a:lstStyle>
            <a:lvl1pPr>
              <a:defRPr/>
            </a:lvl1pPr>
          </a:lstStyle>
          <a:p>
            <a:pPr>
              <a:defRPr/>
            </a:pPr>
            <a:r>
              <a:rPr lang="fr-FR"/>
              <a:t>Pr Ahmed Fathi </a:t>
            </a:r>
          </a:p>
        </p:txBody>
      </p:sp>
      <p:sp>
        <p:nvSpPr>
          <p:cNvPr id="5" name="Rectangle 6"/>
          <p:cNvSpPr>
            <a:spLocks noGrp="1" noChangeArrowheads="1"/>
          </p:cNvSpPr>
          <p:nvPr>
            <p:ph type="sldNum" sz="quarter" idx="12"/>
          </p:nvPr>
        </p:nvSpPr>
        <p:spPr>
          <a:ln/>
        </p:spPr>
        <p:txBody>
          <a:bodyPr/>
          <a:lstStyle>
            <a:lvl1pPr>
              <a:defRPr/>
            </a:lvl1pPr>
          </a:lstStyle>
          <a:p>
            <a:pPr>
              <a:defRPr/>
            </a:pPr>
            <a:fld id="{18428CF5-335D-4360-8E09-3EA1D1D80CF4}" type="slidenum">
              <a:rPr lang="fr-FR"/>
              <a:pPr>
                <a:defRPr/>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38E5FA02-857D-4CB0-AECF-F92F5B1699C5}" type="datetime1">
              <a:rPr lang="fr-FR"/>
              <a:pPr>
                <a:defRPr/>
              </a:pPr>
              <a:t>14/04/2020</a:t>
            </a:fld>
            <a:endParaRPr lang="fr-FR"/>
          </a:p>
        </p:txBody>
      </p:sp>
      <p:sp>
        <p:nvSpPr>
          <p:cNvPr id="3" name="Rectangle 5"/>
          <p:cNvSpPr>
            <a:spLocks noGrp="1" noChangeArrowheads="1"/>
          </p:cNvSpPr>
          <p:nvPr>
            <p:ph type="ftr" sz="quarter" idx="11"/>
          </p:nvPr>
        </p:nvSpPr>
        <p:spPr>
          <a:ln/>
        </p:spPr>
        <p:txBody>
          <a:bodyPr/>
          <a:lstStyle>
            <a:lvl1pPr>
              <a:defRPr/>
            </a:lvl1pPr>
          </a:lstStyle>
          <a:p>
            <a:pPr>
              <a:defRPr/>
            </a:pPr>
            <a:r>
              <a:rPr lang="fr-FR"/>
              <a:t>Pr Ahmed Fathi </a:t>
            </a:r>
          </a:p>
        </p:txBody>
      </p:sp>
      <p:sp>
        <p:nvSpPr>
          <p:cNvPr id="4" name="Rectangle 6"/>
          <p:cNvSpPr>
            <a:spLocks noGrp="1" noChangeArrowheads="1"/>
          </p:cNvSpPr>
          <p:nvPr>
            <p:ph type="sldNum" sz="quarter" idx="12"/>
          </p:nvPr>
        </p:nvSpPr>
        <p:spPr>
          <a:ln/>
        </p:spPr>
        <p:txBody>
          <a:bodyPr/>
          <a:lstStyle>
            <a:lvl1pPr>
              <a:defRPr/>
            </a:lvl1pPr>
          </a:lstStyle>
          <a:p>
            <a:pPr>
              <a:defRPr/>
            </a:pPr>
            <a:fld id="{F509B575-504A-4C4D-ADC3-0EB16A8B5E05}" type="slidenum">
              <a:rPr lang="fr-FR"/>
              <a:pPr>
                <a:defRPr/>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Cliquez pour modifier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Rectangle 4"/>
          <p:cNvSpPr>
            <a:spLocks noGrp="1" noChangeArrowheads="1"/>
          </p:cNvSpPr>
          <p:nvPr>
            <p:ph type="dt" sz="half" idx="10"/>
          </p:nvPr>
        </p:nvSpPr>
        <p:spPr>
          <a:ln/>
        </p:spPr>
        <p:txBody>
          <a:bodyPr/>
          <a:lstStyle>
            <a:lvl1pPr>
              <a:defRPr/>
            </a:lvl1pPr>
          </a:lstStyle>
          <a:p>
            <a:pPr>
              <a:defRPr/>
            </a:pPr>
            <a:fld id="{E0B7AF9F-9983-4414-91F5-802E996505AE}" type="datetime1">
              <a:rPr lang="fr-FR"/>
              <a:pPr>
                <a:defRPr/>
              </a:pPr>
              <a:t>14/04/2020</a:t>
            </a:fld>
            <a:endParaRPr lang="fr-FR"/>
          </a:p>
        </p:txBody>
      </p:sp>
      <p:sp>
        <p:nvSpPr>
          <p:cNvPr id="6" name="Rectangle 5"/>
          <p:cNvSpPr>
            <a:spLocks noGrp="1" noChangeArrowheads="1"/>
          </p:cNvSpPr>
          <p:nvPr>
            <p:ph type="ftr" sz="quarter" idx="11"/>
          </p:nvPr>
        </p:nvSpPr>
        <p:spPr>
          <a:ln/>
        </p:spPr>
        <p:txBody>
          <a:bodyPr/>
          <a:lstStyle>
            <a:lvl1pPr>
              <a:defRPr/>
            </a:lvl1pPr>
          </a:lstStyle>
          <a:p>
            <a:pPr>
              <a:defRPr/>
            </a:pPr>
            <a:r>
              <a:rPr lang="fr-FR"/>
              <a:t>Pr Ahmed Fathi </a:t>
            </a:r>
          </a:p>
        </p:txBody>
      </p:sp>
      <p:sp>
        <p:nvSpPr>
          <p:cNvPr id="7" name="Rectangle 6"/>
          <p:cNvSpPr>
            <a:spLocks noGrp="1" noChangeArrowheads="1"/>
          </p:cNvSpPr>
          <p:nvPr>
            <p:ph type="sldNum" sz="quarter" idx="12"/>
          </p:nvPr>
        </p:nvSpPr>
        <p:spPr>
          <a:ln/>
        </p:spPr>
        <p:txBody>
          <a:bodyPr/>
          <a:lstStyle>
            <a:lvl1pPr>
              <a:defRPr/>
            </a:lvl1pPr>
          </a:lstStyle>
          <a:p>
            <a:pPr>
              <a:defRPr/>
            </a:pPr>
            <a:fld id="{27FC845E-2BF0-46FE-AA44-9F9377BCBBD7}" type="slidenum">
              <a:rPr lang="fr-FR"/>
              <a:pPr>
                <a:defRPr/>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Cliquez pour modifier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smtClean="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Rectangle 4"/>
          <p:cNvSpPr>
            <a:spLocks noGrp="1" noChangeArrowheads="1"/>
          </p:cNvSpPr>
          <p:nvPr>
            <p:ph type="dt" sz="half" idx="10"/>
          </p:nvPr>
        </p:nvSpPr>
        <p:spPr>
          <a:ln/>
        </p:spPr>
        <p:txBody>
          <a:bodyPr/>
          <a:lstStyle>
            <a:lvl1pPr>
              <a:defRPr/>
            </a:lvl1pPr>
          </a:lstStyle>
          <a:p>
            <a:pPr>
              <a:defRPr/>
            </a:pPr>
            <a:fld id="{4CF2E051-DC06-4459-87B2-5C5F011C6B9A}" type="datetime1">
              <a:rPr lang="fr-FR"/>
              <a:pPr>
                <a:defRPr/>
              </a:pPr>
              <a:t>14/04/2020</a:t>
            </a:fld>
            <a:endParaRPr lang="fr-FR"/>
          </a:p>
        </p:txBody>
      </p:sp>
      <p:sp>
        <p:nvSpPr>
          <p:cNvPr id="6" name="Rectangle 5"/>
          <p:cNvSpPr>
            <a:spLocks noGrp="1" noChangeArrowheads="1"/>
          </p:cNvSpPr>
          <p:nvPr>
            <p:ph type="ftr" sz="quarter" idx="11"/>
          </p:nvPr>
        </p:nvSpPr>
        <p:spPr>
          <a:ln/>
        </p:spPr>
        <p:txBody>
          <a:bodyPr/>
          <a:lstStyle>
            <a:lvl1pPr>
              <a:defRPr/>
            </a:lvl1pPr>
          </a:lstStyle>
          <a:p>
            <a:pPr>
              <a:defRPr/>
            </a:pPr>
            <a:r>
              <a:rPr lang="fr-FR"/>
              <a:t>Pr Ahmed Fathi </a:t>
            </a:r>
          </a:p>
        </p:txBody>
      </p:sp>
      <p:sp>
        <p:nvSpPr>
          <p:cNvPr id="7" name="Rectangle 6"/>
          <p:cNvSpPr>
            <a:spLocks noGrp="1" noChangeArrowheads="1"/>
          </p:cNvSpPr>
          <p:nvPr>
            <p:ph type="sldNum" sz="quarter" idx="12"/>
          </p:nvPr>
        </p:nvSpPr>
        <p:spPr>
          <a:ln/>
        </p:spPr>
        <p:txBody>
          <a:bodyPr/>
          <a:lstStyle>
            <a:lvl1pPr>
              <a:defRPr/>
            </a:lvl1pPr>
          </a:lstStyle>
          <a:p>
            <a:pPr>
              <a:defRPr/>
            </a:pPr>
            <a:fld id="{0EDA31E1-677E-4228-A5D2-B463D49203D2}" type="slidenum">
              <a:rPr lang="fr-FR"/>
              <a:pPr>
                <a:defRPr/>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4"/>
          <p:cNvSpPr>
            <a:spLocks noGrp="1" noChangeArrowheads="1"/>
          </p:cNvSpPr>
          <p:nvPr>
            <p:ph type="dt" sz="half" idx="10"/>
          </p:nvPr>
        </p:nvSpPr>
        <p:spPr>
          <a:ln/>
        </p:spPr>
        <p:txBody>
          <a:bodyPr/>
          <a:lstStyle>
            <a:lvl1pPr>
              <a:defRPr/>
            </a:lvl1pPr>
          </a:lstStyle>
          <a:p>
            <a:pPr>
              <a:defRPr/>
            </a:pPr>
            <a:fld id="{38833662-1845-4EAC-940A-01CFB15AB42D}" type="datetime1">
              <a:rPr lang="fr-FR"/>
              <a:pPr>
                <a:defRPr/>
              </a:pPr>
              <a:t>14/04/2020</a:t>
            </a:fld>
            <a:endParaRPr lang="fr-FR"/>
          </a:p>
        </p:txBody>
      </p:sp>
      <p:sp>
        <p:nvSpPr>
          <p:cNvPr id="5" name="Rectangle 5"/>
          <p:cNvSpPr>
            <a:spLocks noGrp="1" noChangeArrowheads="1"/>
          </p:cNvSpPr>
          <p:nvPr>
            <p:ph type="ftr" sz="quarter" idx="11"/>
          </p:nvPr>
        </p:nvSpPr>
        <p:spPr>
          <a:ln/>
        </p:spPr>
        <p:txBody>
          <a:bodyPr/>
          <a:lstStyle>
            <a:lvl1pPr>
              <a:defRPr/>
            </a:lvl1pPr>
          </a:lstStyle>
          <a:p>
            <a:pPr>
              <a:defRPr/>
            </a:pPr>
            <a:r>
              <a:rPr lang="fr-FR"/>
              <a:t>Pr Ahmed Fathi </a:t>
            </a:r>
          </a:p>
        </p:txBody>
      </p:sp>
      <p:sp>
        <p:nvSpPr>
          <p:cNvPr id="6" name="Rectangle 6"/>
          <p:cNvSpPr>
            <a:spLocks noGrp="1" noChangeArrowheads="1"/>
          </p:cNvSpPr>
          <p:nvPr>
            <p:ph type="sldNum" sz="quarter" idx="12"/>
          </p:nvPr>
        </p:nvSpPr>
        <p:spPr>
          <a:ln/>
        </p:spPr>
        <p:txBody>
          <a:bodyPr/>
          <a:lstStyle>
            <a:lvl1pPr>
              <a:defRPr/>
            </a:lvl1pPr>
          </a:lstStyle>
          <a:p>
            <a:pPr>
              <a:defRPr/>
            </a:pPr>
            <a:fld id="{D5119221-9552-43D4-8BBD-D2FEC9777CCB}" type="slidenum">
              <a:rPr lang="fr-FR"/>
              <a:pPr>
                <a:defRPr/>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707188" y="228600"/>
            <a:ext cx="2135187" cy="5870575"/>
          </a:xfrm>
        </p:spPr>
        <p:txBody>
          <a:bodyPr vert="eaVert"/>
          <a:lstStyle/>
          <a:p>
            <a:r>
              <a:rPr lang="fr-FR" smtClean="0"/>
              <a:t>Cliquez pour modifier le style du titre</a:t>
            </a:r>
            <a:endParaRPr lang="fr-FR"/>
          </a:p>
        </p:txBody>
      </p:sp>
      <p:sp>
        <p:nvSpPr>
          <p:cNvPr id="3" name="Espace réservé du texte vertical 2"/>
          <p:cNvSpPr>
            <a:spLocks noGrp="1"/>
          </p:cNvSpPr>
          <p:nvPr>
            <p:ph type="body" orient="vert" idx="1"/>
          </p:nvPr>
        </p:nvSpPr>
        <p:spPr>
          <a:xfrm>
            <a:off x="301625" y="228600"/>
            <a:ext cx="6253163" cy="587057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4"/>
          <p:cNvSpPr>
            <a:spLocks noGrp="1" noChangeArrowheads="1"/>
          </p:cNvSpPr>
          <p:nvPr>
            <p:ph type="dt" sz="half" idx="10"/>
          </p:nvPr>
        </p:nvSpPr>
        <p:spPr>
          <a:ln/>
        </p:spPr>
        <p:txBody>
          <a:bodyPr/>
          <a:lstStyle>
            <a:lvl1pPr>
              <a:defRPr/>
            </a:lvl1pPr>
          </a:lstStyle>
          <a:p>
            <a:pPr>
              <a:defRPr/>
            </a:pPr>
            <a:fld id="{DAC0FDE1-75E0-471F-BD3D-4AF53791E7EF}" type="datetime1">
              <a:rPr lang="fr-FR"/>
              <a:pPr>
                <a:defRPr/>
              </a:pPr>
              <a:t>14/04/2020</a:t>
            </a:fld>
            <a:endParaRPr lang="fr-FR"/>
          </a:p>
        </p:txBody>
      </p:sp>
      <p:sp>
        <p:nvSpPr>
          <p:cNvPr id="5" name="Rectangle 5"/>
          <p:cNvSpPr>
            <a:spLocks noGrp="1" noChangeArrowheads="1"/>
          </p:cNvSpPr>
          <p:nvPr>
            <p:ph type="ftr" sz="quarter" idx="11"/>
          </p:nvPr>
        </p:nvSpPr>
        <p:spPr>
          <a:ln/>
        </p:spPr>
        <p:txBody>
          <a:bodyPr/>
          <a:lstStyle>
            <a:lvl1pPr>
              <a:defRPr/>
            </a:lvl1pPr>
          </a:lstStyle>
          <a:p>
            <a:pPr>
              <a:defRPr/>
            </a:pPr>
            <a:r>
              <a:rPr lang="fr-FR"/>
              <a:t>Pr Ahmed Fathi </a:t>
            </a:r>
          </a:p>
        </p:txBody>
      </p:sp>
      <p:sp>
        <p:nvSpPr>
          <p:cNvPr id="6" name="Rectangle 6"/>
          <p:cNvSpPr>
            <a:spLocks noGrp="1" noChangeArrowheads="1"/>
          </p:cNvSpPr>
          <p:nvPr>
            <p:ph type="sldNum" sz="quarter" idx="12"/>
          </p:nvPr>
        </p:nvSpPr>
        <p:spPr>
          <a:ln/>
        </p:spPr>
        <p:txBody>
          <a:bodyPr/>
          <a:lstStyle>
            <a:lvl1pPr>
              <a:defRPr/>
            </a:lvl1pPr>
          </a:lstStyle>
          <a:p>
            <a:pPr>
              <a:defRPr/>
            </a:pPr>
            <a:fld id="{1FB3982A-E341-40FF-93EF-4901D70AB3BB}" type="slidenum">
              <a:rPr lang="fr-FR"/>
              <a:pPr>
                <a:defRPr/>
              </a:pPr>
              <a:t>‹N°›</a:t>
            </a:fld>
            <a:endParaRPr lang="fr-F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re. Texte et 2 contenus">
    <p:spTree>
      <p:nvGrpSpPr>
        <p:cNvPr id="1" name=""/>
        <p:cNvGrpSpPr/>
        <p:nvPr/>
      </p:nvGrpSpPr>
      <p:grpSpPr>
        <a:xfrm>
          <a:off x="0" y="0"/>
          <a:ext cx="0" cy="0"/>
          <a:chOff x="0" y="0"/>
          <a:chExt cx="0" cy="0"/>
        </a:xfrm>
      </p:grpSpPr>
      <p:sp>
        <p:nvSpPr>
          <p:cNvPr id="2" name="Titre 1"/>
          <p:cNvSpPr>
            <a:spLocks noGrp="1"/>
          </p:cNvSpPr>
          <p:nvPr>
            <p:ph type="title"/>
          </p:nvPr>
        </p:nvSpPr>
        <p:spPr>
          <a:xfrm>
            <a:off x="301625" y="228600"/>
            <a:ext cx="8510588" cy="1325563"/>
          </a:xfrm>
        </p:spPr>
        <p:txBody>
          <a:bodyPr/>
          <a:lstStyle/>
          <a:p>
            <a:r>
              <a:rPr lang="fr-FR" smtClean="0"/>
              <a:t>Cliquez pour modifier le style du titre</a:t>
            </a:r>
            <a:endParaRPr lang="fr-FR"/>
          </a:p>
        </p:txBody>
      </p:sp>
      <p:sp>
        <p:nvSpPr>
          <p:cNvPr id="3" name="Espace réservé du texte 2"/>
          <p:cNvSpPr>
            <a:spLocks noGrp="1"/>
          </p:cNvSpPr>
          <p:nvPr>
            <p:ph type="body" sz="half" idx="1"/>
          </p:nvPr>
        </p:nvSpPr>
        <p:spPr>
          <a:xfrm>
            <a:off x="301625" y="1676400"/>
            <a:ext cx="4194175" cy="4422775"/>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quarter" idx="2"/>
          </p:nvPr>
        </p:nvSpPr>
        <p:spPr>
          <a:xfrm>
            <a:off x="4648200" y="1676400"/>
            <a:ext cx="4194175" cy="2135188"/>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contenu 4"/>
          <p:cNvSpPr>
            <a:spLocks noGrp="1"/>
          </p:cNvSpPr>
          <p:nvPr>
            <p:ph sz="quarter" idx="3"/>
          </p:nvPr>
        </p:nvSpPr>
        <p:spPr>
          <a:xfrm>
            <a:off x="4648200" y="3963988"/>
            <a:ext cx="4194175" cy="2135187"/>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Rectangle 4"/>
          <p:cNvSpPr>
            <a:spLocks noGrp="1" noChangeArrowheads="1"/>
          </p:cNvSpPr>
          <p:nvPr>
            <p:ph type="dt" sz="half" idx="10"/>
          </p:nvPr>
        </p:nvSpPr>
        <p:spPr>
          <a:ln/>
        </p:spPr>
        <p:txBody>
          <a:bodyPr/>
          <a:lstStyle>
            <a:lvl1pPr>
              <a:defRPr/>
            </a:lvl1pPr>
          </a:lstStyle>
          <a:p>
            <a:pPr>
              <a:defRPr/>
            </a:pPr>
            <a:fld id="{6B1C9396-1B46-408C-BF2A-AA503103BCF6}" type="datetime1">
              <a:rPr lang="fr-FR"/>
              <a:pPr>
                <a:defRPr/>
              </a:pPr>
              <a:t>14/04/2020</a:t>
            </a:fld>
            <a:endParaRPr lang="fr-FR"/>
          </a:p>
        </p:txBody>
      </p:sp>
      <p:sp>
        <p:nvSpPr>
          <p:cNvPr id="7" name="Rectangle 5"/>
          <p:cNvSpPr>
            <a:spLocks noGrp="1" noChangeArrowheads="1"/>
          </p:cNvSpPr>
          <p:nvPr>
            <p:ph type="ftr" sz="quarter" idx="11"/>
          </p:nvPr>
        </p:nvSpPr>
        <p:spPr>
          <a:ln/>
        </p:spPr>
        <p:txBody>
          <a:bodyPr/>
          <a:lstStyle>
            <a:lvl1pPr>
              <a:defRPr/>
            </a:lvl1pPr>
          </a:lstStyle>
          <a:p>
            <a:pPr>
              <a:defRPr/>
            </a:pPr>
            <a:r>
              <a:rPr lang="fr-FR"/>
              <a:t>Pr Ahmed Fathi </a:t>
            </a:r>
          </a:p>
        </p:txBody>
      </p:sp>
      <p:sp>
        <p:nvSpPr>
          <p:cNvPr id="8" name="Rectangle 6"/>
          <p:cNvSpPr>
            <a:spLocks noGrp="1" noChangeArrowheads="1"/>
          </p:cNvSpPr>
          <p:nvPr>
            <p:ph type="sldNum" sz="quarter" idx="12"/>
          </p:nvPr>
        </p:nvSpPr>
        <p:spPr>
          <a:ln/>
        </p:spPr>
        <p:txBody>
          <a:bodyPr/>
          <a:lstStyle>
            <a:lvl1pPr>
              <a:defRPr/>
            </a:lvl1pPr>
          </a:lstStyle>
          <a:p>
            <a:pPr>
              <a:defRPr/>
            </a:pPr>
            <a:fld id="{E42F14D3-08FC-4A7D-B0E8-400C93FE02D1}" type="slidenum">
              <a:rPr lang="fr-FR"/>
              <a:pPr>
                <a:defRPr/>
              </a:pPr>
              <a:t>‹N°›</a:t>
            </a:fld>
            <a:endParaRPr lang="fr-F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Titre et 4 contenus">
    <p:spTree>
      <p:nvGrpSpPr>
        <p:cNvPr id="1" name=""/>
        <p:cNvGrpSpPr/>
        <p:nvPr/>
      </p:nvGrpSpPr>
      <p:grpSpPr>
        <a:xfrm>
          <a:off x="0" y="0"/>
          <a:ext cx="0" cy="0"/>
          <a:chOff x="0" y="0"/>
          <a:chExt cx="0" cy="0"/>
        </a:xfrm>
      </p:grpSpPr>
      <p:sp>
        <p:nvSpPr>
          <p:cNvPr id="2" name="Titre 1"/>
          <p:cNvSpPr>
            <a:spLocks noGrp="1"/>
          </p:cNvSpPr>
          <p:nvPr>
            <p:ph type="title" sz="quarter"/>
          </p:nvPr>
        </p:nvSpPr>
        <p:spPr>
          <a:xfrm>
            <a:off x="301625" y="228600"/>
            <a:ext cx="8510588" cy="1325563"/>
          </a:xfrm>
        </p:spPr>
        <p:txBody>
          <a:bodyPr/>
          <a:lstStyle/>
          <a:p>
            <a:r>
              <a:rPr lang="fr-FR" smtClean="0"/>
              <a:t>Cliquez pour modifier le style du titre</a:t>
            </a:r>
            <a:endParaRPr lang="fr-FR"/>
          </a:p>
        </p:txBody>
      </p:sp>
      <p:sp>
        <p:nvSpPr>
          <p:cNvPr id="3" name="Espace réservé du contenu 2"/>
          <p:cNvSpPr>
            <a:spLocks noGrp="1"/>
          </p:cNvSpPr>
          <p:nvPr>
            <p:ph sz="quarter" idx="1"/>
          </p:nvPr>
        </p:nvSpPr>
        <p:spPr>
          <a:xfrm>
            <a:off x="301625" y="1676400"/>
            <a:ext cx="4194175" cy="2135188"/>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quarter" idx="2"/>
          </p:nvPr>
        </p:nvSpPr>
        <p:spPr>
          <a:xfrm>
            <a:off x="4648200" y="1676400"/>
            <a:ext cx="4194175" cy="2135188"/>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contenu 4"/>
          <p:cNvSpPr>
            <a:spLocks noGrp="1"/>
          </p:cNvSpPr>
          <p:nvPr>
            <p:ph sz="quarter" idx="3"/>
          </p:nvPr>
        </p:nvSpPr>
        <p:spPr>
          <a:xfrm>
            <a:off x="301625" y="3963988"/>
            <a:ext cx="4194175" cy="2135187"/>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contenu 5"/>
          <p:cNvSpPr>
            <a:spLocks noGrp="1"/>
          </p:cNvSpPr>
          <p:nvPr>
            <p:ph sz="quarter" idx="4"/>
          </p:nvPr>
        </p:nvSpPr>
        <p:spPr>
          <a:xfrm>
            <a:off x="4648200" y="3963988"/>
            <a:ext cx="4194175" cy="2135187"/>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Rectangle 4"/>
          <p:cNvSpPr>
            <a:spLocks noGrp="1" noChangeArrowheads="1"/>
          </p:cNvSpPr>
          <p:nvPr>
            <p:ph type="dt" sz="half" idx="10"/>
          </p:nvPr>
        </p:nvSpPr>
        <p:spPr>
          <a:ln/>
        </p:spPr>
        <p:txBody>
          <a:bodyPr/>
          <a:lstStyle>
            <a:lvl1pPr>
              <a:defRPr/>
            </a:lvl1pPr>
          </a:lstStyle>
          <a:p>
            <a:pPr>
              <a:defRPr/>
            </a:pPr>
            <a:fld id="{3A30E4A4-DA08-424E-B64D-550F95DBBD53}" type="datetime1">
              <a:rPr lang="fr-FR"/>
              <a:pPr>
                <a:defRPr/>
              </a:pPr>
              <a:t>14/04/2020</a:t>
            </a:fld>
            <a:endParaRPr lang="fr-FR"/>
          </a:p>
        </p:txBody>
      </p:sp>
      <p:sp>
        <p:nvSpPr>
          <p:cNvPr id="8" name="Rectangle 5"/>
          <p:cNvSpPr>
            <a:spLocks noGrp="1" noChangeArrowheads="1"/>
          </p:cNvSpPr>
          <p:nvPr>
            <p:ph type="ftr" sz="quarter" idx="11"/>
          </p:nvPr>
        </p:nvSpPr>
        <p:spPr>
          <a:ln/>
        </p:spPr>
        <p:txBody>
          <a:bodyPr/>
          <a:lstStyle>
            <a:lvl1pPr>
              <a:defRPr/>
            </a:lvl1pPr>
          </a:lstStyle>
          <a:p>
            <a:pPr>
              <a:defRPr/>
            </a:pPr>
            <a:r>
              <a:rPr lang="fr-FR"/>
              <a:t>Pr Ahmed Fathi </a:t>
            </a:r>
          </a:p>
        </p:txBody>
      </p:sp>
      <p:sp>
        <p:nvSpPr>
          <p:cNvPr id="9" name="Rectangle 6"/>
          <p:cNvSpPr>
            <a:spLocks noGrp="1" noChangeArrowheads="1"/>
          </p:cNvSpPr>
          <p:nvPr>
            <p:ph type="sldNum" sz="quarter" idx="12"/>
          </p:nvPr>
        </p:nvSpPr>
        <p:spPr>
          <a:ln/>
        </p:spPr>
        <p:txBody>
          <a:bodyPr/>
          <a:lstStyle>
            <a:lvl1pPr>
              <a:defRPr/>
            </a:lvl1pPr>
          </a:lstStyle>
          <a:p>
            <a:pPr>
              <a:defRPr/>
            </a:pPr>
            <a:fld id="{1F889229-CA1D-4AC2-A5A9-7C3C1F4713BA}" type="slidenum">
              <a:rPr lang="fr-FR"/>
              <a:pPr>
                <a:defRPr/>
              </a:pPr>
              <a:t>‹N°›</a:t>
            </a:fld>
            <a:endParaRPr lang="fr-F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Titre. Text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301625" y="228600"/>
            <a:ext cx="8510588" cy="1325563"/>
          </a:xfrm>
        </p:spPr>
        <p:txBody>
          <a:bodyPr/>
          <a:lstStyle/>
          <a:p>
            <a:r>
              <a:rPr lang="fr-FR" smtClean="0"/>
              <a:t>Cliquez pour modifier le style du titre</a:t>
            </a:r>
            <a:endParaRPr lang="fr-FR"/>
          </a:p>
        </p:txBody>
      </p:sp>
      <p:sp>
        <p:nvSpPr>
          <p:cNvPr id="3" name="Espace réservé du texte 2"/>
          <p:cNvSpPr>
            <a:spLocks noGrp="1"/>
          </p:cNvSpPr>
          <p:nvPr>
            <p:ph type="body" sz="half" idx="1"/>
          </p:nvPr>
        </p:nvSpPr>
        <p:spPr>
          <a:xfrm>
            <a:off x="301625" y="1676400"/>
            <a:ext cx="4194175" cy="4422775"/>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76400"/>
            <a:ext cx="4194175" cy="4422775"/>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Rectangle 4"/>
          <p:cNvSpPr>
            <a:spLocks noGrp="1" noChangeArrowheads="1"/>
          </p:cNvSpPr>
          <p:nvPr>
            <p:ph type="dt" sz="half" idx="10"/>
          </p:nvPr>
        </p:nvSpPr>
        <p:spPr>
          <a:ln/>
        </p:spPr>
        <p:txBody>
          <a:bodyPr/>
          <a:lstStyle>
            <a:lvl1pPr>
              <a:defRPr/>
            </a:lvl1pPr>
          </a:lstStyle>
          <a:p>
            <a:pPr>
              <a:defRPr/>
            </a:pPr>
            <a:fld id="{ED13D215-4841-4F43-8E29-ADBAA9354E42}" type="datetime1">
              <a:rPr lang="fr-FR"/>
              <a:pPr>
                <a:defRPr/>
              </a:pPr>
              <a:t>14/04/2020</a:t>
            </a:fld>
            <a:endParaRPr lang="fr-FR"/>
          </a:p>
        </p:txBody>
      </p:sp>
      <p:sp>
        <p:nvSpPr>
          <p:cNvPr id="6" name="Rectangle 5"/>
          <p:cNvSpPr>
            <a:spLocks noGrp="1" noChangeArrowheads="1"/>
          </p:cNvSpPr>
          <p:nvPr>
            <p:ph type="ftr" sz="quarter" idx="11"/>
          </p:nvPr>
        </p:nvSpPr>
        <p:spPr>
          <a:ln/>
        </p:spPr>
        <p:txBody>
          <a:bodyPr/>
          <a:lstStyle>
            <a:lvl1pPr>
              <a:defRPr/>
            </a:lvl1pPr>
          </a:lstStyle>
          <a:p>
            <a:pPr>
              <a:defRPr/>
            </a:pPr>
            <a:r>
              <a:rPr lang="fr-FR"/>
              <a:t>Pr Ahmed Fathi </a:t>
            </a:r>
          </a:p>
        </p:txBody>
      </p:sp>
      <p:sp>
        <p:nvSpPr>
          <p:cNvPr id="7" name="Rectangle 6"/>
          <p:cNvSpPr>
            <a:spLocks noGrp="1" noChangeArrowheads="1"/>
          </p:cNvSpPr>
          <p:nvPr>
            <p:ph type="sldNum" sz="quarter" idx="12"/>
          </p:nvPr>
        </p:nvSpPr>
        <p:spPr>
          <a:ln/>
        </p:spPr>
        <p:txBody>
          <a:bodyPr/>
          <a:lstStyle>
            <a:lvl1pPr>
              <a:defRPr/>
            </a:lvl1pPr>
          </a:lstStyle>
          <a:p>
            <a:pPr>
              <a:defRPr/>
            </a:pPr>
            <a:fld id="{CA24A7CB-971F-46F5-A35A-7647B2D37D97}" type="slidenum">
              <a:rPr lang="fr-FR"/>
              <a:pPr>
                <a:defRPr/>
              </a:pPr>
              <a:t>‹N°›</a:t>
            </a:fld>
            <a:endParaRPr lang="fr-F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cSld name="Titre. Contenu et 2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quarter" idx="2"/>
          </p:nvPr>
        </p:nvSpPr>
        <p:spPr>
          <a:xfrm>
            <a:off x="4648200" y="1600200"/>
            <a:ext cx="4038600" cy="2185988"/>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contenu 4"/>
          <p:cNvSpPr>
            <a:spLocks noGrp="1"/>
          </p:cNvSpPr>
          <p:nvPr>
            <p:ph sz="quarter" idx="3"/>
          </p:nvPr>
        </p:nvSpPr>
        <p:spPr>
          <a:xfrm>
            <a:off x="4648200" y="3938588"/>
            <a:ext cx="4038600" cy="2187575"/>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Rectangle 4"/>
          <p:cNvSpPr>
            <a:spLocks noGrp="1" noChangeArrowheads="1"/>
          </p:cNvSpPr>
          <p:nvPr>
            <p:ph type="dt" sz="half" idx="10"/>
          </p:nvPr>
        </p:nvSpPr>
        <p:spPr/>
        <p:txBody>
          <a:bodyPr/>
          <a:lstStyle>
            <a:lvl1pPr>
              <a:defRPr/>
            </a:lvl1pPr>
          </a:lstStyle>
          <a:p>
            <a:pPr>
              <a:defRPr/>
            </a:pPr>
            <a:endParaRPr lang="fr-FR"/>
          </a:p>
        </p:txBody>
      </p:sp>
      <p:sp>
        <p:nvSpPr>
          <p:cNvPr id="7" name="Rectangle 5"/>
          <p:cNvSpPr>
            <a:spLocks noGrp="1" noChangeArrowheads="1"/>
          </p:cNvSpPr>
          <p:nvPr>
            <p:ph type="ftr" sz="quarter" idx="11"/>
          </p:nvPr>
        </p:nvSpPr>
        <p:spPr/>
        <p:txBody>
          <a:bodyPr/>
          <a:lstStyle>
            <a:lvl1pPr>
              <a:defRPr/>
            </a:lvl1pPr>
          </a:lstStyle>
          <a:p>
            <a:pPr>
              <a:defRPr/>
            </a:pPr>
            <a:endParaRPr lang="fr-FR"/>
          </a:p>
        </p:txBody>
      </p:sp>
      <p:sp>
        <p:nvSpPr>
          <p:cNvPr id="8" name="Rectangle 6"/>
          <p:cNvSpPr>
            <a:spLocks noGrp="1" noChangeArrowheads="1"/>
          </p:cNvSpPr>
          <p:nvPr>
            <p:ph type="sldNum" sz="quarter" idx="12"/>
          </p:nvPr>
        </p:nvSpPr>
        <p:spPr/>
        <p:txBody>
          <a:bodyPr/>
          <a:lstStyle>
            <a:lvl1pPr>
              <a:defRPr/>
            </a:lvl1pPr>
          </a:lstStyle>
          <a:p>
            <a:pPr>
              <a:defRPr/>
            </a:pPr>
            <a:fld id="{DA3ABCC4-3E3C-4E06-8FD9-5B05F4FB4117}" type="slidenum">
              <a:rPr lang="fr-FR"/>
              <a:pPr>
                <a:defRPr/>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7">
            <a:duotone>
              <a:schemeClr val="bg1"/>
              <a:srgbClr val="FFFFFF"/>
            </a:duotone>
          </a:blip>
          <a:srcRect/>
          <a:stretch>
            <a:fillRect/>
          </a:stretch>
        </a:blipFill>
        <a:effectLst/>
      </p:bgPr>
    </p:bg>
    <p:spTree>
      <p:nvGrpSpPr>
        <p:cNvPr id="1" name=""/>
        <p:cNvGrpSpPr/>
        <p:nvPr/>
      </p:nvGrpSpPr>
      <p:grpSpPr>
        <a:xfrm>
          <a:off x="0" y="0"/>
          <a:ext cx="0" cy="0"/>
          <a:chOff x="0" y="0"/>
          <a:chExt cx="0" cy="0"/>
        </a:xfrm>
      </p:grpSpPr>
      <p:sp>
        <p:nvSpPr>
          <p:cNvPr id="311298" name="Rectangle 2"/>
          <p:cNvSpPr>
            <a:spLocks noGrp="1" noRot="1" noChangeArrowheads="1"/>
          </p:cNvSpPr>
          <p:nvPr>
            <p:ph type="title"/>
          </p:nvPr>
        </p:nvSpPr>
        <p:spPr bwMode="auto">
          <a:xfrm>
            <a:off x="301625" y="228600"/>
            <a:ext cx="8510588" cy="13255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fr-FR" smtClean="0"/>
              <a:t>Cliquez pour modifier le style du titre</a:t>
            </a:r>
          </a:p>
        </p:txBody>
      </p:sp>
      <p:sp>
        <p:nvSpPr>
          <p:cNvPr id="311299" name="Rectangle 3"/>
          <p:cNvSpPr>
            <a:spLocks noGrp="1" noRot="1" noChangeArrowheads="1"/>
          </p:cNvSpPr>
          <p:nvPr>
            <p:ph type="body" idx="1"/>
          </p:nvPr>
        </p:nvSpPr>
        <p:spPr bwMode="auto">
          <a:xfrm>
            <a:off x="301625" y="1676400"/>
            <a:ext cx="8540750" cy="4422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p>
        </p:txBody>
      </p:sp>
      <p:sp>
        <p:nvSpPr>
          <p:cNvPr id="311300" name="Rectangle 4"/>
          <p:cNvSpPr>
            <a:spLocks noGrp="1" noChangeArrowheads="1"/>
          </p:cNvSpPr>
          <p:nvPr>
            <p:ph type="dt" sz="half" idx="2"/>
          </p:nvPr>
        </p:nvSpPr>
        <p:spPr bwMode="auto">
          <a:xfrm>
            <a:off x="3048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effectLst>
                  <a:outerShdw blurRad="38100" dist="38100" dir="2700000" algn="tl">
                    <a:srgbClr val="000000"/>
                  </a:outerShdw>
                </a:effectLst>
                <a:latin typeface="Arial" charset="0"/>
                <a:cs typeface="Arial" charset="0"/>
              </a:defRPr>
            </a:lvl1pPr>
          </a:lstStyle>
          <a:p>
            <a:pPr>
              <a:defRPr/>
            </a:pPr>
            <a:fld id="{E8E3D395-22C9-4AC3-8F81-B838D9CC4332}" type="datetime1">
              <a:rPr lang="fr-FR"/>
              <a:pPr>
                <a:defRPr/>
              </a:pPr>
              <a:t>14/04/2020</a:t>
            </a:fld>
            <a:endParaRPr lang="fr-FR"/>
          </a:p>
        </p:txBody>
      </p:sp>
      <p:sp>
        <p:nvSpPr>
          <p:cNvPr id="311301"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effectLst>
                  <a:outerShdw blurRad="38100" dist="38100" dir="2700000" algn="tl">
                    <a:srgbClr val="000000"/>
                  </a:outerShdw>
                </a:effectLst>
                <a:latin typeface="Arial" charset="0"/>
                <a:cs typeface="Arial" charset="0"/>
              </a:defRPr>
            </a:lvl1pPr>
          </a:lstStyle>
          <a:p>
            <a:pPr>
              <a:defRPr/>
            </a:pPr>
            <a:r>
              <a:rPr lang="fr-FR"/>
              <a:t>Pr Ahmed Fathi </a:t>
            </a:r>
          </a:p>
        </p:txBody>
      </p:sp>
      <p:sp>
        <p:nvSpPr>
          <p:cNvPr id="311302" name="Rectangle 6"/>
          <p:cNvSpPr>
            <a:spLocks noGrp="1" noChangeArrowheads="1"/>
          </p:cNvSpPr>
          <p:nvPr>
            <p:ph type="sldNum" sz="quarter" idx="4"/>
          </p:nvPr>
        </p:nvSpPr>
        <p:spPr bwMode="auto">
          <a:xfrm>
            <a:off x="65532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effectLst>
                  <a:outerShdw blurRad="38100" dist="38100" dir="2700000" algn="tl">
                    <a:srgbClr val="000000"/>
                  </a:outerShdw>
                </a:effectLst>
                <a:latin typeface="Arial" charset="0"/>
                <a:cs typeface="Arial" charset="0"/>
              </a:defRPr>
            </a:lvl1pPr>
          </a:lstStyle>
          <a:p>
            <a:pPr>
              <a:defRPr/>
            </a:pPr>
            <a:fld id="{749F1887-82AC-41D2-A04E-AE245D3BEF78}" type="slidenum">
              <a:rPr lang="fr-FR"/>
              <a:pPr>
                <a:defRPr/>
              </a:pPr>
              <a:t>‹N°›</a:t>
            </a:fld>
            <a:endParaRPr lang="fr-FR"/>
          </a:p>
        </p:txBody>
      </p:sp>
    </p:spTree>
  </p:cSld>
  <p:clrMap bg1="dk2" tx1="lt1" bg2="dk1" tx2="lt2" accent1="accent1" accent2="accent2" accent3="accent3" accent4="accent4" accent5="accent5" accent6="accent6" hlink="hlink" folHlink="folHlink"/>
  <p:sldLayoutIdLst>
    <p:sldLayoutId id="2147484601" r:id="rId1"/>
    <p:sldLayoutId id="2147484602" r:id="rId2"/>
    <p:sldLayoutId id="2147484603" r:id="rId3"/>
    <p:sldLayoutId id="2147484604" r:id="rId4"/>
    <p:sldLayoutId id="2147484605" r:id="rId5"/>
    <p:sldLayoutId id="2147484606" r:id="rId6"/>
    <p:sldLayoutId id="2147484607" r:id="rId7"/>
    <p:sldLayoutId id="2147484608" r:id="rId8"/>
    <p:sldLayoutId id="2147484609" r:id="rId9"/>
    <p:sldLayoutId id="2147484610" r:id="rId10"/>
    <p:sldLayoutId id="2147484611" r:id="rId11"/>
    <p:sldLayoutId id="2147484612" r:id="rId12"/>
    <p:sldLayoutId id="2147484613" r:id="rId13"/>
    <p:sldLayoutId id="2147484614" r:id="rId14"/>
    <p:sldLayoutId id="2147484615" r:id="rId15"/>
  </p:sldLayoutIdLst>
  <p:hf sldNum="0" hdr="0" dt="0"/>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cs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cs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cs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cs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cs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cs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cs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cs typeface="Arial" charset="0"/>
        </a:defRPr>
      </a:lvl9pPr>
    </p:titleStyle>
    <p:bodyStyle>
      <a:lvl1pPr marL="342900" indent="-342900" algn="l" rtl="0" eaLnBrk="0" fontAlgn="base" hangingPunct="0">
        <a:spcBef>
          <a:spcPct val="20000"/>
        </a:spcBef>
        <a:spcAft>
          <a:spcPct val="0"/>
        </a:spcAft>
        <a:buClr>
          <a:schemeClr val="hlink"/>
        </a:buClr>
        <a:buFont typeface="Wingdings" pitchFamily="2" charset="2"/>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outerShdw blurRad="38100" dist="38100" dir="2700000" algn="tl">
              <a:srgbClr val="000000"/>
            </a:outerShdw>
          </a:effectLst>
          <a:latin typeface="+mn-lt"/>
          <a:cs typeface="+mn-cs"/>
        </a:defRPr>
      </a:lvl2pPr>
      <a:lvl3pPr marL="1143000" indent="-228600" algn="l" rtl="0" eaLnBrk="0" fontAlgn="base" hangingPunct="0">
        <a:spcBef>
          <a:spcPct val="20000"/>
        </a:spcBef>
        <a:spcAft>
          <a:spcPct val="0"/>
        </a:spcAft>
        <a:buClr>
          <a:schemeClr val="hlink"/>
        </a:buClr>
        <a:buFont typeface="Wingdings" pitchFamily="2" charset="2"/>
        <a:buChar char="§"/>
        <a:defRPr sz="2400">
          <a:solidFill>
            <a:schemeClr val="tx1"/>
          </a:solidFill>
          <a:effectLst>
            <a:outerShdw blurRad="38100" dist="38100" dir="2700000" algn="tl">
              <a:srgbClr val="000000"/>
            </a:outerShdw>
          </a:effectLst>
          <a:latin typeface="+mn-lt"/>
          <a:cs typeface="+mn-cs"/>
        </a:defRPr>
      </a:lvl3pPr>
      <a:lvl4pPr marL="16002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cs typeface="+mn-cs"/>
        </a:defRPr>
      </a:lvl4pPr>
      <a:lvl5pPr marL="2057400" indent="-228600" algn="l" rtl="0" eaLnBrk="0" fontAlgn="base" hangingPunct="0">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cs typeface="+mn-cs"/>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cs typeface="+mn-cs"/>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cs typeface="+mn-cs"/>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cs typeface="+mn-cs"/>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5.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oleObject" Target="../embeddings/oleObject3.bin"/><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4.xml"/><Relationship Id="rId1" Type="http://schemas.openxmlformats.org/officeDocument/2006/relationships/vmlDrawing" Target="../drawings/vmlDrawing3.vml"/><Relationship Id="rId4" Type="http://schemas.openxmlformats.org/officeDocument/2006/relationships/oleObject" Target="../embeddings/oleObject6.bin"/></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5.xml"/><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fr.wikipedia.org/wiki/Image:Spectre.svg"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9" name="Rectangle 3"/>
          <p:cNvSpPr>
            <a:spLocks noGrp="1" noRot="1" noChangeArrowheads="1"/>
          </p:cNvSpPr>
          <p:nvPr>
            <p:ph type="body" idx="1"/>
          </p:nvPr>
        </p:nvSpPr>
        <p:spPr>
          <a:xfrm>
            <a:off x="0" y="0"/>
            <a:ext cx="9144000" cy="6858000"/>
          </a:xfrm>
        </p:spPr>
        <p:txBody>
          <a:bodyPr/>
          <a:lstStyle/>
          <a:p>
            <a:pPr eaLnBrk="1" hangingPunct="1">
              <a:lnSpc>
                <a:spcPct val="80000"/>
              </a:lnSpc>
              <a:buFont typeface="Wingdings" pitchFamily="2" charset="2"/>
              <a:buNone/>
              <a:defRPr/>
            </a:pPr>
            <a:r>
              <a:rPr lang="fr-FR" sz="1800" b="1" dirty="0" smtClean="0">
                <a:solidFill>
                  <a:srgbClr val="3399FF"/>
                </a:solidFill>
              </a:rPr>
              <a:t>     </a:t>
            </a:r>
          </a:p>
          <a:p>
            <a:pPr eaLnBrk="1" hangingPunct="1">
              <a:lnSpc>
                <a:spcPct val="80000"/>
              </a:lnSpc>
              <a:buFont typeface="Wingdings" pitchFamily="2" charset="2"/>
              <a:buNone/>
              <a:defRPr/>
            </a:pPr>
            <a:endParaRPr lang="fr-FR" sz="1800" b="1" dirty="0" smtClean="0">
              <a:solidFill>
                <a:srgbClr val="3399FF"/>
              </a:solidFill>
            </a:endParaRPr>
          </a:p>
          <a:p>
            <a:pPr algn="ctr" eaLnBrk="1" hangingPunct="1">
              <a:lnSpc>
                <a:spcPct val="80000"/>
              </a:lnSpc>
              <a:buFont typeface="Wingdings" pitchFamily="2" charset="2"/>
              <a:buNone/>
              <a:defRPr/>
            </a:pPr>
            <a:endParaRPr lang="fr-FR" altLang="fr-FR" sz="2800" b="1" dirty="0" smtClean="0"/>
          </a:p>
          <a:p>
            <a:pPr algn="ctr" eaLnBrk="1" hangingPunct="1">
              <a:lnSpc>
                <a:spcPct val="80000"/>
              </a:lnSpc>
              <a:buFont typeface="Wingdings" pitchFamily="2" charset="2"/>
              <a:buNone/>
              <a:defRPr/>
            </a:pPr>
            <a:r>
              <a:rPr lang="fr-FR" altLang="fr-FR" sz="2800" b="1" dirty="0" smtClean="0"/>
              <a:t>MODULE DE : INTERACTION RAYONNEMENT-MATIERE ET LASER</a:t>
            </a:r>
          </a:p>
          <a:p>
            <a:pPr algn="ctr" eaLnBrk="1" hangingPunct="1">
              <a:lnSpc>
                <a:spcPct val="80000"/>
              </a:lnSpc>
              <a:buFont typeface="Wingdings" pitchFamily="2" charset="2"/>
              <a:buNone/>
              <a:defRPr/>
            </a:pPr>
            <a:endParaRPr lang="fr-FR" altLang="fr-FR" sz="2800" b="1" dirty="0" smtClean="0"/>
          </a:p>
          <a:p>
            <a:pPr algn="ctr" eaLnBrk="1" hangingPunct="1">
              <a:lnSpc>
                <a:spcPct val="80000"/>
              </a:lnSpc>
              <a:buFont typeface="Wingdings" pitchFamily="2" charset="2"/>
              <a:buNone/>
              <a:defRPr/>
            </a:pPr>
            <a:endParaRPr lang="fr-FR" altLang="fr-FR" sz="2800" b="1" dirty="0" smtClean="0"/>
          </a:p>
          <a:p>
            <a:pPr algn="ctr" eaLnBrk="1" hangingPunct="1">
              <a:lnSpc>
                <a:spcPct val="80000"/>
              </a:lnSpc>
              <a:buFont typeface="Wingdings" pitchFamily="2" charset="2"/>
              <a:buNone/>
              <a:defRPr/>
            </a:pPr>
            <a:endParaRPr lang="fr-FR" altLang="fr-FR" sz="2800" b="1" dirty="0" smtClean="0"/>
          </a:p>
          <a:p>
            <a:pPr algn="ctr" eaLnBrk="1" hangingPunct="1">
              <a:lnSpc>
                <a:spcPct val="80000"/>
              </a:lnSpc>
              <a:buFont typeface="Wingdings" pitchFamily="2" charset="2"/>
              <a:buNone/>
              <a:defRPr/>
            </a:pPr>
            <a:endParaRPr lang="fr-FR" altLang="fr-FR" sz="2800" b="1" dirty="0" smtClean="0"/>
          </a:p>
          <a:p>
            <a:pPr eaLnBrk="1" hangingPunct="1">
              <a:lnSpc>
                <a:spcPct val="80000"/>
              </a:lnSpc>
              <a:buFont typeface="Wingdings" pitchFamily="2" charset="2"/>
              <a:buNone/>
              <a:defRPr/>
            </a:pPr>
            <a:endParaRPr lang="fr-FR" sz="1800" b="1" dirty="0" smtClean="0">
              <a:solidFill>
                <a:srgbClr val="3399FF"/>
              </a:solidFill>
            </a:endParaRPr>
          </a:p>
          <a:p>
            <a:pPr algn="ctr" eaLnBrk="1" hangingPunct="1">
              <a:lnSpc>
                <a:spcPct val="80000"/>
              </a:lnSpc>
              <a:buFont typeface="Wingdings" pitchFamily="2" charset="2"/>
              <a:buNone/>
              <a:defRPr/>
            </a:pPr>
            <a:r>
              <a:rPr lang="fr-FR" sz="2800" b="1" dirty="0" smtClean="0"/>
              <a:t>Pr  AHMED FATHI</a:t>
            </a:r>
          </a:p>
          <a:p>
            <a:pPr algn="ctr" eaLnBrk="1" hangingPunct="1">
              <a:lnSpc>
                <a:spcPct val="80000"/>
              </a:lnSpc>
              <a:buFont typeface="Wingdings" pitchFamily="2" charset="2"/>
              <a:buNone/>
              <a:defRPr/>
            </a:pPr>
            <a:r>
              <a:rPr lang="fr-FR" sz="2800" b="1" dirty="0" smtClean="0"/>
              <a:t>FACULTE POLYDISCIPLINAIRE DE KOURIBGA</a:t>
            </a:r>
          </a:p>
          <a:p>
            <a:pPr algn="ctr" eaLnBrk="1" hangingPunct="1">
              <a:lnSpc>
                <a:spcPct val="80000"/>
              </a:lnSpc>
              <a:buFont typeface="Wingdings" pitchFamily="2" charset="2"/>
              <a:buNone/>
              <a:defRPr/>
            </a:pPr>
            <a:r>
              <a:rPr lang="fr-FR" sz="2800" b="1" dirty="0" smtClean="0"/>
              <a:t>UNIVERSITE SULTANE MY SLIMANE</a:t>
            </a:r>
          </a:p>
          <a:p>
            <a:pPr algn="ctr" eaLnBrk="1" hangingPunct="1">
              <a:lnSpc>
                <a:spcPct val="80000"/>
              </a:lnSpc>
              <a:buFont typeface="Wingdings" pitchFamily="2" charset="2"/>
              <a:buNone/>
              <a:defRPr/>
            </a:pPr>
            <a:endParaRPr lang="fr-FR" sz="2800" b="1" dirty="0" smtClean="0"/>
          </a:p>
          <a:p>
            <a:pPr algn="ctr" eaLnBrk="1" hangingPunct="1">
              <a:lnSpc>
                <a:spcPct val="80000"/>
              </a:lnSpc>
              <a:buFont typeface="Wingdings" pitchFamily="2" charset="2"/>
              <a:buNone/>
              <a:defRPr/>
            </a:pPr>
            <a:endParaRPr lang="fr-FR" sz="2800" b="1" dirty="0" smtClean="0"/>
          </a:p>
          <a:p>
            <a:pPr>
              <a:buFont typeface="Wingdings" pitchFamily="2" charset="2"/>
              <a:buNone/>
              <a:defRPr/>
            </a:pPr>
            <a:r>
              <a:rPr lang="fr-FR" sz="2800" b="1" cap="all" dirty="0" smtClean="0"/>
              <a:t>   </a:t>
            </a:r>
            <a:endParaRPr lang="fr-FR" sz="2800" dirty="0" smtClean="0"/>
          </a:p>
          <a:p>
            <a:pPr algn="ctr" eaLnBrk="1" hangingPunct="1">
              <a:lnSpc>
                <a:spcPct val="80000"/>
              </a:lnSpc>
              <a:buFont typeface="Wingdings" pitchFamily="2" charset="2"/>
              <a:buNone/>
              <a:defRPr/>
            </a:pPr>
            <a:endParaRPr lang="fr-FR" sz="2800" b="1" dirty="0" smtClean="0"/>
          </a:p>
          <a:p>
            <a:pPr algn="ctr" eaLnBrk="1" hangingPunct="1">
              <a:lnSpc>
                <a:spcPct val="80000"/>
              </a:lnSpc>
              <a:buFont typeface="Wingdings" pitchFamily="2" charset="2"/>
              <a:buNone/>
              <a:defRPr/>
            </a:pPr>
            <a:endParaRPr lang="fr-FR" sz="2800" b="1" dirty="0" smtClean="0"/>
          </a:p>
          <a:p>
            <a:pPr algn="ctr" eaLnBrk="1" hangingPunct="1">
              <a:lnSpc>
                <a:spcPct val="80000"/>
              </a:lnSpc>
              <a:buFont typeface="Wingdings" pitchFamily="2" charset="2"/>
              <a:buNone/>
              <a:defRPr/>
            </a:pPr>
            <a:endParaRPr lang="fr-FR" sz="2800" b="1" dirty="0" smtClean="0"/>
          </a:p>
        </p:txBody>
      </p:sp>
      <p:sp>
        <p:nvSpPr>
          <p:cNvPr id="3" name="Espace réservé du pied de page 2"/>
          <p:cNvSpPr>
            <a:spLocks noGrp="1"/>
          </p:cNvSpPr>
          <p:nvPr>
            <p:ph type="ftr" sz="quarter" idx="11"/>
          </p:nvPr>
        </p:nvSpPr>
        <p:spPr/>
        <p:txBody>
          <a:bodyPr/>
          <a:lstStyle/>
          <a:p>
            <a:pPr>
              <a:defRPr/>
            </a:pPr>
            <a:r>
              <a:rPr lang="fr-FR" dirty="0"/>
              <a:t>Pr Ahmed Fathi </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3" name="Rectangle 3"/>
          <p:cNvSpPr>
            <a:spLocks noGrp="1" noRot="1" noChangeArrowheads="1"/>
          </p:cNvSpPr>
          <p:nvPr>
            <p:ph type="body" sz="half" idx="1"/>
          </p:nvPr>
        </p:nvSpPr>
        <p:spPr>
          <a:xfrm>
            <a:off x="301625" y="1676400"/>
            <a:ext cx="4191000" cy="4422775"/>
          </a:xfrm>
        </p:spPr>
        <p:txBody>
          <a:bodyPr/>
          <a:lstStyle/>
          <a:p>
            <a:pPr eaLnBrk="1" hangingPunct="1">
              <a:buFont typeface="Wingdings" pitchFamily="2" charset="2"/>
              <a:buNone/>
              <a:defRPr/>
            </a:pPr>
            <a:endParaRPr lang="fr-FR" sz="2800" dirty="0" smtClean="0"/>
          </a:p>
          <a:p>
            <a:pPr eaLnBrk="1" hangingPunct="1">
              <a:buFont typeface="Wingdings" pitchFamily="2" charset="2"/>
              <a:buNone/>
              <a:defRPr/>
            </a:pPr>
            <a:endParaRPr lang="fr-FR" sz="2800" dirty="0" smtClean="0"/>
          </a:p>
        </p:txBody>
      </p:sp>
      <p:sp>
        <p:nvSpPr>
          <p:cNvPr id="7171" name="Rectangle 4"/>
          <p:cNvSpPr>
            <a:spLocks noChangeArrowheads="1"/>
          </p:cNvSpPr>
          <p:nvPr/>
        </p:nvSpPr>
        <p:spPr bwMode="auto">
          <a:xfrm>
            <a:off x="0" y="0"/>
            <a:ext cx="9144000" cy="4800600"/>
          </a:xfrm>
          <a:prstGeom prst="rect">
            <a:avLst/>
          </a:prstGeom>
          <a:solidFill>
            <a:schemeClr val="accent1"/>
          </a:solidFill>
          <a:ln w="9525">
            <a:noFill/>
            <a:miter lim="800000"/>
            <a:headEnd/>
            <a:tailEnd/>
          </a:ln>
        </p:spPr>
        <p:txBody>
          <a:bodyPr>
            <a:spAutoFit/>
          </a:bodyPr>
          <a:lstStyle/>
          <a:p>
            <a:pPr algn="ctr"/>
            <a:r>
              <a:rPr lang="fr-FR" sz="1800" b="1" dirty="0">
                <a:latin typeface="Tahoma" pitchFamily="34" charset="0"/>
              </a:rPr>
              <a:t>    </a:t>
            </a:r>
            <a:r>
              <a:rPr lang="fr-FR" sz="1800" b="1" dirty="0">
                <a:solidFill>
                  <a:srgbClr val="000066"/>
                </a:solidFill>
                <a:latin typeface="Tahoma" pitchFamily="34" charset="0"/>
              </a:rPr>
              <a:t> </a:t>
            </a:r>
            <a:r>
              <a:rPr lang="fr-FR" b="1" dirty="0">
                <a:solidFill>
                  <a:srgbClr val="FFFF00"/>
                </a:solidFill>
                <a:latin typeface="Tahoma" pitchFamily="34" charset="0"/>
              </a:rPr>
              <a:t> Contenu :</a:t>
            </a:r>
          </a:p>
          <a:p>
            <a:endParaRPr lang="fr-FR" sz="1800" b="1" dirty="0">
              <a:latin typeface="Tahoma" pitchFamily="34" charset="0"/>
            </a:endParaRPr>
          </a:p>
          <a:p>
            <a:r>
              <a:rPr lang="fr-FR" b="1" dirty="0"/>
              <a:t>Les sujets suivants, regroupés en «thèmes», formeront l'ensemble de la matière théorique  de cette partie du cours consacrée aux interactions rayonnements matière</a:t>
            </a:r>
          </a:p>
          <a:p>
            <a:endParaRPr lang="fr-FR" b="1" dirty="0"/>
          </a:p>
          <a:p>
            <a:pPr marL="1371600" lvl="2" indent="-457200">
              <a:buFontTx/>
              <a:buAutoNum type="arabicPlain"/>
            </a:pPr>
            <a:endParaRPr lang="fr-FR" b="1" dirty="0"/>
          </a:p>
          <a:p>
            <a:pPr marL="1371600" lvl="2" indent="-457200">
              <a:buFontTx/>
              <a:buAutoNum type="arabicPlain"/>
            </a:pPr>
            <a:r>
              <a:rPr lang="fr-FR" b="1" dirty="0"/>
              <a:t>Généralités</a:t>
            </a:r>
          </a:p>
          <a:p>
            <a:pPr marL="1371600" lvl="2" indent="-457200">
              <a:buFontTx/>
              <a:buAutoNum type="arabicPlain"/>
            </a:pPr>
            <a:r>
              <a:rPr lang="fr-FR" b="1" dirty="0"/>
              <a:t>Interactions rayons X et gamma avec la matière et lois d’atténuation d’un faisceau.</a:t>
            </a:r>
          </a:p>
          <a:p>
            <a:pPr marL="1371600" lvl="2" indent="-457200">
              <a:buFontTx/>
              <a:buAutoNum type="arabicPlain"/>
            </a:pPr>
            <a:r>
              <a:rPr lang="fr-FR" b="1" dirty="0"/>
              <a:t> Interaction des neutrons avec la matière.</a:t>
            </a:r>
          </a:p>
          <a:p>
            <a:pPr marL="1371600" lvl="2" indent="-457200">
              <a:buFontTx/>
              <a:buAutoNum type="arabicPlain"/>
            </a:pPr>
            <a:r>
              <a:rPr lang="fr-FR" b="1" dirty="0"/>
              <a:t> Interaction des particules chargées avec la matière. </a:t>
            </a:r>
          </a:p>
          <a:p>
            <a:pPr marL="1371600" lvl="2" indent="-457200"/>
            <a:endParaRPr lang="fr-FR" dirty="0"/>
          </a:p>
        </p:txBody>
      </p:sp>
      <p:sp>
        <p:nvSpPr>
          <p:cNvPr id="4" name="Espace réservé du pied de page 3"/>
          <p:cNvSpPr>
            <a:spLocks noGrp="1"/>
          </p:cNvSpPr>
          <p:nvPr>
            <p:ph type="ftr" sz="quarter" idx="11"/>
          </p:nvPr>
        </p:nvSpPr>
        <p:spPr/>
        <p:txBody>
          <a:bodyPr/>
          <a:lstStyle/>
          <a:p>
            <a:pPr>
              <a:defRPr/>
            </a:pPr>
            <a:r>
              <a:rPr lang="fr-FR" dirty="0"/>
              <a:t>Pr Ahmed Fathi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7" name="Rectangle 3"/>
          <p:cNvSpPr>
            <a:spLocks noGrp="1" noRot="1" noChangeArrowheads="1"/>
          </p:cNvSpPr>
          <p:nvPr>
            <p:ph type="body" idx="1"/>
          </p:nvPr>
        </p:nvSpPr>
        <p:spPr>
          <a:xfrm>
            <a:off x="0" y="0"/>
            <a:ext cx="9144000" cy="6858000"/>
          </a:xfrm>
          <a:solidFill>
            <a:schemeClr val="accent1"/>
          </a:solidFill>
          <a:ln>
            <a:solidFill>
              <a:schemeClr val="accent1"/>
            </a:solidFill>
          </a:ln>
        </p:spPr>
        <p:txBody>
          <a:bodyPr/>
          <a:lstStyle/>
          <a:p>
            <a:pPr algn="ctr" eaLnBrk="1" hangingPunct="1">
              <a:lnSpc>
                <a:spcPct val="80000"/>
              </a:lnSpc>
              <a:buFont typeface="Wingdings" pitchFamily="2" charset="2"/>
              <a:buNone/>
              <a:defRPr/>
            </a:pPr>
            <a:endParaRPr lang="fr-FR" sz="2400" b="1" dirty="0" smtClean="0">
              <a:solidFill>
                <a:srgbClr val="FFFF00"/>
              </a:solidFill>
            </a:endParaRPr>
          </a:p>
          <a:p>
            <a:pPr algn="ctr" eaLnBrk="1" hangingPunct="1">
              <a:lnSpc>
                <a:spcPct val="80000"/>
              </a:lnSpc>
              <a:buFont typeface="Wingdings" pitchFamily="2" charset="2"/>
              <a:buNone/>
              <a:defRPr/>
            </a:pPr>
            <a:r>
              <a:rPr lang="fr-FR" sz="2400" b="1" dirty="0" smtClean="0">
                <a:solidFill>
                  <a:srgbClr val="FFFF00"/>
                </a:solidFill>
              </a:rPr>
              <a:t> </a:t>
            </a:r>
            <a:r>
              <a:rPr lang="fr-FR" b="1" dirty="0" smtClean="0">
                <a:solidFill>
                  <a:srgbClr val="FFFF00"/>
                </a:solidFill>
              </a:rPr>
              <a:t>– Méthode d’apprentissage</a:t>
            </a:r>
          </a:p>
          <a:p>
            <a:pPr eaLnBrk="1" hangingPunct="1">
              <a:lnSpc>
                <a:spcPct val="80000"/>
              </a:lnSpc>
              <a:defRPr/>
            </a:pPr>
            <a:r>
              <a:rPr lang="fr-FR" sz="2800" b="1" dirty="0" smtClean="0"/>
              <a:t>Le cours vous sera présenté sous forme d’exposé et il y aura des discussions interactives à quelques reprises au cours du semestre. Les étudiants sont grandement encouragés à poser des questions en classe, car les échanges entre étudiants et professeur ne peuvent qu’aider l’expérience pédagogique de tous.</a:t>
            </a:r>
          </a:p>
          <a:p>
            <a:pPr eaLnBrk="1" hangingPunct="1">
              <a:lnSpc>
                <a:spcPct val="80000"/>
              </a:lnSpc>
              <a:buFont typeface="Wingdings" pitchFamily="2" charset="2"/>
              <a:buNone/>
              <a:defRPr/>
            </a:pPr>
            <a:endParaRPr lang="fr-FR" sz="2800" b="1" dirty="0" smtClean="0"/>
          </a:p>
          <a:p>
            <a:pPr eaLnBrk="1" hangingPunct="1">
              <a:lnSpc>
                <a:spcPct val="80000"/>
              </a:lnSpc>
              <a:defRPr/>
            </a:pPr>
            <a:r>
              <a:rPr lang="fr-FR" sz="2800" b="1" dirty="0" smtClean="0"/>
              <a:t>Vous pouvez aussi m’écrire un courriel à l’adresse suivante : drfathi@hotmail.com. </a:t>
            </a:r>
          </a:p>
          <a:p>
            <a:pPr eaLnBrk="1" hangingPunct="1">
              <a:lnSpc>
                <a:spcPct val="80000"/>
              </a:lnSpc>
              <a:buFont typeface="Wingdings" pitchFamily="2" charset="2"/>
              <a:buNone/>
              <a:defRPr/>
            </a:pPr>
            <a:r>
              <a:rPr lang="fr-FR" sz="2800" b="1" dirty="0" smtClean="0"/>
              <a:t>   Je garantis généralement une réponse dans les 48 heures</a:t>
            </a:r>
            <a:r>
              <a:rPr lang="fr-FR" sz="2800" b="1" dirty="0" smtClean="0"/>
              <a:t>. Il </a:t>
            </a:r>
            <a:r>
              <a:rPr lang="fr-FR" sz="2800" b="1" dirty="0" smtClean="0"/>
              <a:t>me fera toujours plaisir de répondre à vos questions.</a:t>
            </a:r>
          </a:p>
          <a:p>
            <a:pPr eaLnBrk="1" hangingPunct="1">
              <a:lnSpc>
                <a:spcPct val="80000"/>
              </a:lnSpc>
              <a:buFont typeface="Wingdings" pitchFamily="2" charset="2"/>
              <a:buNone/>
              <a:defRPr/>
            </a:pPr>
            <a:endParaRPr lang="fr-FR" sz="2800" b="1" dirty="0" smtClean="0">
              <a:solidFill>
                <a:srgbClr val="FFFF00"/>
              </a:solidFill>
            </a:endParaRPr>
          </a:p>
          <a:p>
            <a:pPr eaLnBrk="1" hangingPunct="1">
              <a:lnSpc>
                <a:spcPct val="80000"/>
              </a:lnSpc>
              <a:buFont typeface="Wingdings" pitchFamily="2" charset="2"/>
              <a:buNone/>
              <a:defRPr/>
            </a:pPr>
            <a:endParaRPr lang="fr-FR" sz="1600" b="1" dirty="0" smtClean="0"/>
          </a:p>
          <a:p>
            <a:pPr eaLnBrk="1" hangingPunct="1">
              <a:lnSpc>
                <a:spcPct val="80000"/>
              </a:lnSpc>
              <a:buFont typeface="Wingdings" pitchFamily="2" charset="2"/>
              <a:buNone/>
              <a:defRPr/>
            </a:pPr>
            <a:endParaRPr lang="fr-FR" sz="1600" dirty="0" smtClean="0"/>
          </a:p>
        </p:txBody>
      </p:sp>
      <p:sp>
        <p:nvSpPr>
          <p:cNvPr id="3" name="Espace réservé du pied de page 2"/>
          <p:cNvSpPr>
            <a:spLocks noGrp="1"/>
          </p:cNvSpPr>
          <p:nvPr>
            <p:ph type="ftr" sz="quarter" idx="11"/>
          </p:nvPr>
        </p:nvSpPr>
        <p:spPr/>
        <p:txBody>
          <a:bodyPr/>
          <a:lstStyle/>
          <a:p>
            <a:pPr>
              <a:defRPr/>
            </a:pPr>
            <a:r>
              <a:rPr lang="fr-FR" dirty="0"/>
              <a:t>Pr Ahmed Fathi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Espace réservé du numéro de diapositive 5"/>
          <p:cNvSpPr>
            <a:spLocks noGrp="1"/>
          </p:cNvSpPr>
          <p:nvPr>
            <p:ph type="sldNum" sz="quarter" idx="12"/>
          </p:nvPr>
        </p:nvSpPr>
        <p:spPr/>
        <p:txBody>
          <a:bodyPr/>
          <a:lstStyle/>
          <a:p>
            <a:pPr>
              <a:defRPr/>
            </a:pPr>
            <a:fld id="{E57A2DF8-079C-4FB9-A5A0-7EA7DF20E08A}" type="slidenum">
              <a:rPr lang="fr-FR"/>
              <a:pPr>
                <a:defRPr/>
              </a:pPr>
              <a:t>4</a:t>
            </a:fld>
            <a:endParaRPr lang="fr-FR" dirty="0"/>
          </a:p>
        </p:txBody>
      </p:sp>
      <p:sp>
        <p:nvSpPr>
          <p:cNvPr id="1028" name="Line 2"/>
          <p:cNvSpPr>
            <a:spLocks noChangeShapeType="1"/>
          </p:cNvSpPr>
          <p:nvPr/>
        </p:nvSpPr>
        <p:spPr bwMode="auto">
          <a:xfrm>
            <a:off x="5900738" y="5084763"/>
            <a:ext cx="1595437" cy="649287"/>
          </a:xfrm>
          <a:prstGeom prst="line">
            <a:avLst/>
          </a:prstGeom>
          <a:noFill/>
          <a:ln w="38100">
            <a:solidFill>
              <a:schemeClr val="tx1"/>
            </a:solidFill>
            <a:round/>
            <a:headEnd/>
            <a:tailEnd/>
          </a:ln>
        </p:spPr>
        <p:txBody>
          <a:bodyPr/>
          <a:lstStyle/>
          <a:p>
            <a:endParaRPr lang="fr-FR" dirty="0"/>
          </a:p>
        </p:txBody>
      </p:sp>
      <p:sp>
        <p:nvSpPr>
          <p:cNvPr id="1029" name="Rectangle 3"/>
          <p:cNvSpPr>
            <a:spLocks noGrp="1" noChangeArrowheads="1"/>
          </p:cNvSpPr>
          <p:nvPr>
            <p:ph type="title"/>
          </p:nvPr>
        </p:nvSpPr>
        <p:spPr>
          <a:xfrm>
            <a:off x="457200" y="0"/>
            <a:ext cx="7786688" cy="785813"/>
          </a:xfrm>
        </p:spPr>
        <p:txBody>
          <a:bodyPr/>
          <a:lstStyle/>
          <a:p>
            <a:pPr eaLnBrk="1" hangingPunct="1">
              <a:defRPr/>
            </a:pPr>
            <a:r>
              <a:rPr lang="fr-FR" sz="2800" b="1" dirty="0" smtClean="0">
                <a:solidFill>
                  <a:srgbClr val="FF0000"/>
                </a:solidFill>
              </a:rPr>
              <a:t>CH1 Généralités</a:t>
            </a:r>
          </a:p>
        </p:txBody>
      </p:sp>
      <p:sp>
        <p:nvSpPr>
          <p:cNvPr id="1030" name="Text Box 4"/>
          <p:cNvSpPr txBox="1">
            <a:spLocks noChangeArrowheads="1"/>
          </p:cNvSpPr>
          <p:nvPr/>
        </p:nvSpPr>
        <p:spPr bwMode="auto">
          <a:xfrm>
            <a:off x="0" y="765175"/>
            <a:ext cx="9144000" cy="2185214"/>
          </a:xfrm>
          <a:prstGeom prst="rect">
            <a:avLst/>
          </a:prstGeom>
          <a:noFill/>
          <a:ln w="9525">
            <a:noFill/>
            <a:miter lim="800000"/>
            <a:headEnd/>
            <a:tailEnd/>
          </a:ln>
        </p:spPr>
        <p:txBody>
          <a:bodyPr wrap="square">
            <a:spAutoFit/>
          </a:bodyPr>
          <a:lstStyle/>
          <a:p>
            <a:pPr eaLnBrk="0" hangingPunct="0"/>
            <a:r>
              <a:rPr lang="fr-FR" sz="2800" b="1" dirty="0" smtClean="0">
                <a:solidFill>
                  <a:srgbClr val="FF0000"/>
                </a:solidFill>
              </a:rPr>
              <a:t>1.1 section </a:t>
            </a:r>
            <a:r>
              <a:rPr lang="fr-FR" sz="2800" b="1" dirty="0">
                <a:solidFill>
                  <a:srgbClr val="FF0000"/>
                </a:solidFill>
              </a:rPr>
              <a:t>efficace</a:t>
            </a:r>
            <a:endParaRPr lang="fr-FR" sz="2800" b="1" dirty="0">
              <a:solidFill>
                <a:srgbClr val="FF0000"/>
              </a:solidFill>
              <a:latin typeface="Times" pitchFamily="18" charset="0"/>
            </a:endParaRPr>
          </a:p>
          <a:p>
            <a:pPr eaLnBrk="0" hangingPunct="0"/>
            <a:r>
              <a:rPr lang="fr-FR" sz="2800" b="1" dirty="0">
                <a:solidFill>
                  <a:srgbClr val="00B050"/>
                </a:solidFill>
                <a:latin typeface="Times" pitchFamily="18" charset="0"/>
              </a:rPr>
              <a:t>section efficace et atténuation </a:t>
            </a:r>
            <a:r>
              <a:rPr lang="fr-FR" sz="2000" b="1" dirty="0" smtClean="0">
                <a:latin typeface="Times" pitchFamily="18" charset="0"/>
              </a:rPr>
              <a:t>: La </a:t>
            </a:r>
            <a:r>
              <a:rPr lang="fr-FR" sz="2000" b="1" dirty="0">
                <a:latin typeface="Times" pitchFamily="18" charset="0"/>
              </a:rPr>
              <a:t>fraction de flux avec </a:t>
            </a:r>
            <a:endParaRPr lang="fr-FR" sz="2000" b="1" dirty="0" smtClean="0">
              <a:latin typeface="Times" pitchFamily="18" charset="0"/>
            </a:endParaRPr>
          </a:p>
          <a:p>
            <a:pPr eaLnBrk="0" hangingPunct="0"/>
            <a:r>
              <a:rPr lang="fr-FR" sz="2000" b="1" dirty="0" smtClean="0">
                <a:latin typeface="Times" pitchFamily="18" charset="0"/>
              </a:rPr>
              <a:t>une </a:t>
            </a:r>
            <a:r>
              <a:rPr lang="fr-FR" sz="2000" b="1" dirty="0">
                <a:latin typeface="Times" pitchFamily="18" charset="0"/>
              </a:rPr>
              <a:t>incidence normale sur une surface A qui subit </a:t>
            </a:r>
            <a:r>
              <a:rPr lang="fr-FR" sz="2000" b="1" dirty="0" smtClean="0">
                <a:latin typeface="Times" pitchFamily="18" charset="0"/>
              </a:rPr>
              <a:t> une </a:t>
            </a:r>
            <a:r>
              <a:rPr lang="fr-FR" sz="2000" b="1" dirty="0">
                <a:latin typeface="Times" pitchFamily="18" charset="0"/>
              </a:rPr>
              <a:t>interaction peut s’écrire comme la probabilité :</a:t>
            </a:r>
          </a:p>
          <a:p>
            <a:pPr eaLnBrk="0" hangingPunct="0"/>
            <a:endParaRPr lang="fr-FR" sz="2000" b="1" dirty="0">
              <a:latin typeface="Times" pitchFamily="18" charset="0"/>
            </a:endParaRPr>
          </a:p>
          <a:p>
            <a:pPr eaLnBrk="0" hangingPunct="0"/>
            <a:r>
              <a:rPr lang="fr-FR" sz="2000" b="1" dirty="0">
                <a:latin typeface="Times" pitchFamily="18" charset="0"/>
              </a:rPr>
              <a:t> </a:t>
            </a:r>
            <a:endParaRPr lang="fr-FR" sz="2800" dirty="0">
              <a:latin typeface="Helvetica" pitchFamily="34" charset="0"/>
            </a:endParaRPr>
          </a:p>
        </p:txBody>
      </p:sp>
      <p:graphicFrame>
        <p:nvGraphicFramePr>
          <p:cNvPr id="1026" name="Object 5"/>
          <p:cNvGraphicFramePr>
            <a:graphicFrameLocks noGrp="1" noChangeAspect="1"/>
          </p:cNvGraphicFramePr>
          <p:nvPr>
            <p:ph idx="1"/>
          </p:nvPr>
        </p:nvGraphicFramePr>
        <p:xfrm>
          <a:off x="1362075" y="2368550"/>
          <a:ext cx="5410200" cy="846138"/>
        </p:xfrm>
        <a:graphic>
          <a:graphicData uri="http://schemas.openxmlformats.org/presentationml/2006/ole">
            <p:oleObj spid="_x0000_s1026" name="Équation" r:id="rId3" imgW="2679480" imgH="419040" progId="Equation.3">
              <p:embed/>
            </p:oleObj>
          </a:graphicData>
        </a:graphic>
      </p:graphicFrame>
      <p:sp>
        <p:nvSpPr>
          <p:cNvPr id="1031" name="Text Box 6"/>
          <p:cNvSpPr txBox="1">
            <a:spLocks noChangeArrowheads="1"/>
          </p:cNvSpPr>
          <p:nvPr/>
        </p:nvSpPr>
        <p:spPr bwMode="auto">
          <a:xfrm>
            <a:off x="0" y="3214688"/>
            <a:ext cx="9144000" cy="1323975"/>
          </a:xfrm>
          <a:prstGeom prst="rect">
            <a:avLst/>
          </a:prstGeom>
          <a:noFill/>
          <a:ln w="9525">
            <a:noFill/>
            <a:miter lim="800000"/>
            <a:headEnd/>
            <a:tailEnd/>
          </a:ln>
        </p:spPr>
        <p:txBody>
          <a:bodyPr wrap="square">
            <a:spAutoFit/>
          </a:bodyPr>
          <a:lstStyle/>
          <a:p>
            <a:pPr eaLnBrk="0" hangingPunct="0"/>
            <a:r>
              <a:rPr lang="fr-FR" sz="2000" b="1" dirty="0">
                <a:latin typeface="Times" pitchFamily="18" charset="0"/>
              </a:rPr>
              <a:t>La section efficace est très liée à la notion de probabilité d’interaction.</a:t>
            </a:r>
          </a:p>
          <a:p>
            <a:pPr eaLnBrk="0" hangingPunct="0"/>
            <a:r>
              <a:rPr lang="fr-FR" sz="2000" b="1" dirty="0">
                <a:latin typeface="Times" pitchFamily="18" charset="0"/>
              </a:rPr>
              <a:t>Différents processus d’interaction peuvent avoir différentes probabilités </a:t>
            </a:r>
          </a:p>
          <a:p>
            <a:pPr eaLnBrk="0" hangingPunct="0"/>
            <a:r>
              <a:rPr lang="fr-FR" sz="2000" b="1" dirty="0">
                <a:latin typeface="Times" pitchFamily="18" charset="0"/>
              </a:rPr>
              <a:t>donc différentes section efficaces.</a:t>
            </a:r>
          </a:p>
          <a:p>
            <a:pPr eaLnBrk="0" hangingPunct="0"/>
            <a:endParaRPr lang="fr-FR" sz="2000" b="1" dirty="0">
              <a:latin typeface="Times" pitchFamily="18" charset="0"/>
            </a:endParaRPr>
          </a:p>
        </p:txBody>
      </p:sp>
      <p:sp>
        <p:nvSpPr>
          <p:cNvPr id="1032" name="Rectangle 7"/>
          <p:cNvSpPr>
            <a:spLocks noChangeArrowheads="1"/>
          </p:cNvSpPr>
          <p:nvPr/>
        </p:nvSpPr>
        <p:spPr bwMode="auto">
          <a:xfrm rot="1245322">
            <a:off x="6034088" y="4292600"/>
            <a:ext cx="1728787" cy="1152525"/>
          </a:xfrm>
          <a:prstGeom prst="rect">
            <a:avLst/>
          </a:prstGeom>
          <a:solidFill>
            <a:srgbClr val="56D25C"/>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56D25C"/>
            </a:extrusionClr>
          </a:sp3d>
        </p:spPr>
        <p:txBody>
          <a:bodyPr wrap="none" anchor="ctr">
            <a:flatTx/>
          </a:bodyPr>
          <a:lstStyle/>
          <a:p>
            <a:endParaRPr lang="fr-FR" dirty="0"/>
          </a:p>
        </p:txBody>
      </p:sp>
      <p:sp>
        <p:nvSpPr>
          <p:cNvPr id="1033" name="Oval 8"/>
          <p:cNvSpPr>
            <a:spLocks noChangeArrowheads="1"/>
          </p:cNvSpPr>
          <p:nvPr/>
        </p:nvSpPr>
        <p:spPr bwMode="auto">
          <a:xfrm>
            <a:off x="6367463" y="4437063"/>
            <a:ext cx="198437" cy="215900"/>
          </a:xfrm>
          <a:prstGeom prst="ellipse">
            <a:avLst/>
          </a:prstGeom>
          <a:solidFill>
            <a:schemeClr val="accent1"/>
          </a:solidFill>
          <a:ln w="9525">
            <a:solidFill>
              <a:schemeClr val="tx1"/>
            </a:solidFill>
            <a:round/>
            <a:headEnd/>
            <a:tailEnd/>
          </a:ln>
        </p:spPr>
        <p:txBody>
          <a:bodyPr wrap="none" anchor="ctr"/>
          <a:lstStyle/>
          <a:p>
            <a:endParaRPr lang="fr-FR" dirty="0"/>
          </a:p>
        </p:txBody>
      </p:sp>
      <p:sp>
        <p:nvSpPr>
          <p:cNvPr id="1034" name="Oval 9"/>
          <p:cNvSpPr>
            <a:spLocks noChangeArrowheads="1"/>
          </p:cNvSpPr>
          <p:nvPr/>
        </p:nvSpPr>
        <p:spPr bwMode="auto">
          <a:xfrm>
            <a:off x="6565900" y="4652963"/>
            <a:ext cx="200025" cy="215900"/>
          </a:xfrm>
          <a:prstGeom prst="ellipse">
            <a:avLst/>
          </a:prstGeom>
          <a:solidFill>
            <a:schemeClr val="accent1"/>
          </a:solidFill>
          <a:ln w="9525">
            <a:solidFill>
              <a:schemeClr val="tx1"/>
            </a:solidFill>
            <a:round/>
            <a:headEnd/>
            <a:tailEnd/>
          </a:ln>
        </p:spPr>
        <p:txBody>
          <a:bodyPr wrap="none" anchor="ctr"/>
          <a:lstStyle/>
          <a:p>
            <a:endParaRPr lang="fr-FR" dirty="0"/>
          </a:p>
        </p:txBody>
      </p:sp>
      <p:sp>
        <p:nvSpPr>
          <p:cNvPr id="1035" name="Oval 10"/>
          <p:cNvSpPr>
            <a:spLocks noChangeArrowheads="1"/>
          </p:cNvSpPr>
          <p:nvPr/>
        </p:nvSpPr>
        <p:spPr bwMode="auto">
          <a:xfrm>
            <a:off x="6765925" y="4868863"/>
            <a:ext cx="198438" cy="215900"/>
          </a:xfrm>
          <a:prstGeom prst="ellipse">
            <a:avLst/>
          </a:prstGeom>
          <a:solidFill>
            <a:schemeClr val="accent1"/>
          </a:solidFill>
          <a:ln w="9525">
            <a:solidFill>
              <a:schemeClr val="tx1"/>
            </a:solidFill>
            <a:round/>
            <a:headEnd/>
            <a:tailEnd/>
          </a:ln>
        </p:spPr>
        <p:txBody>
          <a:bodyPr wrap="none" anchor="ctr"/>
          <a:lstStyle/>
          <a:p>
            <a:endParaRPr lang="fr-FR" dirty="0"/>
          </a:p>
        </p:txBody>
      </p:sp>
      <p:sp>
        <p:nvSpPr>
          <p:cNvPr id="1036" name="Oval 11"/>
          <p:cNvSpPr>
            <a:spLocks noChangeArrowheads="1"/>
          </p:cNvSpPr>
          <p:nvPr/>
        </p:nvSpPr>
        <p:spPr bwMode="auto">
          <a:xfrm>
            <a:off x="6964363" y="5084763"/>
            <a:ext cx="200025" cy="215900"/>
          </a:xfrm>
          <a:prstGeom prst="ellipse">
            <a:avLst/>
          </a:prstGeom>
          <a:solidFill>
            <a:schemeClr val="accent1"/>
          </a:solidFill>
          <a:ln w="9525">
            <a:solidFill>
              <a:schemeClr val="tx1"/>
            </a:solidFill>
            <a:round/>
            <a:headEnd/>
            <a:tailEnd/>
          </a:ln>
        </p:spPr>
        <p:txBody>
          <a:bodyPr wrap="none" anchor="ctr"/>
          <a:lstStyle/>
          <a:p>
            <a:endParaRPr lang="fr-FR" dirty="0"/>
          </a:p>
        </p:txBody>
      </p:sp>
      <p:sp>
        <p:nvSpPr>
          <p:cNvPr id="1037" name="Oval 12"/>
          <p:cNvSpPr>
            <a:spLocks noChangeArrowheads="1"/>
          </p:cNvSpPr>
          <p:nvPr/>
        </p:nvSpPr>
        <p:spPr bwMode="auto">
          <a:xfrm>
            <a:off x="7164388" y="5300663"/>
            <a:ext cx="198437" cy="215900"/>
          </a:xfrm>
          <a:prstGeom prst="ellipse">
            <a:avLst/>
          </a:prstGeom>
          <a:solidFill>
            <a:schemeClr val="accent1"/>
          </a:solidFill>
          <a:ln w="9525">
            <a:solidFill>
              <a:schemeClr val="tx1"/>
            </a:solidFill>
            <a:round/>
            <a:headEnd/>
            <a:tailEnd/>
          </a:ln>
        </p:spPr>
        <p:txBody>
          <a:bodyPr wrap="none" anchor="ctr"/>
          <a:lstStyle/>
          <a:p>
            <a:endParaRPr lang="fr-FR" dirty="0"/>
          </a:p>
        </p:txBody>
      </p:sp>
      <p:sp>
        <p:nvSpPr>
          <p:cNvPr id="1038" name="Oval 13"/>
          <p:cNvSpPr>
            <a:spLocks noChangeArrowheads="1"/>
          </p:cNvSpPr>
          <p:nvPr/>
        </p:nvSpPr>
        <p:spPr bwMode="auto">
          <a:xfrm>
            <a:off x="6167438" y="4724400"/>
            <a:ext cx="200025" cy="215900"/>
          </a:xfrm>
          <a:prstGeom prst="ellipse">
            <a:avLst/>
          </a:prstGeom>
          <a:solidFill>
            <a:schemeClr val="accent1"/>
          </a:solidFill>
          <a:ln w="9525">
            <a:solidFill>
              <a:schemeClr val="tx1"/>
            </a:solidFill>
            <a:round/>
            <a:headEnd/>
            <a:tailEnd/>
          </a:ln>
        </p:spPr>
        <p:txBody>
          <a:bodyPr wrap="none" anchor="ctr"/>
          <a:lstStyle/>
          <a:p>
            <a:endParaRPr lang="fr-FR" dirty="0"/>
          </a:p>
        </p:txBody>
      </p:sp>
      <p:sp>
        <p:nvSpPr>
          <p:cNvPr id="1039" name="Oval 14"/>
          <p:cNvSpPr>
            <a:spLocks noChangeArrowheads="1"/>
          </p:cNvSpPr>
          <p:nvPr/>
        </p:nvSpPr>
        <p:spPr bwMode="auto">
          <a:xfrm>
            <a:off x="6432550" y="5013325"/>
            <a:ext cx="200025" cy="215900"/>
          </a:xfrm>
          <a:prstGeom prst="ellipse">
            <a:avLst/>
          </a:prstGeom>
          <a:solidFill>
            <a:schemeClr val="accent1"/>
          </a:solidFill>
          <a:ln w="9525">
            <a:solidFill>
              <a:schemeClr val="tx1"/>
            </a:solidFill>
            <a:round/>
            <a:headEnd/>
            <a:tailEnd/>
          </a:ln>
        </p:spPr>
        <p:txBody>
          <a:bodyPr wrap="none" anchor="ctr"/>
          <a:lstStyle/>
          <a:p>
            <a:endParaRPr lang="fr-FR" dirty="0"/>
          </a:p>
        </p:txBody>
      </p:sp>
      <p:sp>
        <p:nvSpPr>
          <p:cNvPr id="1040" name="Oval 15"/>
          <p:cNvSpPr>
            <a:spLocks noChangeArrowheads="1"/>
          </p:cNvSpPr>
          <p:nvPr/>
        </p:nvSpPr>
        <p:spPr bwMode="auto">
          <a:xfrm>
            <a:off x="6699250" y="5229225"/>
            <a:ext cx="200025" cy="215900"/>
          </a:xfrm>
          <a:prstGeom prst="ellipse">
            <a:avLst/>
          </a:prstGeom>
          <a:solidFill>
            <a:schemeClr val="accent1"/>
          </a:solidFill>
          <a:ln w="9525">
            <a:solidFill>
              <a:schemeClr val="tx1"/>
            </a:solidFill>
            <a:round/>
            <a:headEnd/>
            <a:tailEnd/>
          </a:ln>
        </p:spPr>
        <p:txBody>
          <a:bodyPr wrap="none" anchor="ctr"/>
          <a:lstStyle/>
          <a:p>
            <a:endParaRPr lang="fr-FR" dirty="0"/>
          </a:p>
        </p:txBody>
      </p:sp>
      <p:sp>
        <p:nvSpPr>
          <p:cNvPr id="1041" name="Oval 16"/>
          <p:cNvSpPr>
            <a:spLocks noChangeArrowheads="1"/>
          </p:cNvSpPr>
          <p:nvPr/>
        </p:nvSpPr>
        <p:spPr bwMode="auto">
          <a:xfrm>
            <a:off x="6964363" y="4581525"/>
            <a:ext cx="200025" cy="215900"/>
          </a:xfrm>
          <a:prstGeom prst="ellipse">
            <a:avLst/>
          </a:prstGeom>
          <a:solidFill>
            <a:schemeClr val="accent1"/>
          </a:solidFill>
          <a:ln w="9525">
            <a:solidFill>
              <a:schemeClr val="tx1"/>
            </a:solidFill>
            <a:round/>
            <a:headEnd/>
            <a:tailEnd/>
          </a:ln>
        </p:spPr>
        <p:txBody>
          <a:bodyPr wrap="none" anchor="ctr"/>
          <a:lstStyle/>
          <a:p>
            <a:endParaRPr lang="fr-FR" dirty="0"/>
          </a:p>
        </p:txBody>
      </p:sp>
      <p:sp>
        <p:nvSpPr>
          <p:cNvPr id="1042" name="Oval 17"/>
          <p:cNvSpPr>
            <a:spLocks noChangeArrowheads="1"/>
          </p:cNvSpPr>
          <p:nvPr/>
        </p:nvSpPr>
        <p:spPr bwMode="auto">
          <a:xfrm>
            <a:off x="7229475" y="4724400"/>
            <a:ext cx="200025" cy="215900"/>
          </a:xfrm>
          <a:prstGeom prst="ellipse">
            <a:avLst/>
          </a:prstGeom>
          <a:solidFill>
            <a:schemeClr val="accent1"/>
          </a:solidFill>
          <a:ln w="9525">
            <a:solidFill>
              <a:schemeClr val="tx1"/>
            </a:solidFill>
            <a:round/>
            <a:headEnd/>
            <a:tailEnd/>
          </a:ln>
        </p:spPr>
        <p:txBody>
          <a:bodyPr wrap="none" anchor="ctr"/>
          <a:lstStyle/>
          <a:p>
            <a:endParaRPr lang="fr-FR" dirty="0"/>
          </a:p>
        </p:txBody>
      </p:sp>
      <p:sp>
        <p:nvSpPr>
          <p:cNvPr id="1043" name="Oval 18"/>
          <p:cNvSpPr>
            <a:spLocks noChangeArrowheads="1"/>
          </p:cNvSpPr>
          <p:nvPr/>
        </p:nvSpPr>
        <p:spPr bwMode="auto">
          <a:xfrm>
            <a:off x="7362825" y="5013325"/>
            <a:ext cx="200025" cy="215900"/>
          </a:xfrm>
          <a:prstGeom prst="ellipse">
            <a:avLst/>
          </a:prstGeom>
          <a:solidFill>
            <a:schemeClr val="accent1"/>
          </a:solidFill>
          <a:ln w="9525">
            <a:solidFill>
              <a:schemeClr val="tx1"/>
            </a:solidFill>
            <a:round/>
            <a:headEnd/>
            <a:tailEnd/>
          </a:ln>
        </p:spPr>
        <p:txBody>
          <a:bodyPr wrap="none" anchor="ctr"/>
          <a:lstStyle/>
          <a:p>
            <a:endParaRPr lang="fr-FR" dirty="0"/>
          </a:p>
        </p:txBody>
      </p:sp>
      <p:sp>
        <p:nvSpPr>
          <p:cNvPr id="1044" name="Oval 19"/>
          <p:cNvSpPr>
            <a:spLocks noChangeArrowheads="1"/>
          </p:cNvSpPr>
          <p:nvPr/>
        </p:nvSpPr>
        <p:spPr bwMode="auto">
          <a:xfrm>
            <a:off x="6034088" y="4941888"/>
            <a:ext cx="200025" cy="215900"/>
          </a:xfrm>
          <a:prstGeom prst="ellipse">
            <a:avLst/>
          </a:prstGeom>
          <a:solidFill>
            <a:schemeClr val="accent1"/>
          </a:solidFill>
          <a:ln w="9525">
            <a:solidFill>
              <a:schemeClr val="tx1"/>
            </a:solidFill>
            <a:round/>
            <a:headEnd/>
            <a:tailEnd/>
          </a:ln>
        </p:spPr>
        <p:txBody>
          <a:bodyPr wrap="none" anchor="ctr"/>
          <a:lstStyle/>
          <a:p>
            <a:endParaRPr lang="fr-FR" dirty="0"/>
          </a:p>
        </p:txBody>
      </p:sp>
      <p:sp>
        <p:nvSpPr>
          <p:cNvPr id="1045" name="Oval 20"/>
          <p:cNvSpPr>
            <a:spLocks noChangeArrowheads="1"/>
          </p:cNvSpPr>
          <p:nvPr/>
        </p:nvSpPr>
        <p:spPr bwMode="auto">
          <a:xfrm>
            <a:off x="6234113" y="4149725"/>
            <a:ext cx="198437" cy="215900"/>
          </a:xfrm>
          <a:prstGeom prst="ellipse">
            <a:avLst/>
          </a:prstGeom>
          <a:solidFill>
            <a:schemeClr val="accent1"/>
          </a:solidFill>
          <a:ln w="9525">
            <a:solidFill>
              <a:schemeClr val="tx1"/>
            </a:solidFill>
            <a:round/>
            <a:headEnd/>
            <a:tailEnd/>
          </a:ln>
        </p:spPr>
        <p:txBody>
          <a:bodyPr wrap="none" anchor="ctr"/>
          <a:lstStyle/>
          <a:p>
            <a:endParaRPr lang="fr-FR" dirty="0"/>
          </a:p>
        </p:txBody>
      </p:sp>
      <p:sp>
        <p:nvSpPr>
          <p:cNvPr id="1046" name="Oval 21"/>
          <p:cNvSpPr>
            <a:spLocks noChangeArrowheads="1"/>
          </p:cNvSpPr>
          <p:nvPr/>
        </p:nvSpPr>
        <p:spPr bwMode="auto">
          <a:xfrm>
            <a:off x="6699250" y="4365625"/>
            <a:ext cx="200025" cy="215900"/>
          </a:xfrm>
          <a:prstGeom prst="ellipse">
            <a:avLst/>
          </a:prstGeom>
          <a:solidFill>
            <a:schemeClr val="accent1"/>
          </a:solidFill>
          <a:ln w="9525">
            <a:solidFill>
              <a:schemeClr val="tx1"/>
            </a:solidFill>
            <a:round/>
            <a:headEnd/>
            <a:tailEnd/>
          </a:ln>
        </p:spPr>
        <p:txBody>
          <a:bodyPr wrap="none" anchor="ctr"/>
          <a:lstStyle/>
          <a:p>
            <a:endParaRPr lang="fr-FR" dirty="0"/>
          </a:p>
        </p:txBody>
      </p:sp>
      <p:sp>
        <p:nvSpPr>
          <p:cNvPr id="1047" name="Line 22"/>
          <p:cNvSpPr>
            <a:spLocks noChangeShapeType="1"/>
          </p:cNvSpPr>
          <p:nvPr/>
        </p:nvSpPr>
        <p:spPr bwMode="auto">
          <a:xfrm flipV="1">
            <a:off x="5767388" y="4724400"/>
            <a:ext cx="598487" cy="1582738"/>
          </a:xfrm>
          <a:prstGeom prst="line">
            <a:avLst/>
          </a:prstGeom>
          <a:noFill/>
          <a:ln w="57150">
            <a:solidFill>
              <a:srgbClr val="FF0000"/>
            </a:solidFill>
            <a:round/>
            <a:headEnd/>
            <a:tailEnd type="triangle" w="med" len="med"/>
          </a:ln>
        </p:spPr>
        <p:txBody>
          <a:bodyPr/>
          <a:lstStyle/>
          <a:p>
            <a:endParaRPr lang="fr-FR" dirty="0"/>
          </a:p>
        </p:txBody>
      </p:sp>
      <p:sp>
        <p:nvSpPr>
          <p:cNvPr id="1048" name="Line 23"/>
          <p:cNvSpPr>
            <a:spLocks noChangeShapeType="1"/>
          </p:cNvSpPr>
          <p:nvPr/>
        </p:nvSpPr>
        <p:spPr bwMode="auto">
          <a:xfrm flipV="1">
            <a:off x="5969000" y="4797425"/>
            <a:ext cx="596900" cy="1582738"/>
          </a:xfrm>
          <a:prstGeom prst="line">
            <a:avLst/>
          </a:prstGeom>
          <a:noFill/>
          <a:ln w="57150">
            <a:solidFill>
              <a:srgbClr val="FF0000"/>
            </a:solidFill>
            <a:round/>
            <a:headEnd/>
            <a:tailEnd type="triangle" w="med" len="med"/>
          </a:ln>
        </p:spPr>
        <p:txBody>
          <a:bodyPr/>
          <a:lstStyle/>
          <a:p>
            <a:endParaRPr lang="fr-FR" dirty="0"/>
          </a:p>
        </p:txBody>
      </p:sp>
      <p:sp>
        <p:nvSpPr>
          <p:cNvPr id="1049" name="Line 24"/>
          <p:cNvSpPr>
            <a:spLocks noChangeShapeType="1"/>
          </p:cNvSpPr>
          <p:nvPr/>
        </p:nvSpPr>
        <p:spPr bwMode="auto">
          <a:xfrm flipV="1">
            <a:off x="6167438" y="4868863"/>
            <a:ext cx="598487" cy="1582737"/>
          </a:xfrm>
          <a:prstGeom prst="line">
            <a:avLst/>
          </a:prstGeom>
          <a:noFill/>
          <a:ln w="57150">
            <a:solidFill>
              <a:srgbClr val="FF0000"/>
            </a:solidFill>
            <a:round/>
            <a:headEnd/>
            <a:tailEnd type="triangle" w="med" len="med"/>
          </a:ln>
        </p:spPr>
        <p:txBody>
          <a:bodyPr/>
          <a:lstStyle/>
          <a:p>
            <a:endParaRPr lang="fr-FR" dirty="0"/>
          </a:p>
        </p:txBody>
      </p:sp>
      <p:sp>
        <p:nvSpPr>
          <p:cNvPr id="1050" name="Line 25"/>
          <p:cNvSpPr>
            <a:spLocks noChangeShapeType="1"/>
          </p:cNvSpPr>
          <p:nvPr/>
        </p:nvSpPr>
        <p:spPr bwMode="auto">
          <a:xfrm flipV="1">
            <a:off x="6299200" y="5013325"/>
            <a:ext cx="598488" cy="1582738"/>
          </a:xfrm>
          <a:prstGeom prst="line">
            <a:avLst/>
          </a:prstGeom>
          <a:noFill/>
          <a:ln w="57150">
            <a:solidFill>
              <a:srgbClr val="FF0000"/>
            </a:solidFill>
            <a:round/>
            <a:headEnd/>
            <a:tailEnd type="triangle" w="med" len="med"/>
          </a:ln>
        </p:spPr>
        <p:txBody>
          <a:bodyPr/>
          <a:lstStyle/>
          <a:p>
            <a:endParaRPr lang="fr-FR" dirty="0"/>
          </a:p>
        </p:txBody>
      </p:sp>
      <p:sp>
        <p:nvSpPr>
          <p:cNvPr id="1051" name="Text Box 26"/>
          <p:cNvSpPr txBox="1">
            <a:spLocks noChangeArrowheads="1"/>
          </p:cNvSpPr>
          <p:nvPr/>
        </p:nvSpPr>
        <p:spPr bwMode="auto">
          <a:xfrm rot="1412195">
            <a:off x="6823075" y="5932488"/>
            <a:ext cx="1506538" cy="396875"/>
          </a:xfrm>
          <a:prstGeom prst="rect">
            <a:avLst/>
          </a:prstGeom>
          <a:noFill/>
          <a:ln w="9525">
            <a:noFill/>
            <a:miter lim="800000"/>
            <a:headEnd/>
            <a:tailEnd/>
          </a:ln>
        </p:spPr>
        <p:txBody>
          <a:bodyPr>
            <a:spAutoFit/>
          </a:bodyPr>
          <a:lstStyle/>
          <a:p>
            <a:pPr eaLnBrk="0" hangingPunct="0"/>
            <a:r>
              <a:rPr lang="fr-FR" sz="2000" b="1" dirty="0">
                <a:latin typeface="Helvetica" pitchFamily="34" charset="0"/>
              </a:rPr>
              <a:t>surface A</a:t>
            </a:r>
          </a:p>
        </p:txBody>
      </p:sp>
      <p:sp>
        <p:nvSpPr>
          <p:cNvPr id="1052" name="Text Box 27"/>
          <p:cNvSpPr txBox="1">
            <a:spLocks noChangeArrowheads="1"/>
          </p:cNvSpPr>
          <p:nvPr/>
        </p:nvSpPr>
        <p:spPr bwMode="auto">
          <a:xfrm>
            <a:off x="4306888" y="4298950"/>
            <a:ext cx="1603375" cy="457200"/>
          </a:xfrm>
          <a:prstGeom prst="rect">
            <a:avLst/>
          </a:prstGeom>
          <a:noFill/>
          <a:ln w="9525">
            <a:noFill/>
            <a:miter lim="800000"/>
            <a:headEnd/>
            <a:tailEnd/>
          </a:ln>
        </p:spPr>
        <p:txBody>
          <a:bodyPr wrap="none">
            <a:spAutoFit/>
          </a:bodyPr>
          <a:lstStyle/>
          <a:p>
            <a:pPr eaLnBrk="0" hangingPunct="0"/>
            <a:r>
              <a:rPr lang="fr-FR" b="1" dirty="0">
                <a:solidFill>
                  <a:srgbClr val="6666FF"/>
                </a:solidFill>
                <a:latin typeface="Helvetica" pitchFamily="34" charset="0"/>
              </a:rPr>
              <a:t>section </a:t>
            </a:r>
            <a:r>
              <a:rPr lang="fr-FR" b="1" dirty="0">
                <a:solidFill>
                  <a:srgbClr val="6666FF"/>
                </a:solidFill>
                <a:latin typeface="MT Symbol" pitchFamily="82" charset="2"/>
              </a:rPr>
              <a:t>s</a:t>
            </a:r>
            <a:r>
              <a:rPr lang="fr-FR" b="1" dirty="0">
                <a:solidFill>
                  <a:srgbClr val="6666FF"/>
                </a:solidFill>
                <a:latin typeface="Helvetica" pitchFamily="34" charset="0"/>
              </a:rPr>
              <a:t> </a:t>
            </a:r>
          </a:p>
        </p:txBody>
      </p:sp>
      <p:sp>
        <p:nvSpPr>
          <p:cNvPr id="1053" name="Line 28"/>
          <p:cNvSpPr>
            <a:spLocks noChangeShapeType="1"/>
          </p:cNvSpPr>
          <p:nvPr/>
        </p:nvSpPr>
        <p:spPr bwMode="auto">
          <a:xfrm flipV="1">
            <a:off x="5702300" y="4221163"/>
            <a:ext cx="598488" cy="215900"/>
          </a:xfrm>
          <a:prstGeom prst="line">
            <a:avLst/>
          </a:prstGeom>
          <a:noFill/>
          <a:ln w="38100">
            <a:solidFill>
              <a:schemeClr val="tx1"/>
            </a:solidFill>
            <a:round/>
            <a:headEnd/>
            <a:tailEnd type="triangle" w="med" len="med"/>
          </a:ln>
        </p:spPr>
        <p:txBody>
          <a:bodyPr/>
          <a:lstStyle/>
          <a:p>
            <a:endParaRPr lang="fr-FR" dirty="0"/>
          </a:p>
        </p:txBody>
      </p:sp>
      <p:sp>
        <p:nvSpPr>
          <p:cNvPr id="1054" name="Text Box 29"/>
          <p:cNvSpPr txBox="1">
            <a:spLocks noChangeArrowheads="1"/>
          </p:cNvSpPr>
          <p:nvPr/>
        </p:nvSpPr>
        <p:spPr bwMode="auto">
          <a:xfrm>
            <a:off x="384175" y="5380038"/>
            <a:ext cx="4337050" cy="701675"/>
          </a:xfrm>
          <a:prstGeom prst="rect">
            <a:avLst/>
          </a:prstGeom>
          <a:noFill/>
          <a:ln w="9525">
            <a:noFill/>
            <a:miter lim="800000"/>
            <a:headEnd/>
            <a:tailEnd/>
          </a:ln>
        </p:spPr>
        <p:txBody>
          <a:bodyPr wrap="none">
            <a:spAutoFit/>
          </a:bodyPr>
          <a:lstStyle/>
          <a:p>
            <a:pPr eaLnBrk="0" hangingPunct="0"/>
            <a:r>
              <a:rPr lang="fr-FR" sz="2000" b="1" i="1" dirty="0">
                <a:latin typeface="Times" pitchFamily="18" charset="0"/>
              </a:rPr>
              <a:t>la section efficace totale</a:t>
            </a:r>
            <a:r>
              <a:rPr lang="fr-FR" sz="2000" b="1" i="1" dirty="0">
                <a:latin typeface="MT Symbol" pitchFamily="82" charset="2"/>
              </a:rPr>
              <a:t> s</a:t>
            </a:r>
            <a:r>
              <a:rPr lang="fr-FR" sz="2000" b="1" i="1" baseline="-25000" dirty="0">
                <a:latin typeface="Times" pitchFamily="18" charset="0"/>
              </a:rPr>
              <a:t>t </a:t>
            </a:r>
            <a:r>
              <a:rPr lang="fr-FR" sz="2000" b="1" i="1" dirty="0">
                <a:latin typeface="Times" pitchFamily="18" charset="0"/>
              </a:rPr>
              <a:t>est la somme</a:t>
            </a:r>
          </a:p>
          <a:p>
            <a:pPr eaLnBrk="0" hangingPunct="0"/>
            <a:r>
              <a:rPr lang="fr-FR" sz="2000" b="1" i="1" dirty="0">
                <a:latin typeface="Times" pitchFamily="18" charset="0"/>
              </a:rPr>
              <a:t>des sections efficaces partielles</a:t>
            </a:r>
            <a:endParaRPr lang="fr-FR" sz="2000" b="1" i="1" baseline="-25000" dirty="0">
              <a:latin typeface="Times" pitchFamily="18" charset="0"/>
            </a:endParaRPr>
          </a:p>
        </p:txBody>
      </p:sp>
      <p:sp>
        <p:nvSpPr>
          <p:cNvPr id="1055" name="Line 30"/>
          <p:cNvSpPr>
            <a:spLocks noChangeShapeType="1"/>
          </p:cNvSpPr>
          <p:nvPr/>
        </p:nvSpPr>
        <p:spPr bwMode="auto">
          <a:xfrm>
            <a:off x="6299200" y="4005263"/>
            <a:ext cx="1597025" cy="647700"/>
          </a:xfrm>
          <a:prstGeom prst="line">
            <a:avLst/>
          </a:prstGeom>
          <a:noFill/>
          <a:ln w="38100">
            <a:solidFill>
              <a:schemeClr val="tx1"/>
            </a:solidFill>
            <a:round/>
            <a:headEnd/>
            <a:tailEnd/>
          </a:ln>
        </p:spPr>
        <p:txBody>
          <a:bodyPr/>
          <a:lstStyle/>
          <a:p>
            <a:endParaRPr lang="fr-FR" dirty="0"/>
          </a:p>
        </p:txBody>
      </p:sp>
      <p:sp>
        <p:nvSpPr>
          <p:cNvPr id="1056" name="Line 31"/>
          <p:cNvSpPr>
            <a:spLocks noChangeShapeType="1"/>
          </p:cNvSpPr>
          <p:nvPr/>
        </p:nvSpPr>
        <p:spPr bwMode="auto">
          <a:xfrm flipH="1">
            <a:off x="7496175" y="4652963"/>
            <a:ext cx="400050" cy="1081087"/>
          </a:xfrm>
          <a:prstGeom prst="line">
            <a:avLst/>
          </a:prstGeom>
          <a:noFill/>
          <a:ln w="38100">
            <a:solidFill>
              <a:schemeClr val="tx1"/>
            </a:solidFill>
            <a:round/>
            <a:headEnd/>
            <a:tailEnd/>
          </a:ln>
        </p:spPr>
        <p:txBody>
          <a:bodyPr/>
          <a:lstStyle/>
          <a:p>
            <a:endParaRPr lang="fr-FR" dirty="0"/>
          </a:p>
        </p:txBody>
      </p:sp>
      <p:sp>
        <p:nvSpPr>
          <p:cNvPr id="1057" name="Line 32"/>
          <p:cNvSpPr>
            <a:spLocks noChangeShapeType="1"/>
          </p:cNvSpPr>
          <p:nvPr/>
        </p:nvSpPr>
        <p:spPr bwMode="auto">
          <a:xfrm flipH="1">
            <a:off x="5900738" y="4005263"/>
            <a:ext cx="398462" cy="1079500"/>
          </a:xfrm>
          <a:prstGeom prst="line">
            <a:avLst/>
          </a:prstGeom>
          <a:noFill/>
          <a:ln w="38100">
            <a:solidFill>
              <a:schemeClr val="tx1"/>
            </a:solidFill>
            <a:round/>
            <a:headEnd/>
            <a:tailEnd/>
          </a:ln>
        </p:spPr>
        <p:txBody>
          <a:bodyPr/>
          <a:lstStyle/>
          <a:p>
            <a:endParaRPr lang="fr-FR"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Espace réservé du numéro de diapositive 7"/>
          <p:cNvSpPr>
            <a:spLocks noGrp="1"/>
          </p:cNvSpPr>
          <p:nvPr>
            <p:ph type="sldNum" sz="quarter" idx="12"/>
          </p:nvPr>
        </p:nvSpPr>
        <p:spPr/>
        <p:txBody>
          <a:bodyPr/>
          <a:lstStyle/>
          <a:p>
            <a:pPr>
              <a:defRPr/>
            </a:pPr>
            <a:fld id="{EED67DEE-D951-4424-9E87-53F7A811E614}" type="slidenum">
              <a:rPr lang="fr-FR"/>
              <a:pPr>
                <a:defRPr/>
              </a:pPr>
              <a:t>5</a:t>
            </a:fld>
            <a:endParaRPr lang="fr-FR" dirty="0"/>
          </a:p>
        </p:txBody>
      </p:sp>
      <p:sp>
        <p:nvSpPr>
          <p:cNvPr id="2054" name="Rectangle 2"/>
          <p:cNvSpPr>
            <a:spLocks noGrp="1" noChangeArrowheads="1"/>
          </p:cNvSpPr>
          <p:nvPr>
            <p:ph type="title"/>
          </p:nvPr>
        </p:nvSpPr>
        <p:spPr>
          <a:xfrm>
            <a:off x="0" y="115888"/>
            <a:ext cx="8686800" cy="633412"/>
          </a:xfrm>
        </p:spPr>
        <p:txBody>
          <a:bodyPr/>
          <a:lstStyle/>
          <a:p>
            <a:pPr algn="l" eaLnBrk="1" hangingPunct="1">
              <a:defRPr/>
            </a:pPr>
            <a:r>
              <a:rPr lang="fr-FR" sz="2800" b="1" dirty="0" smtClean="0">
                <a:solidFill>
                  <a:srgbClr val="FF0000"/>
                </a:solidFill>
              </a:rPr>
              <a:t>1.2 Section efficace différentielle</a:t>
            </a:r>
          </a:p>
        </p:txBody>
      </p:sp>
      <p:graphicFrame>
        <p:nvGraphicFramePr>
          <p:cNvPr id="2050" name="Object 3"/>
          <p:cNvGraphicFramePr>
            <a:graphicFrameLocks noGrp="1" noChangeAspect="1"/>
          </p:cNvGraphicFramePr>
          <p:nvPr>
            <p:ph sz="half" idx="1"/>
          </p:nvPr>
        </p:nvGraphicFramePr>
        <p:xfrm>
          <a:off x="2420938" y="3741738"/>
          <a:ext cx="117475" cy="241300"/>
        </p:xfrm>
        <a:graphic>
          <a:graphicData uri="http://schemas.openxmlformats.org/presentationml/2006/ole">
            <p:oleObj spid="_x0000_s2050" name="Equation" r:id="rId4" imgW="126720" imgH="241200" progId="Equation.3">
              <p:embed/>
            </p:oleObj>
          </a:graphicData>
        </a:graphic>
      </p:graphicFrame>
      <p:graphicFrame>
        <p:nvGraphicFramePr>
          <p:cNvPr id="2051" name="Object 4"/>
          <p:cNvGraphicFramePr>
            <a:graphicFrameLocks noGrp="1" noChangeAspect="1"/>
          </p:cNvGraphicFramePr>
          <p:nvPr>
            <p:ph sz="quarter" idx="2"/>
          </p:nvPr>
        </p:nvGraphicFramePr>
        <p:xfrm>
          <a:off x="915988" y="836613"/>
          <a:ext cx="3722687" cy="1250950"/>
        </p:xfrm>
        <a:graphic>
          <a:graphicData uri="http://schemas.openxmlformats.org/presentationml/2006/ole">
            <p:oleObj spid="_x0000_s2051" name="Equation" r:id="rId5" imgW="1473120" imgH="457200" progId="Equation.3">
              <p:embed/>
            </p:oleObj>
          </a:graphicData>
        </a:graphic>
      </p:graphicFrame>
      <p:sp>
        <p:nvSpPr>
          <p:cNvPr id="2055" name="Text Box 5"/>
          <p:cNvSpPr txBox="1">
            <a:spLocks noChangeArrowheads="1"/>
          </p:cNvSpPr>
          <p:nvPr/>
        </p:nvSpPr>
        <p:spPr bwMode="auto">
          <a:xfrm>
            <a:off x="963613" y="1406525"/>
            <a:ext cx="169862" cy="396875"/>
          </a:xfrm>
          <a:prstGeom prst="rect">
            <a:avLst/>
          </a:prstGeom>
          <a:noFill/>
          <a:ln w="9525">
            <a:noFill/>
            <a:miter lim="800000"/>
            <a:headEnd/>
            <a:tailEnd/>
          </a:ln>
        </p:spPr>
        <p:txBody>
          <a:bodyPr wrap="none">
            <a:spAutoFit/>
          </a:bodyPr>
          <a:lstStyle/>
          <a:p>
            <a:pPr eaLnBrk="0" hangingPunct="0"/>
            <a:endParaRPr lang="fr-FR" sz="2000" dirty="0">
              <a:latin typeface="Times" pitchFamily="18" charset="0"/>
            </a:endParaRPr>
          </a:p>
        </p:txBody>
      </p:sp>
      <p:sp>
        <p:nvSpPr>
          <p:cNvPr id="2056" name="Text Box 6"/>
          <p:cNvSpPr txBox="1">
            <a:spLocks noChangeArrowheads="1"/>
          </p:cNvSpPr>
          <p:nvPr/>
        </p:nvSpPr>
        <p:spPr bwMode="auto">
          <a:xfrm>
            <a:off x="0" y="2276475"/>
            <a:ext cx="6421438" cy="1006475"/>
          </a:xfrm>
          <a:prstGeom prst="rect">
            <a:avLst/>
          </a:prstGeom>
          <a:noFill/>
          <a:ln w="9525">
            <a:noFill/>
            <a:miter lim="800000"/>
            <a:headEnd/>
            <a:tailEnd/>
          </a:ln>
        </p:spPr>
        <p:txBody>
          <a:bodyPr wrap="square">
            <a:spAutoFit/>
          </a:bodyPr>
          <a:lstStyle/>
          <a:p>
            <a:pPr eaLnBrk="0" hangingPunct="0">
              <a:buFont typeface="Times" pitchFamily="18" charset="0"/>
              <a:buChar char="F"/>
            </a:pPr>
            <a:r>
              <a:rPr lang="fr-FR" sz="2000" b="1" dirty="0">
                <a:latin typeface="Helvetica" pitchFamily="34" charset="0"/>
              </a:rPr>
              <a:t>   Flux de particules incidentes/surface et temps</a:t>
            </a:r>
          </a:p>
          <a:p>
            <a:pPr eaLnBrk="0" hangingPunct="0">
              <a:buFont typeface="Times" pitchFamily="18" charset="0"/>
              <a:buNone/>
            </a:pPr>
            <a:r>
              <a:rPr lang="fr-FR" sz="2000" b="1" dirty="0">
                <a:latin typeface="MT Symbol" pitchFamily="82" charset="2"/>
              </a:rPr>
              <a:t>W</a:t>
            </a:r>
            <a:r>
              <a:rPr lang="fr-FR" sz="2000" b="1" dirty="0">
                <a:latin typeface="Helvetica" pitchFamily="34" charset="0"/>
              </a:rPr>
              <a:t> angle solide</a:t>
            </a:r>
          </a:p>
          <a:p>
            <a:pPr eaLnBrk="0" hangingPunct="0">
              <a:buFont typeface="Times" pitchFamily="18" charset="0"/>
              <a:buNone/>
            </a:pPr>
            <a:r>
              <a:rPr lang="fr-FR" sz="2000" b="1" dirty="0">
                <a:latin typeface="Helvetica" pitchFamily="34" charset="0"/>
              </a:rPr>
              <a:t>N</a:t>
            </a:r>
            <a:r>
              <a:rPr lang="fr-FR" sz="2000" b="1" baseline="-25000" dirty="0">
                <a:latin typeface="Helvetica" pitchFamily="34" charset="0"/>
              </a:rPr>
              <a:t>s</a:t>
            </a:r>
            <a:r>
              <a:rPr lang="fr-FR" sz="2000" b="1" dirty="0">
                <a:latin typeface="Helvetica" pitchFamily="34" charset="0"/>
              </a:rPr>
              <a:t>  nombre de particules diffusées/temps</a:t>
            </a:r>
          </a:p>
        </p:txBody>
      </p:sp>
      <p:sp>
        <p:nvSpPr>
          <p:cNvPr id="2057" name="Rectangle 7"/>
          <p:cNvSpPr>
            <a:spLocks noChangeArrowheads="1"/>
          </p:cNvSpPr>
          <p:nvPr/>
        </p:nvSpPr>
        <p:spPr bwMode="auto">
          <a:xfrm>
            <a:off x="4905375" y="4652963"/>
            <a:ext cx="996950" cy="1008062"/>
          </a:xfrm>
          <a:prstGeom prst="rect">
            <a:avLst/>
          </a:prstGeom>
          <a:solidFill>
            <a:schemeClr val="accent1"/>
          </a:solidFill>
          <a:ln w="9525">
            <a:miter lim="800000"/>
            <a:headEnd/>
            <a:tailEnd/>
          </a:ln>
          <a:scene3d>
            <a:camera prst="legacyPerspectiveFront">
              <a:rot lat="1500000" lon="1500000" rev="0"/>
            </a:camera>
            <a:lightRig rig="legacyFlat2" dir="b"/>
          </a:scene3d>
          <a:sp3d extrusionH="430200" prstMaterial="legacyMatte">
            <a:bevelT w="13500" h="13500" prst="angle"/>
            <a:bevelB w="13500" h="13500" prst="angle"/>
            <a:extrusionClr>
              <a:schemeClr val="accent1"/>
            </a:extrusionClr>
          </a:sp3d>
        </p:spPr>
        <p:txBody>
          <a:bodyPr wrap="none" anchor="ctr">
            <a:flatTx/>
          </a:bodyPr>
          <a:lstStyle/>
          <a:p>
            <a:endParaRPr lang="fr-FR" dirty="0"/>
          </a:p>
        </p:txBody>
      </p:sp>
      <p:sp>
        <p:nvSpPr>
          <p:cNvPr id="2058" name="Line 8"/>
          <p:cNvSpPr>
            <a:spLocks noChangeShapeType="1"/>
          </p:cNvSpPr>
          <p:nvPr/>
        </p:nvSpPr>
        <p:spPr bwMode="auto">
          <a:xfrm flipV="1">
            <a:off x="4040188" y="5157788"/>
            <a:ext cx="1462087" cy="647700"/>
          </a:xfrm>
          <a:prstGeom prst="line">
            <a:avLst/>
          </a:prstGeom>
          <a:noFill/>
          <a:ln w="57150">
            <a:solidFill>
              <a:schemeClr val="tx1"/>
            </a:solidFill>
            <a:round/>
            <a:headEnd/>
            <a:tailEnd type="triangle" w="med" len="med"/>
          </a:ln>
        </p:spPr>
        <p:txBody>
          <a:bodyPr/>
          <a:lstStyle/>
          <a:p>
            <a:endParaRPr lang="fr-FR" dirty="0"/>
          </a:p>
        </p:txBody>
      </p:sp>
      <p:sp>
        <p:nvSpPr>
          <p:cNvPr id="2059" name="Line 9"/>
          <p:cNvSpPr>
            <a:spLocks noChangeShapeType="1"/>
          </p:cNvSpPr>
          <p:nvPr/>
        </p:nvSpPr>
        <p:spPr bwMode="auto">
          <a:xfrm flipV="1">
            <a:off x="3973513" y="5445125"/>
            <a:ext cx="1463675" cy="719138"/>
          </a:xfrm>
          <a:prstGeom prst="line">
            <a:avLst/>
          </a:prstGeom>
          <a:noFill/>
          <a:ln w="38100">
            <a:solidFill>
              <a:schemeClr val="tx1"/>
            </a:solidFill>
            <a:round/>
            <a:headEnd/>
            <a:tailEnd type="triangle" w="med" len="med"/>
          </a:ln>
        </p:spPr>
        <p:txBody>
          <a:bodyPr/>
          <a:lstStyle/>
          <a:p>
            <a:endParaRPr lang="fr-FR" dirty="0"/>
          </a:p>
        </p:txBody>
      </p:sp>
      <p:sp>
        <p:nvSpPr>
          <p:cNvPr id="2060" name="Line 10"/>
          <p:cNvSpPr>
            <a:spLocks noChangeShapeType="1"/>
          </p:cNvSpPr>
          <p:nvPr/>
        </p:nvSpPr>
        <p:spPr bwMode="auto">
          <a:xfrm flipV="1">
            <a:off x="4040188" y="5157788"/>
            <a:ext cx="1063625" cy="431800"/>
          </a:xfrm>
          <a:prstGeom prst="line">
            <a:avLst/>
          </a:prstGeom>
          <a:noFill/>
          <a:ln w="38100">
            <a:solidFill>
              <a:schemeClr val="tx1"/>
            </a:solidFill>
            <a:round/>
            <a:headEnd/>
            <a:tailEnd type="triangle" w="med" len="med"/>
          </a:ln>
        </p:spPr>
        <p:txBody>
          <a:bodyPr/>
          <a:lstStyle/>
          <a:p>
            <a:endParaRPr lang="fr-FR" dirty="0"/>
          </a:p>
        </p:txBody>
      </p:sp>
      <p:sp>
        <p:nvSpPr>
          <p:cNvPr id="2061" name="Line 11"/>
          <p:cNvSpPr>
            <a:spLocks noChangeShapeType="1"/>
          </p:cNvSpPr>
          <p:nvPr/>
        </p:nvSpPr>
        <p:spPr bwMode="auto">
          <a:xfrm flipV="1">
            <a:off x="4572000" y="4221163"/>
            <a:ext cx="3057525" cy="1368425"/>
          </a:xfrm>
          <a:prstGeom prst="line">
            <a:avLst/>
          </a:prstGeom>
          <a:noFill/>
          <a:ln w="28575">
            <a:solidFill>
              <a:schemeClr val="tx1"/>
            </a:solidFill>
            <a:prstDash val="dash"/>
            <a:round/>
            <a:headEnd/>
            <a:tailEnd/>
          </a:ln>
        </p:spPr>
        <p:txBody>
          <a:bodyPr/>
          <a:lstStyle/>
          <a:p>
            <a:endParaRPr lang="fr-FR" dirty="0"/>
          </a:p>
        </p:txBody>
      </p:sp>
      <p:sp>
        <p:nvSpPr>
          <p:cNvPr id="2062" name="Line 12"/>
          <p:cNvSpPr>
            <a:spLocks noChangeShapeType="1"/>
          </p:cNvSpPr>
          <p:nvPr/>
        </p:nvSpPr>
        <p:spPr bwMode="auto">
          <a:xfrm flipV="1">
            <a:off x="5835650" y="2205038"/>
            <a:ext cx="2125663" cy="2808287"/>
          </a:xfrm>
          <a:prstGeom prst="line">
            <a:avLst/>
          </a:prstGeom>
          <a:noFill/>
          <a:ln w="9525">
            <a:solidFill>
              <a:schemeClr val="tx1"/>
            </a:solidFill>
            <a:round/>
            <a:headEnd/>
            <a:tailEnd/>
          </a:ln>
        </p:spPr>
        <p:txBody>
          <a:bodyPr/>
          <a:lstStyle/>
          <a:p>
            <a:endParaRPr lang="fr-FR" dirty="0"/>
          </a:p>
        </p:txBody>
      </p:sp>
      <p:sp>
        <p:nvSpPr>
          <p:cNvPr id="2063" name="Line 13"/>
          <p:cNvSpPr>
            <a:spLocks noChangeShapeType="1"/>
          </p:cNvSpPr>
          <p:nvPr/>
        </p:nvSpPr>
        <p:spPr bwMode="auto">
          <a:xfrm flipV="1">
            <a:off x="5900738" y="3213100"/>
            <a:ext cx="2659062" cy="1728788"/>
          </a:xfrm>
          <a:prstGeom prst="line">
            <a:avLst/>
          </a:prstGeom>
          <a:noFill/>
          <a:ln w="9525">
            <a:solidFill>
              <a:schemeClr val="tx1"/>
            </a:solidFill>
            <a:round/>
            <a:headEnd/>
            <a:tailEnd/>
          </a:ln>
        </p:spPr>
        <p:txBody>
          <a:bodyPr/>
          <a:lstStyle/>
          <a:p>
            <a:endParaRPr lang="fr-FR" dirty="0"/>
          </a:p>
        </p:txBody>
      </p:sp>
      <p:sp>
        <p:nvSpPr>
          <p:cNvPr id="2064" name="Oval 14"/>
          <p:cNvSpPr>
            <a:spLocks noChangeArrowheads="1"/>
          </p:cNvSpPr>
          <p:nvPr/>
        </p:nvSpPr>
        <p:spPr bwMode="auto">
          <a:xfrm rot="-2123323">
            <a:off x="7921625" y="2073275"/>
            <a:ext cx="731838" cy="1223963"/>
          </a:xfrm>
          <a:prstGeom prst="ellipse">
            <a:avLst/>
          </a:prstGeom>
          <a:solidFill>
            <a:schemeClr val="accent1"/>
          </a:solidFill>
          <a:ln w="9525">
            <a:solidFill>
              <a:schemeClr val="tx1"/>
            </a:solidFill>
            <a:round/>
            <a:headEnd/>
            <a:tailEnd/>
          </a:ln>
        </p:spPr>
        <p:txBody>
          <a:bodyPr wrap="none" anchor="ctr"/>
          <a:lstStyle/>
          <a:p>
            <a:endParaRPr lang="fr-FR" dirty="0"/>
          </a:p>
        </p:txBody>
      </p:sp>
      <p:sp>
        <p:nvSpPr>
          <p:cNvPr id="2065" name="Line 15"/>
          <p:cNvSpPr>
            <a:spLocks noChangeShapeType="1"/>
          </p:cNvSpPr>
          <p:nvPr/>
        </p:nvSpPr>
        <p:spPr bwMode="auto">
          <a:xfrm flipV="1">
            <a:off x="5835650" y="2708275"/>
            <a:ext cx="2459038" cy="2305050"/>
          </a:xfrm>
          <a:prstGeom prst="line">
            <a:avLst/>
          </a:prstGeom>
          <a:noFill/>
          <a:ln w="9525">
            <a:solidFill>
              <a:schemeClr val="tx1"/>
            </a:solidFill>
            <a:prstDash val="dash"/>
            <a:round/>
            <a:headEnd/>
            <a:tailEnd/>
          </a:ln>
        </p:spPr>
        <p:txBody>
          <a:bodyPr/>
          <a:lstStyle/>
          <a:p>
            <a:endParaRPr lang="fr-FR" dirty="0"/>
          </a:p>
        </p:txBody>
      </p:sp>
      <p:sp>
        <p:nvSpPr>
          <p:cNvPr id="2066" name="Text Box 16"/>
          <p:cNvSpPr txBox="1">
            <a:spLocks noChangeArrowheads="1"/>
          </p:cNvSpPr>
          <p:nvPr/>
        </p:nvSpPr>
        <p:spPr bwMode="auto">
          <a:xfrm>
            <a:off x="8408988" y="3325813"/>
            <a:ext cx="531812" cy="519112"/>
          </a:xfrm>
          <a:prstGeom prst="rect">
            <a:avLst/>
          </a:prstGeom>
          <a:noFill/>
          <a:ln w="9525">
            <a:noFill/>
            <a:miter lim="800000"/>
            <a:headEnd/>
            <a:tailEnd/>
          </a:ln>
        </p:spPr>
        <p:txBody>
          <a:bodyPr wrap="none">
            <a:spAutoFit/>
          </a:bodyPr>
          <a:lstStyle/>
          <a:p>
            <a:pPr eaLnBrk="0" hangingPunct="0"/>
            <a:r>
              <a:rPr lang="fr-FR" sz="2800" b="1" dirty="0">
                <a:latin typeface="Helvetica" pitchFamily="34" charset="0"/>
              </a:rPr>
              <a:t>N</a:t>
            </a:r>
            <a:r>
              <a:rPr lang="fr-FR" sz="2800" b="1" baseline="-25000" dirty="0">
                <a:latin typeface="Helvetica" pitchFamily="34" charset="0"/>
              </a:rPr>
              <a:t>s</a:t>
            </a:r>
          </a:p>
        </p:txBody>
      </p:sp>
      <p:sp>
        <p:nvSpPr>
          <p:cNvPr id="2067" name="Text Box 17"/>
          <p:cNvSpPr txBox="1">
            <a:spLocks noChangeArrowheads="1"/>
          </p:cNvSpPr>
          <p:nvPr/>
        </p:nvSpPr>
        <p:spPr bwMode="auto">
          <a:xfrm>
            <a:off x="4970463" y="4724400"/>
            <a:ext cx="388937" cy="519113"/>
          </a:xfrm>
          <a:prstGeom prst="rect">
            <a:avLst/>
          </a:prstGeom>
          <a:noFill/>
          <a:ln w="9525">
            <a:noFill/>
            <a:miter lim="800000"/>
            <a:headEnd/>
            <a:tailEnd/>
          </a:ln>
        </p:spPr>
        <p:txBody>
          <a:bodyPr wrap="none">
            <a:spAutoFit/>
          </a:bodyPr>
          <a:lstStyle/>
          <a:p>
            <a:pPr eaLnBrk="0" hangingPunct="0"/>
            <a:r>
              <a:rPr lang="fr-FR" sz="2800" dirty="0">
                <a:latin typeface="Helvetica" pitchFamily="34" charset="0"/>
              </a:rPr>
              <a:t>A</a:t>
            </a:r>
          </a:p>
        </p:txBody>
      </p:sp>
      <p:sp>
        <p:nvSpPr>
          <p:cNvPr id="2068" name="Line 18"/>
          <p:cNvSpPr>
            <a:spLocks noChangeShapeType="1"/>
          </p:cNvSpPr>
          <p:nvPr/>
        </p:nvSpPr>
        <p:spPr bwMode="auto">
          <a:xfrm>
            <a:off x="5038725" y="4581525"/>
            <a:ext cx="863600" cy="215900"/>
          </a:xfrm>
          <a:prstGeom prst="line">
            <a:avLst/>
          </a:prstGeom>
          <a:noFill/>
          <a:ln w="9525">
            <a:solidFill>
              <a:schemeClr val="tx1"/>
            </a:solidFill>
            <a:round/>
            <a:headEnd/>
            <a:tailEnd/>
          </a:ln>
        </p:spPr>
        <p:txBody>
          <a:bodyPr/>
          <a:lstStyle/>
          <a:p>
            <a:endParaRPr lang="fr-FR" dirty="0"/>
          </a:p>
        </p:txBody>
      </p:sp>
      <p:sp>
        <p:nvSpPr>
          <p:cNvPr id="2069" name="Line 19"/>
          <p:cNvSpPr>
            <a:spLocks noChangeShapeType="1"/>
          </p:cNvSpPr>
          <p:nvPr/>
        </p:nvSpPr>
        <p:spPr bwMode="auto">
          <a:xfrm>
            <a:off x="5835650" y="4797425"/>
            <a:ext cx="0" cy="865188"/>
          </a:xfrm>
          <a:prstGeom prst="line">
            <a:avLst/>
          </a:prstGeom>
          <a:noFill/>
          <a:ln w="9525">
            <a:solidFill>
              <a:schemeClr val="tx1"/>
            </a:solidFill>
            <a:round/>
            <a:headEnd/>
            <a:tailEnd/>
          </a:ln>
        </p:spPr>
        <p:txBody>
          <a:bodyPr/>
          <a:lstStyle/>
          <a:p>
            <a:endParaRPr lang="fr-FR" dirty="0"/>
          </a:p>
        </p:txBody>
      </p:sp>
      <p:sp>
        <p:nvSpPr>
          <p:cNvPr id="2070" name="Oval 20"/>
          <p:cNvSpPr>
            <a:spLocks noChangeArrowheads="1"/>
          </p:cNvSpPr>
          <p:nvPr/>
        </p:nvSpPr>
        <p:spPr bwMode="auto">
          <a:xfrm>
            <a:off x="5502275" y="5013325"/>
            <a:ext cx="200025" cy="215900"/>
          </a:xfrm>
          <a:prstGeom prst="ellipse">
            <a:avLst/>
          </a:prstGeom>
          <a:solidFill>
            <a:srgbClr val="FFFF99"/>
          </a:solidFill>
          <a:ln w="9525">
            <a:solidFill>
              <a:schemeClr val="tx1"/>
            </a:solidFill>
            <a:round/>
            <a:headEnd/>
            <a:tailEnd/>
          </a:ln>
        </p:spPr>
        <p:txBody>
          <a:bodyPr wrap="none" anchor="ctr"/>
          <a:lstStyle/>
          <a:p>
            <a:endParaRPr lang="fr-FR" dirty="0"/>
          </a:p>
        </p:txBody>
      </p:sp>
      <p:sp>
        <p:nvSpPr>
          <p:cNvPr id="2071" name="Text Box 21"/>
          <p:cNvSpPr txBox="1">
            <a:spLocks noChangeArrowheads="1"/>
          </p:cNvSpPr>
          <p:nvPr/>
        </p:nvSpPr>
        <p:spPr bwMode="auto">
          <a:xfrm>
            <a:off x="4371975" y="4149725"/>
            <a:ext cx="517525" cy="396875"/>
          </a:xfrm>
          <a:prstGeom prst="rect">
            <a:avLst/>
          </a:prstGeom>
          <a:noFill/>
          <a:ln w="9525">
            <a:noFill/>
            <a:miter lim="800000"/>
            <a:headEnd/>
            <a:tailEnd/>
          </a:ln>
        </p:spPr>
        <p:txBody>
          <a:bodyPr>
            <a:spAutoFit/>
          </a:bodyPr>
          <a:lstStyle/>
          <a:p>
            <a:pPr eaLnBrk="0" hangingPunct="0"/>
            <a:r>
              <a:rPr lang="fr-FR" sz="2000" b="1" dirty="0" err="1">
                <a:latin typeface="Times" pitchFamily="18" charset="0"/>
              </a:rPr>
              <a:t>d</a:t>
            </a:r>
            <a:r>
              <a:rPr lang="fr-FR" sz="2000" b="1" dirty="0" err="1">
                <a:latin typeface="Helvetica" pitchFamily="34" charset="0"/>
              </a:rPr>
              <a:t>x</a:t>
            </a:r>
            <a:endParaRPr lang="fr-FR" sz="2000" b="1">
              <a:latin typeface="Helvetica" pitchFamily="34" charset="0"/>
            </a:endParaRPr>
          </a:p>
        </p:txBody>
      </p:sp>
      <p:sp>
        <p:nvSpPr>
          <p:cNvPr id="2072" name="Line 22"/>
          <p:cNvSpPr>
            <a:spLocks noChangeShapeType="1"/>
          </p:cNvSpPr>
          <p:nvPr/>
        </p:nvSpPr>
        <p:spPr bwMode="auto">
          <a:xfrm flipH="1">
            <a:off x="4772025" y="4365625"/>
            <a:ext cx="331788" cy="215900"/>
          </a:xfrm>
          <a:prstGeom prst="line">
            <a:avLst/>
          </a:prstGeom>
          <a:noFill/>
          <a:ln w="28575">
            <a:solidFill>
              <a:schemeClr val="tx1"/>
            </a:solidFill>
            <a:round/>
            <a:headEnd type="triangle" w="med" len="med"/>
            <a:tailEnd type="triangle" w="med" len="med"/>
          </a:ln>
        </p:spPr>
        <p:txBody>
          <a:bodyPr/>
          <a:lstStyle/>
          <a:p>
            <a:endParaRPr lang="fr-FR"/>
          </a:p>
        </p:txBody>
      </p:sp>
      <p:graphicFrame>
        <p:nvGraphicFramePr>
          <p:cNvPr id="2052" name="Object 23"/>
          <p:cNvGraphicFramePr>
            <a:graphicFrameLocks noGrp="1" noChangeAspect="1"/>
          </p:cNvGraphicFramePr>
          <p:nvPr>
            <p:ph sz="quarter" idx="3"/>
          </p:nvPr>
        </p:nvGraphicFramePr>
        <p:xfrm>
          <a:off x="6115050" y="5373688"/>
          <a:ext cx="3028950" cy="1125537"/>
        </p:xfrm>
        <a:graphic>
          <a:graphicData uri="http://schemas.openxmlformats.org/presentationml/2006/ole">
            <p:oleObj spid="_x0000_s2052" name="Equation" r:id="rId6" imgW="1333440" imgH="457200" progId="Equation.3">
              <p:embed/>
            </p:oleObj>
          </a:graphicData>
        </a:graphic>
      </p:graphicFrame>
      <p:sp>
        <p:nvSpPr>
          <p:cNvPr id="2073" name="Text Box 24"/>
          <p:cNvSpPr txBox="1">
            <a:spLocks noChangeArrowheads="1"/>
          </p:cNvSpPr>
          <p:nvPr/>
        </p:nvSpPr>
        <p:spPr bwMode="auto">
          <a:xfrm>
            <a:off x="7961313" y="2219325"/>
            <a:ext cx="655637" cy="519113"/>
          </a:xfrm>
          <a:prstGeom prst="rect">
            <a:avLst/>
          </a:prstGeom>
          <a:noFill/>
          <a:ln w="9525">
            <a:noFill/>
            <a:miter lim="800000"/>
            <a:headEnd/>
            <a:tailEnd/>
          </a:ln>
        </p:spPr>
        <p:txBody>
          <a:bodyPr wrap="none">
            <a:spAutoFit/>
          </a:bodyPr>
          <a:lstStyle/>
          <a:p>
            <a:pPr eaLnBrk="0" hangingPunct="0"/>
            <a:r>
              <a:rPr lang="fr-FR" sz="2800">
                <a:latin typeface="Helvetica" pitchFamily="34" charset="0"/>
              </a:rPr>
              <a:t>d</a:t>
            </a:r>
            <a:r>
              <a:rPr lang="fr-FR" sz="2800">
                <a:latin typeface="MT Symbol" pitchFamily="82" charset="2"/>
              </a:rPr>
              <a:t>W</a:t>
            </a:r>
          </a:p>
        </p:txBody>
      </p:sp>
      <p:sp>
        <p:nvSpPr>
          <p:cNvPr id="2074" name="Text Box 25"/>
          <p:cNvSpPr txBox="1">
            <a:spLocks noChangeArrowheads="1"/>
          </p:cNvSpPr>
          <p:nvPr/>
        </p:nvSpPr>
        <p:spPr bwMode="auto">
          <a:xfrm>
            <a:off x="5003800" y="3644900"/>
            <a:ext cx="1873250" cy="396875"/>
          </a:xfrm>
          <a:prstGeom prst="rect">
            <a:avLst/>
          </a:prstGeom>
          <a:noFill/>
          <a:ln w="9525">
            <a:noFill/>
            <a:miter lim="800000"/>
            <a:headEnd/>
            <a:tailEnd/>
          </a:ln>
        </p:spPr>
        <p:txBody>
          <a:bodyPr>
            <a:spAutoFit/>
          </a:bodyPr>
          <a:lstStyle/>
          <a:p>
            <a:pPr eaLnBrk="0" hangingPunct="0"/>
            <a:r>
              <a:rPr lang="fr-FR" sz="2000" b="1">
                <a:solidFill>
                  <a:schemeClr val="accent2"/>
                </a:solidFill>
                <a:latin typeface="Helvetica" pitchFamily="34" charset="0"/>
              </a:rPr>
              <a:t>noyau cible</a:t>
            </a:r>
          </a:p>
        </p:txBody>
      </p:sp>
      <p:sp>
        <p:nvSpPr>
          <p:cNvPr id="2075" name="Text Box 26"/>
          <p:cNvSpPr txBox="1">
            <a:spLocks noChangeArrowheads="1"/>
          </p:cNvSpPr>
          <p:nvPr/>
        </p:nvSpPr>
        <p:spPr bwMode="auto">
          <a:xfrm>
            <a:off x="0" y="3643314"/>
            <a:ext cx="4429124" cy="2554545"/>
          </a:xfrm>
          <a:prstGeom prst="rect">
            <a:avLst/>
          </a:prstGeom>
          <a:noFill/>
          <a:ln w="9525">
            <a:noFill/>
            <a:miter lim="800000"/>
            <a:headEnd/>
            <a:tailEnd/>
          </a:ln>
        </p:spPr>
        <p:txBody>
          <a:bodyPr wrap="square">
            <a:spAutoFit/>
          </a:bodyPr>
          <a:lstStyle/>
          <a:p>
            <a:pPr eaLnBrk="0" hangingPunct="0"/>
            <a:r>
              <a:rPr lang="fr-FR" sz="2000" b="1" dirty="0">
                <a:latin typeface="Helvetica" pitchFamily="34" charset="0"/>
              </a:rPr>
              <a:t>N densité de centres diffuseurs</a:t>
            </a:r>
          </a:p>
          <a:p>
            <a:pPr eaLnBrk="0" hangingPunct="0"/>
            <a:r>
              <a:rPr lang="fr-FR" sz="2000" b="1" dirty="0" err="1">
                <a:latin typeface="Times" pitchFamily="18" charset="0"/>
              </a:rPr>
              <a:t>d</a:t>
            </a:r>
            <a:r>
              <a:rPr lang="fr-FR" sz="2000" b="1" dirty="0" err="1">
                <a:latin typeface="Helvetica" pitchFamily="34" charset="0"/>
              </a:rPr>
              <a:t>x</a:t>
            </a:r>
            <a:r>
              <a:rPr lang="fr-FR" sz="2000" b="1" dirty="0">
                <a:latin typeface="Helvetica" pitchFamily="34" charset="0"/>
              </a:rPr>
              <a:t> épaisseur de matériau traversé</a:t>
            </a:r>
          </a:p>
          <a:p>
            <a:pPr eaLnBrk="0" hangingPunct="0"/>
            <a:r>
              <a:rPr lang="fr-FR" sz="2000" b="1" dirty="0" smtClean="0">
                <a:latin typeface="Helvetica" pitchFamily="34" charset="0"/>
              </a:rPr>
              <a:t>parallèle </a:t>
            </a:r>
            <a:r>
              <a:rPr lang="fr-FR" sz="2000" b="1" dirty="0">
                <a:latin typeface="Helvetica" pitchFamily="34" charset="0"/>
              </a:rPr>
              <a:t>au faisceau incident </a:t>
            </a:r>
          </a:p>
          <a:p>
            <a:pPr eaLnBrk="0" hangingPunct="0"/>
            <a:r>
              <a:rPr lang="fr-FR" sz="2000" b="1" dirty="0">
                <a:latin typeface="Helvetica" pitchFamily="34" charset="0"/>
              </a:rPr>
              <a:t>N </a:t>
            </a:r>
            <a:r>
              <a:rPr lang="fr-FR" sz="2000" b="1" dirty="0" err="1">
                <a:latin typeface="Times" pitchFamily="18" charset="0"/>
              </a:rPr>
              <a:t>d</a:t>
            </a:r>
            <a:r>
              <a:rPr lang="fr-FR" sz="2000" b="1" dirty="0" err="1">
                <a:latin typeface="Helvetica" pitchFamily="34" charset="0"/>
              </a:rPr>
              <a:t>x</a:t>
            </a:r>
            <a:r>
              <a:rPr lang="fr-FR" sz="2000" b="1" dirty="0">
                <a:latin typeface="Helvetica" pitchFamily="34" charset="0"/>
              </a:rPr>
              <a:t> : nombre de site de noyaux</a:t>
            </a:r>
          </a:p>
          <a:p>
            <a:pPr eaLnBrk="0" hangingPunct="0"/>
            <a:r>
              <a:rPr lang="fr-FR" sz="2000" b="1" dirty="0">
                <a:latin typeface="Helvetica" pitchFamily="34" charset="0"/>
              </a:rPr>
              <a:t>diffuseurs vus par unité de surface</a:t>
            </a:r>
          </a:p>
          <a:p>
            <a:pPr eaLnBrk="0" hangingPunct="0"/>
            <a:r>
              <a:rPr lang="fr-FR" sz="2000" b="1" dirty="0" smtClean="0">
                <a:latin typeface="Helvetica" pitchFamily="34" charset="0"/>
              </a:rPr>
              <a:t>perpendiculaire </a:t>
            </a:r>
            <a:r>
              <a:rPr lang="fr-FR" sz="2000" b="1" dirty="0">
                <a:latin typeface="Helvetica" pitchFamily="34" charset="0"/>
              </a:rPr>
              <a:t>au faisceau</a:t>
            </a:r>
          </a:p>
          <a:p>
            <a:pPr eaLnBrk="0" hangingPunct="0"/>
            <a:r>
              <a:rPr lang="fr-FR" sz="2000" b="1" dirty="0">
                <a:latin typeface="Helvetica" pitchFamily="34" charset="0"/>
              </a:rPr>
              <a:t>A surface perpendiculaire à la </a:t>
            </a:r>
          </a:p>
          <a:p>
            <a:pPr eaLnBrk="0" hangingPunct="0"/>
            <a:r>
              <a:rPr lang="fr-FR" sz="2000" b="1" dirty="0">
                <a:latin typeface="Helvetica" pitchFamily="34" charset="0"/>
              </a:rPr>
              <a:t>cible</a:t>
            </a:r>
          </a:p>
        </p:txBody>
      </p:sp>
      <p:sp>
        <p:nvSpPr>
          <p:cNvPr id="2076" name="Line 27"/>
          <p:cNvSpPr>
            <a:spLocks noChangeShapeType="1"/>
          </p:cNvSpPr>
          <p:nvPr/>
        </p:nvSpPr>
        <p:spPr bwMode="auto">
          <a:xfrm flipH="1">
            <a:off x="5635625" y="4292600"/>
            <a:ext cx="131763" cy="720725"/>
          </a:xfrm>
          <a:prstGeom prst="line">
            <a:avLst/>
          </a:prstGeom>
          <a:noFill/>
          <a:ln w="38100">
            <a:solidFill>
              <a:srgbClr val="FF0066"/>
            </a:solidFill>
            <a:round/>
            <a:headEnd/>
            <a:tailEnd type="triangle" w="med" len="med"/>
          </a:ln>
        </p:spPr>
        <p:txBody>
          <a:bodyPr/>
          <a:lstStyle/>
          <a:p>
            <a:endParaRPr lang="fr-F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Espace réservé du numéro de diapositive 6"/>
          <p:cNvSpPr>
            <a:spLocks noGrp="1"/>
          </p:cNvSpPr>
          <p:nvPr>
            <p:ph type="sldNum" sz="quarter" idx="12"/>
          </p:nvPr>
        </p:nvSpPr>
        <p:spPr/>
        <p:txBody>
          <a:bodyPr/>
          <a:lstStyle/>
          <a:p>
            <a:pPr>
              <a:defRPr/>
            </a:pPr>
            <a:fld id="{919F51AB-9FF1-4D6D-86E8-23EFD8B86D1A}" type="slidenum">
              <a:rPr lang="fr-FR"/>
              <a:pPr>
                <a:defRPr/>
              </a:pPr>
              <a:t>6</a:t>
            </a:fld>
            <a:endParaRPr lang="fr-FR"/>
          </a:p>
        </p:txBody>
      </p:sp>
      <p:graphicFrame>
        <p:nvGraphicFramePr>
          <p:cNvPr id="3074" name="Object 3"/>
          <p:cNvGraphicFramePr>
            <a:graphicFrameLocks noGrp="1" noChangeAspect="1"/>
          </p:cNvGraphicFramePr>
          <p:nvPr>
            <p:ph sz="half" idx="1"/>
          </p:nvPr>
        </p:nvGraphicFramePr>
        <p:xfrm>
          <a:off x="1714500" y="1857364"/>
          <a:ext cx="4440735" cy="2027249"/>
        </p:xfrm>
        <a:graphic>
          <a:graphicData uri="http://schemas.openxmlformats.org/presentationml/2006/ole">
            <p:oleObj spid="_x0000_s3074" name="Equation" r:id="rId3" imgW="1536480" imgH="647640" progId="Equation.3">
              <p:embed/>
            </p:oleObj>
          </a:graphicData>
        </a:graphic>
      </p:graphicFrame>
      <p:sp>
        <p:nvSpPr>
          <p:cNvPr id="3078" name="Text Box 4"/>
          <p:cNvSpPr txBox="1">
            <a:spLocks noChangeArrowheads="1"/>
          </p:cNvSpPr>
          <p:nvPr/>
        </p:nvSpPr>
        <p:spPr bwMode="auto">
          <a:xfrm>
            <a:off x="0" y="214291"/>
            <a:ext cx="9020175" cy="1938992"/>
          </a:xfrm>
          <a:prstGeom prst="rect">
            <a:avLst/>
          </a:prstGeom>
          <a:noFill/>
          <a:ln w="9525">
            <a:noFill/>
            <a:miter lim="800000"/>
            <a:headEnd/>
            <a:tailEnd/>
          </a:ln>
        </p:spPr>
        <p:txBody>
          <a:bodyPr wrap="square">
            <a:spAutoFit/>
          </a:bodyPr>
          <a:lstStyle/>
          <a:p>
            <a:pPr eaLnBrk="0" hangingPunct="0"/>
            <a:r>
              <a:rPr lang="fr-FR" sz="2000" b="1" dirty="0">
                <a:latin typeface="Helvetica" pitchFamily="34" charset="0"/>
              </a:rPr>
              <a:t>Le nombre de particules incidentes </a:t>
            </a:r>
            <a:r>
              <a:rPr lang="fr-FR" sz="2000" b="1" dirty="0" smtClean="0">
                <a:latin typeface="Helvetica" pitchFamily="34" charset="0"/>
              </a:rPr>
              <a:t>susceptibles </a:t>
            </a:r>
            <a:r>
              <a:rPr lang="fr-FR" sz="2000" b="1" dirty="0">
                <a:latin typeface="Helvetica" pitchFamily="34" charset="0"/>
              </a:rPr>
              <a:t>d’avoir une interaction </a:t>
            </a:r>
          </a:p>
          <a:p>
            <a:pPr eaLnBrk="0" hangingPunct="0"/>
            <a:r>
              <a:rPr lang="fr-FR" sz="2000" b="1" dirty="0">
                <a:latin typeface="Helvetica" pitchFamily="34" charset="0"/>
              </a:rPr>
              <a:t>est : </a:t>
            </a:r>
            <a:r>
              <a:rPr lang="fr-FR" sz="2000" b="1" i="1" dirty="0">
                <a:latin typeface="Helvetica" pitchFamily="34" charset="0"/>
              </a:rPr>
              <a:t>F. A</a:t>
            </a:r>
          </a:p>
          <a:p>
            <a:pPr eaLnBrk="0" hangingPunct="0"/>
            <a:r>
              <a:rPr lang="fr-FR" sz="2000" b="1" dirty="0">
                <a:latin typeface="Helvetica" pitchFamily="34" charset="0"/>
              </a:rPr>
              <a:t>si le faisceau est plus large que la surface de la cible, le nombre moyen</a:t>
            </a:r>
          </a:p>
          <a:p>
            <a:pPr eaLnBrk="0" hangingPunct="0"/>
            <a:r>
              <a:rPr lang="fr-FR" sz="2000" b="1" dirty="0">
                <a:latin typeface="Helvetica" pitchFamily="34" charset="0"/>
              </a:rPr>
              <a:t>de noyaux incidents diffusés par unité de temps est :</a:t>
            </a:r>
          </a:p>
          <a:p>
            <a:pPr eaLnBrk="0" hangingPunct="0"/>
            <a:endParaRPr lang="fr-FR" sz="2000" b="1" dirty="0">
              <a:latin typeface="Helvetica" pitchFamily="34" charset="0"/>
            </a:endParaRPr>
          </a:p>
          <a:p>
            <a:pPr eaLnBrk="0" hangingPunct="0"/>
            <a:endParaRPr lang="fr-FR" sz="2000" dirty="0">
              <a:latin typeface="Helvetica" pitchFamily="34" charset="0"/>
            </a:endParaRPr>
          </a:p>
        </p:txBody>
      </p:sp>
      <p:sp>
        <p:nvSpPr>
          <p:cNvPr id="3079" name="Text Box 5"/>
          <p:cNvSpPr txBox="1">
            <a:spLocks noChangeArrowheads="1"/>
          </p:cNvSpPr>
          <p:nvPr/>
        </p:nvSpPr>
        <p:spPr bwMode="auto">
          <a:xfrm>
            <a:off x="0" y="4149725"/>
            <a:ext cx="9144000" cy="1311275"/>
          </a:xfrm>
          <a:prstGeom prst="rect">
            <a:avLst/>
          </a:prstGeom>
          <a:noFill/>
          <a:ln w="9525">
            <a:noFill/>
            <a:miter lim="800000"/>
            <a:headEnd/>
            <a:tailEnd/>
          </a:ln>
        </p:spPr>
        <p:txBody>
          <a:bodyPr>
            <a:spAutoFit/>
          </a:bodyPr>
          <a:lstStyle/>
          <a:p>
            <a:pPr eaLnBrk="0" hangingPunct="0"/>
            <a:r>
              <a:rPr lang="fr-FR" sz="2000" b="1">
                <a:latin typeface="Helvetica" pitchFamily="34" charset="0"/>
              </a:rPr>
              <a:t>soit pour une seule particule diffusée, la probabilité d’interaction dans une épaisseur </a:t>
            </a:r>
            <a:r>
              <a:rPr lang="fr-FR" sz="2000" b="1">
                <a:latin typeface="Times" pitchFamily="18" charset="0"/>
              </a:rPr>
              <a:t>d</a:t>
            </a:r>
            <a:r>
              <a:rPr lang="fr-FR" sz="2000" b="1">
                <a:latin typeface="Helvetica" pitchFamily="34" charset="0"/>
              </a:rPr>
              <a:t>x peut être exprimée par la quantité :</a:t>
            </a:r>
          </a:p>
          <a:p>
            <a:pPr eaLnBrk="0" hangingPunct="0"/>
            <a:endParaRPr lang="fr-FR" sz="2000" b="1">
              <a:latin typeface="Helvetica" pitchFamily="34" charset="0"/>
            </a:endParaRPr>
          </a:p>
          <a:p>
            <a:pPr eaLnBrk="0" hangingPunct="0"/>
            <a:endParaRPr lang="fr-FR" sz="2000">
              <a:latin typeface="Helvetica" pitchFamily="34" charset="0"/>
            </a:endParaRPr>
          </a:p>
        </p:txBody>
      </p:sp>
      <p:graphicFrame>
        <p:nvGraphicFramePr>
          <p:cNvPr id="3075" name="Object 6"/>
          <p:cNvGraphicFramePr>
            <a:graphicFrameLocks noGrp="1" noChangeAspect="1"/>
          </p:cNvGraphicFramePr>
          <p:nvPr>
            <p:ph sz="half" idx="2"/>
          </p:nvPr>
        </p:nvGraphicFramePr>
        <p:xfrm>
          <a:off x="2844800" y="4868863"/>
          <a:ext cx="1985963" cy="717550"/>
        </p:xfrm>
        <a:graphic>
          <a:graphicData uri="http://schemas.openxmlformats.org/presentationml/2006/ole">
            <p:oleObj spid="_x0000_s3075" name="Equation" r:id="rId4" imgW="571320" imgH="190440" progId="Equation.3">
              <p:embed/>
            </p:oleObj>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Espace réservé du numéro de diapositive 5"/>
          <p:cNvSpPr>
            <a:spLocks noGrp="1"/>
          </p:cNvSpPr>
          <p:nvPr>
            <p:ph type="sldNum" sz="quarter" idx="12"/>
          </p:nvPr>
        </p:nvSpPr>
        <p:spPr/>
        <p:txBody>
          <a:bodyPr/>
          <a:lstStyle/>
          <a:p>
            <a:pPr>
              <a:defRPr/>
            </a:pPr>
            <a:fld id="{C549B83A-D98D-4AAC-AFD0-F9B0A5F71E12}" type="slidenum">
              <a:rPr lang="fr-FR"/>
              <a:pPr>
                <a:defRPr/>
              </a:pPr>
              <a:t>7</a:t>
            </a:fld>
            <a:endParaRPr lang="fr-FR"/>
          </a:p>
        </p:txBody>
      </p:sp>
      <p:sp>
        <p:nvSpPr>
          <p:cNvPr id="24579" name="Rectangle 2"/>
          <p:cNvSpPr>
            <a:spLocks noGrp="1" noChangeArrowheads="1"/>
          </p:cNvSpPr>
          <p:nvPr>
            <p:ph type="title"/>
          </p:nvPr>
        </p:nvSpPr>
        <p:spPr>
          <a:xfrm>
            <a:off x="0" y="0"/>
            <a:ext cx="8812213" cy="1554163"/>
          </a:xfrm>
        </p:spPr>
        <p:txBody>
          <a:bodyPr/>
          <a:lstStyle/>
          <a:p>
            <a:pPr eaLnBrk="1" hangingPunct="1">
              <a:defRPr/>
            </a:pPr>
            <a:r>
              <a:rPr lang="fr-FR" sz="4000" dirty="0" smtClean="0">
                <a:solidFill>
                  <a:srgbClr val="FF0000"/>
                </a:solidFill>
              </a:rPr>
              <a:t>1.3 Généralités sur les rayonnements </a:t>
            </a:r>
          </a:p>
        </p:txBody>
      </p:sp>
      <p:pic>
        <p:nvPicPr>
          <p:cNvPr id="9220" name="Picture 3" descr="penetration"/>
          <p:cNvPicPr>
            <a:picLocks noGrp="1" noChangeAspect="1" noChangeArrowheads="1"/>
          </p:cNvPicPr>
          <p:nvPr>
            <p:ph idx="1"/>
          </p:nvPr>
        </p:nvPicPr>
        <p:blipFill>
          <a:blip r:embed="rId2"/>
          <a:srcRect/>
          <a:stretch>
            <a:fillRect/>
          </a:stretch>
        </p:blipFill>
        <p:spPr>
          <a:xfrm>
            <a:off x="717550" y="2276475"/>
            <a:ext cx="6640513" cy="3189288"/>
          </a:xfrm>
          <a:noFill/>
        </p:spPr>
      </p:pic>
      <p:sp>
        <p:nvSpPr>
          <p:cNvPr id="9221" name="Text Box 4"/>
          <p:cNvSpPr txBox="1">
            <a:spLocks noChangeArrowheads="1"/>
          </p:cNvSpPr>
          <p:nvPr/>
        </p:nvSpPr>
        <p:spPr bwMode="auto">
          <a:xfrm>
            <a:off x="1960563" y="1668463"/>
            <a:ext cx="5032375" cy="519112"/>
          </a:xfrm>
          <a:prstGeom prst="rect">
            <a:avLst/>
          </a:prstGeom>
          <a:noFill/>
          <a:ln w="9525">
            <a:noFill/>
            <a:miter lim="800000"/>
            <a:headEnd/>
            <a:tailEnd/>
          </a:ln>
        </p:spPr>
        <p:txBody>
          <a:bodyPr wrap="none">
            <a:spAutoFit/>
          </a:bodyPr>
          <a:lstStyle/>
          <a:p>
            <a:pPr eaLnBrk="0" hangingPunct="0"/>
            <a:r>
              <a:rPr lang="fr-FR" sz="2800">
                <a:latin typeface="Helvetica" pitchFamily="34" charset="0"/>
              </a:rPr>
              <a:t>différents types de rayonnements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Espace réservé du numéro de diapositive 7"/>
          <p:cNvSpPr>
            <a:spLocks noGrp="1"/>
          </p:cNvSpPr>
          <p:nvPr>
            <p:ph type="sldNum" sz="quarter" idx="12"/>
          </p:nvPr>
        </p:nvSpPr>
        <p:spPr/>
        <p:txBody>
          <a:bodyPr/>
          <a:lstStyle/>
          <a:p>
            <a:pPr>
              <a:defRPr/>
            </a:pPr>
            <a:fld id="{521005E4-C502-4138-8386-445890D552AF}" type="slidenum">
              <a:rPr lang="fr-FR"/>
              <a:pPr>
                <a:defRPr/>
              </a:pPr>
              <a:t>8</a:t>
            </a:fld>
            <a:endParaRPr lang="fr-FR"/>
          </a:p>
        </p:txBody>
      </p:sp>
      <p:sp>
        <p:nvSpPr>
          <p:cNvPr id="25603" name="Rectangle 6"/>
          <p:cNvSpPr>
            <a:spLocks noGrp="1" noChangeArrowheads="1"/>
          </p:cNvSpPr>
          <p:nvPr>
            <p:ph type="title"/>
          </p:nvPr>
        </p:nvSpPr>
        <p:spPr/>
        <p:txBody>
          <a:bodyPr/>
          <a:lstStyle/>
          <a:p>
            <a:pPr eaLnBrk="1" hangingPunct="1">
              <a:defRPr/>
            </a:pPr>
            <a:r>
              <a:rPr lang="fr-FR" smtClean="0">
                <a:solidFill>
                  <a:srgbClr val="00CC00"/>
                </a:solidFill>
              </a:rPr>
              <a:t>Rayonnements</a:t>
            </a:r>
          </a:p>
        </p:txBody>
      </p:sp>
      <p:pic>
        <p:nvPicPr>
          <p:cNvPr id="10244" name="Picture 5" descr="N2_Schema_03a"/>
          <p:cNvPicPr>
            <a:picLocks noGrp="1" noChangeAspect="1" noChangeArrowheads="1"/>
          </p:cNvPicPr>
          <p:nvPr>
            <p:ph sz="half" idx="1"/>
          </p:nvPr>
        </p:nvPicPr>
        <p:blipFill>
          <a:blip r:embed="rId2"/>
          <a:srcRect/>
          <a:stretch>
            <a:fillRect/>
          </a:stretch>
        </p:blipFill>
        <p:spPr>
          <a:xfrm>
            <a:off x="323850" y="1231900"/>
            <a:ext cx="3743325" cy="2447925"/>
          </a:xfrm>
          <a:noFill/>
        </p:spPr>
      </p:pic>
      <p:pic>
        <p:nvPicPr>
          <p:cNvPr id="10245" name="Picture 8" descr="N2_Schema_04a"/>
          <p:cNvPicPr>
            <a:picLocks noGrp="1" noChangeAspect="1" noChangeArrowheads="1"/>
          </p:cNvPicPr>
          <p:nvPr>
            <p:ph sz="quarter" idx="2"/>
          </p:nvPr>
        </p:nvPicPr>
        <p:blipFill>
          <a:blip r:embed="rId3"/>
          <a:srcRect/>
          <a:stretch>
            <a:fillRect/>
          </a:stretch>
        </p:blipFill>
        <p:spPr>
          <a:xfrm>
            <a:off x="4284663" y="1200150"/>
            <a:ext cx="3671887" cy="2520950"/>
          </a:xfrm>
          <a:noFill/>
        </p:spPr>
      </p:pic>
      <p:pic>
        <p:nvPicPr>
          <p:cNvPr id="10246" name="Picture 13" descr="N2_Schema_05a"/>
          <p:cNvPicPr>
            <a:picLocks noGrp="1" noChangeAspect="1" noChangeArrowheads="1"/>
          </p:cNvPicPr>
          <p:nvPr>
            <p:ph sz="quarter" idx="3"/>
          </p:nvPr>
        </p:nvPicPr>
        <p:blipFill>
          <a:blip r:embed="rId4"/>
          <a:srcRect/>
          <a:stretch>
            <a:fillRect/>
          </a:stretch>
        </p:blipFill>
        <p:spPr>
          <a:xfrm>
            <a:off x="4211638" y="3916363"/>
            <a:ext cx="3851275" cy="2597150"/>
          </a:xfrm>
          <a:noFill/>
        </p:spPr>
      </p:pic>
      <p:sp>
        <p:nvSpPr>
          <p:cNvPr id="10247" name="Text Box 15"/>
          <p:cNvSpPr txBox="1">
            <a:spLocks noChangeArrowheads="1"/>
          </p:cNvSpPr>
          <p:nvPr/>
        </p:nvSpPr>
        <p:spPr bwMode="auto">
          <a:xfrm>
            <a:off x="6567488" y="1144588"/>
            <a:ext cx="260350" cy="366712"/>
          </a:xfrm>
          <a:prstGeom prst="rect">
            <a:avLst/>
          </a:prstGeom>
          <a:noFill/>
          <a:ln w="9525">
            <a:noFill/>
            <a:miter lim="800000"/>
            <a:headEnd/>
            <a:tailEnd/>
          </a:ln>
        </p:spPr>
        <p:txBody>
          <a:bodyPr wrap="none">
            <a:spAutoFit/>
          </a:bodyPr>
          <a:lstStyle/>
          <a:p>
            <a:r>
              <a:rPr lang="fr-FR" b="1"/>
              <a:t>-</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ZoneTexte 7"/>
          <p:cNvSpPr txBox="1"/>
          <p:nvPr/>
        </p:nvSpPr>
        <p:spPr>
          <a:xfrm>
            <a:off x="285720" y="214290"/>
            <a:ext cx="8358246" cy="830997"/>
          </a:xfrm>
          <a:prstGeom prst="rect">
            <a:avLst/>
          </a:prstGeom>
          <a:solidFill>
            <a:srgbClr val="FFFF00"/>
          </a:solidFill>
        </p:spPr>
        <p:txBody>
          <a:bodyPr wrap="square" rtlCol="0">
            <a:spAutoFit/>
          </a:bodyPr>
          <a:lstStyle/>
          <a:p>
            <a:endParaRPr lang="fr-FR" dirty="0" smtClean="0"/>
          </a:p>
          <a:p>
            <a:endParaRPr lang="fr-FR" dirty="0"/>
          </a:p>
        </p:txBody>
      </p:sp>
      <p:sp>
        <p:nvSpPr>
          <p:cNvPr id="2" name="Titre 1"/>
          <p:cNvSpPr>
            <a:spLocks noGrp="1"/>
          </p:cNvSpPr>
          <p:nvPr>
            <p:ph type="title"/>
          </p:nvPr>
        </p:nvSpPr>
        <p:spPr/>
        <p:txBody>
          <a:bodyPr/>
          <a:lstStyle/>
          <a:p>
            <a:pPr>
              <a:defRPr/>
            </a:pPr>
            <a:endParaRPr lang="fr-FR"/>
          </a:p>
        </p:txBody>
      </p:sp>
      <p:sp>
        <p:nvSpPr>
          <p:cNvPr id="3" name="Espace réservé du contenu 2"/>
          <p:cNvSpPr>
            <a:spLocks noGrp="1"/>
          </p:cNvSpPr>
          <p:nvPr>
            <p:ph sz="half" idx="1"/>
          </p:nvPr>
        </p:nvSpPr>
        <p:spPr/>
        <p:txBody>
          <a:bodyPr/>
          <a:lstStyle/>
          <a:p>
            <a:pPr>
              <a:defRPr/>
            </a:pPr>
            <a:endParaRPr lang="fr-FR"/>
          </a:p>
        </p:txBody>
      </p:sp>
      <p:sp>
        <p:nvSpPr>
          <p:cNvPr id="4" name="Espace réservé du contenu 3"/>
          <p:cNvSpPr>
            <a:spLocks noGrp="1"/>
          </p:cNvSpPr>
          <p:nvPr>
            <p:ph sz="quarter" idx="2"/>
          </p:nvPr>
        </p:nvSpPr>
        <p:spPr/>
        <p:txBody>
          <a:bodyPr/>
          <a:lstStyle/>
          <a:p>
            <a:pPr>
              <a:defRPr/>
            </a:pPr>
            <a:endParaRPr lang="fr-FR"/>
          </a:p>
        </p:txBody>
      </p:sp>
      <p:sp>
        <p:nvSpPr>
          <p:cNvPr id="5" name="Espace réservé du contenu 4"/>
          <p:cNvSpPr>
            <a:spLocks noGrp="1"/>
          </p:cNvSpPr>
          <p:nvPr>
            <p:ph sz="quarter" idx="3"/>
          </p:nvPr>
        </p:nvSpPr>
        <p:spPr/>
        <p:txBody>
          <a:bodyPr/>
          <a:lstStyle/>
          <a:p>
            <a:pPr>
              <a:defRPr/>
            </a:pPr>
            <a:endParaRPr lang="fr-FR"/>
          </a:p>
        </p:txBody>
      </p:sp>
      <p:sp>
        <p:nvSpPr>
          <p:cNvPr id="6" name="Espace réservé du pied de page 5"/>
          <p:cNvSpPr>
            <a:spLocks noGrp="1"/>
          </p:cNvSpPr>
          <p:nvPr>
            <p:ph type="ftr" sz="quarter" idx="11"/>
          </p:nvPr>
        </p:nvSpPr>
        <p:spPr/>
        <p:txBody>
          <a:bodyPr/>
          <a:lstStyle/>
          <a:p>
            <a:pPr>
              <a:defRPr/>
            </a:pPr>
            <a:endParaRPr lang="fr-FR"/>
          </a:p>
        </p:txBody>
      </p:sp>
      <p:pic>
        <p:nvPicPr>
          <p:cNvPr id="11271" name="Picture 2"/>
          <p:cNvPicPr>
            <a:picLocks noChangeAspect="1" noChangeArrowheads="1"/>
          </p:cNvPicPr>
          <p:nvPr/>
        </p:nvPicPr>
        <p:blipFill>
          <a:blip r:embed="rId2"/>
          <a:srcRect/>
          <a:stretch>
            <a:fillRect/>
          </a:stretch>
        </p:blipFill>
        <p:spPr bwMode="auto">
          <a:xfrm>
            <a:off x="0" y="0"/>
            <a:ext cx="9144000" cy="615051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idx="1"/>
          </p:nvPr>
        </p:nvSpPr>
        <p:spPr>
          <a:xfrm>
            <a:off x="0" y="214313"/>
            <a:ext cx="9144000" cy="6643687"/>
          </a:xfrm>
        </p:spPr>
        <p:txBody>
          <a:bodyPr/>
          <a:lstStyle/>
          <a:p>
            <a:pPr>
              <a:lnSpc>
                <a:spcPct val="110000"/>
              </a:lnSpc>
              <a:buFont typeface="Monotype Sorts" pitchFamily="2" charset="2"/>
              <a:buNone/>
              <a:defRPr/>
            </a:pPr>
            <a:r>
              <a:rPr lang="fr-FR" dirty="0" smtClean="0">
                <a:solidFill>
                  <a:srgbClr val="F8F8F8"/>
                </a:solidFill>
              </a:rPr>
              <a:t>  </a:t>
            </a:r>
            <a:r>
              <a:rPr lang="fr-FR" dirty="0" smtClean="0">
                <a:solidFill>
                  <a:srgbClr val="FF0000"/>
                </a:solidFill>
              </a:rPr>
              <a:t>Rayonnements électromagnétiques </a:t>
            </a:r>
            <a:r>
              <a:rPr lang="fr-FR" dirty="0" smtClean="0">
                <a:solidFill>
                  <a:srgbClr val="F8F8F8"/>
                </a:solidFill>
              </a:rPr>
              <a:t>: Energie</a:t>
            </a:r>
          </a:p>
          <a:p>
            <a:pPr lvl="1">
              <a:lnSpc>
                <a:spcPct val="110000"/>
              </a:lnSpc>
              <a:buFontTx/>
              <a:buNone/>
              <a:defRPr/>
            </a:pPr>
            <a:r>
              <a:rPr lang="fr-FR" dirty="0" smtClean="0">
                <a:solidFill>
                  <a:srgbClr val="F8F8F8"/>
                </a:solidFill>
              </a:rPr>
              <a:t>ondes hertziennes, micro-ondes, rayonnements X et </a:t>
            </a:r>
            <a:r>
              <a:rPr lang="fr-FR" dirty="0" smtClean="0">
                <a:solidFill>
                  <a:srgbClr val="F8F8F8"/>
                </a:solidFill>
                <a:sym typeface="Symbol" pitchFamily="18" charset="2"/>
              </a:rPr>
              <a:t></a:t>
            </a:r>
          </a:p>
          <a:p>
            <a:pPr lvl="1">
              <a:lnSpc>
                <a:spcPct val="110000"/>
              </a:lnSpc>
              <a:defRPr/>
            </a:pPr>
            <a:endParaRPr lang="fr-FR" dirty="0" smtClean="0">
              <a:sym typeface="Symbol" pitchFamily="18" charset="2"/>
            </a:endParaRPr>
          </a:p>
          <a:p>
            <a:pPr lvl="1">
              <a:lnSpc>
                <a:spcPct val="110000"/>
              </a:lnSpc>
              <a:defRPr/>
            </a:pPr>
            <a:endParaRPr lang="fr-FR" dirty="0" smtClean="0">
              <a:sym typeface="Symbol" pitchFamily="18" charset="2"/>
            </a:endParaRPr>
          </a:p>
          <a:p>
            <a:pPr lvl="1">
              <a:lnSpc>
                <a:spcPct val="110000"/>
              </a:lnSpc>
              <a:defRPr/>
            </a:pPr>
            <a:endParaRPr lang="fr-FR" dirty="0" smtClean="0">
              <a:sym typeface="Symbol" pitchFamily="18" charset="2"/>
            </a:endParaRPr>
          </a:p>
          <a:p>
            <a:pPr lvl="1">
              <a:lnSpc>
                <a:spcPct val="110000"/>
              </a:lnSpc>
              <a:defRPr/>
            </a:pPr>
            <a:endParaRPr lang="fr-FR" dirty="0" smtClean="0">
              <a:sym typeface="Symbol" pitchFamily="18" charset="2"/>
            </a:endParaRPr>
          </a:p>
          <a:p>
            <a:pPr>
              <a:defRPr/>
            </a:pPr>
            <a:r>
              <a:rPr lang="fr-FR" dirty="0" smtClean="0">
                <a:solidFill>
                  <a:srgbClr val="F8F8F8"/>
                </a:solidFill>
              </a:rPr>
              <a:t> </a:t>
            </a:r>
          </a:p>
          <a:p>
            <a:pPr>
              <a:defRPr/>
            </a:pPr>
            <a:r>
              <a:rPr lang="fr-FR" dirty="0" smtClean="0">
                <a:solidFill>
                  <a:srgbClr val="FF0000"/>
                </a:solidFill>
              </a:rPr>
              <a:t>Rayonnements particulaires</a:t>
            </a:r>
            <a:r>
              <a:rPr lang="fr-FR" dirty="0" smtClean="0">
                <a:solidFill>
                  <a:srgbClr val="F8F8F8"/>
                </a:solidFill>
              </a:rPr>
              <a:t> : masse au repos, charge et énergie</a:t>
            </a:r>
          </a:p>
          <a:p>
            <a:pPr lvl="1">
              <a:lnSpc>
                <a:spcPct val="110000"/>
              </a:lnSpc>
              <a:defRPr/>
            </a:pPr>
            <a:r>
              <a:rPr lang="fr-FR" dirty="0" smtClean="0">
                <a:solidFill>
                  <a:srgbClr val="F8F8F8"/>
                </a:solidFill>
              </a:rPr>
              <a:t>chargées : e</a:t>
            </a:r>
            <a:r>
              <a:rPr lang="fr-FR" baseline="30000" dirty="0" smtClean="0">
                <a:solidFill>
                  <a:srgbClr val="F8F8F8"/>
                </a:solidFill>
              </a:rPr>
              <a:t>-</a:t>
            </a:r>
            <a:r>
              <a:rPr lang="fr-FR" dirty="0" smtClean="0">
                <a:solidFill>
                  <a:srgbClr val="F8F8F8"/>
                </a:solidFill>
              </a:rPr>
              <a:t>, p</a:t>
            </a:r>
            <a:r>
              <a:rPr lang="fr-FR" baseline="30000" dirty="0" smtClean="0">
                <a:solidFill>
                  <a:srgbClr val="F8F8F8"/>
                </a:solidFill>
              </a:rPr>
              <a:t>+</a:t>
            </a:r>
            <a:r>
              <a:rPr lang="fr-FR" dirty="0" smtClean="0">
                <a:solidFill>
                  <a:srgbClr val="F8F8F8"/>
                </a:solidFill>
              </a:rPr>
              <a:t>, </a:t>
            </a:r>
            <a:r>
              <a:rPr lang="fr-FR" dirty="0" smtClean="0">
                <a:solidFill>
                  <a:srgbClr val="F8F8F8"/>
                </a:solidFill>
                <a:sym typeface="Symbol" pitchFamily="18" charset="2"/>
              </a:rPr>
              <a:t>, ions « lourds », ...</a:t>
            </a:r>
          </a:p>
          <a:p>
            <a:pPr lvl="1">
              <a:lnSpc>
                <a:spcPct val="110000"/>
              </a:lnSpc>
              <a:defRPr/>
            </a:pPr>
            <a:r>
              <a:rPr lang="fr-FR" dirty="0" smtClean="0">
                <a:solidFill>
                  <a:srgbClr val="F8F8F8"/>
                </a:solidFill>
                <a:sym typeface="Symbol" pitchFamily="18" charset="2"/>
              </a:rPr>
              <a:t>non chargées : neutrons.</a:t>
            </a:r>
          </a:p>
          <a:p>
            <a:pPr lvl="1">
              <a:lnSpc>
                <a:spcPct val="110000"/>
              </a:lnSpc>
              <a:defRPr/>
            </a:pPr>
            <a:endParaRPr lang="fr-FR" dirty="0" smtClean="0">
              <a:sym typeface="Symbol" pitchFamily="18" charset="2"/>
            </a:endParaRPr>
          </a:p>
          <a:p>
            <a:pPr>
              <a:buFont typeface="Monotype Sorts" pitchFamily="2" charset="2"/>
              <a:buNone/>
              <a:defRPr/>
            </a:pPr>
            <a:endParaRPr lang="fr-FR" dirty="0"/>
          </a:p>
        </p:txBody>
      </p:sp>
      <p:pic>
        <p:nvPicPr>
          <p:cNvPr id="12291" name="Espace réservé du contenu 3" descr="Le domaine visible du spectre électromagnétique">
            <a:hlinkClick r:id="rId2" tooltip="&quot;Le domaine visible du spectre électromagnétique&quot;"/>
          </p:cNvPr>
          <p:cNvPicPr>
            <a:picLocks/>
          </p:cNvPicPr>
          <p:nvPr/>
        </p:nvPicPr>
        <p:blipFill>
          <a:blip r:embed="rId3"/>
          <a:srcRect/>
          <a:stretch>
            <a:fillRect/>
          </a:stretch>
        </p:blipFill>
        <p:spPr bwMode="auto">
          <a:xfrm>
            <a:off x="0" y="1643063"/>
            <a:ext cx="9144000" cy="2214562"/>
          </a:xfrm>
          <a:prstGeom prst="rect">
            <a:avLst/>
          </a:prstGeom>
          <a:gradFill rotWithShape="0">
            <a:gsLst>
              <a:gs pos="0">
                <a:srgbClr val="FFFFFF"/>
              </a:gs>
              <a:gs pos="7001">
                <a:srgbClr val="E6E6E6"/>
              </a:gs>
              <a:gs pos="32001">
                <a:srgbClr val="7D8496"/>
              </a:gs>
              <a:gs pos="47000">
                <a:srgbClr val="E6E6E6"/>
              </a:gs>
              <a:gs pos="85001">
                <a:srgbClr val="7D8496"/>
              </a:gs>
              <a:gs pos="100000">
                <a:srgbClr val="E6E6E6"/>
              </a:gs>
            </a:gsLst>
            <a:lin ang="5400000"/>
          </a:gradFill>
          <a:ln w="9525">
            <a:noFill/>
            <a:miter lim="800000"/>
            <a:headEnd/>
            <a:tailEnd/>
          </a:ln>
        </p:spPr>
      </p:pic>
      <p:sp>
        <p:nvSpPr>
          <p:cNvPr id="6" name="Espace réservé du pied de page 5"/>
          <p:cNvSpPr>
            <a:spLocks noGrp="1"/>
          </p:cNvSpPr>
          <p:nvPr>
            <p:ph type="ftr" sz="quarter" idx="11"/>
          </p:nvPr>
        </p:nvSpPr>
        <p:spPr/>
        <p:txBody>
          <a:bodyPr/>
          <a:lstStyle/>
          <a:p>
            <a:pPr>
              <a:defRPr/>
            </a:pPr>
            <a:r>
              <a:rPr lang="fr-FR"/>
              <a:t>Pr Ahmed Fathi </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lvl="1"/>
            <a:r>
              <a:rPr lang="fr-FR" b="1" dirty="0" smtClean="0">
                <a:solidFill>
                  <a:srgbClr val="FF0000"/>
                </a:solidFill>
              </a:rPr>
              <a:t>CH 2  Interaction rayonnement </a:t>
            </a:r>
            <a:r>
              <a:rPr lang="fr-FR" b="1" dirty="0" smtClean="0">
                <a:solidFill>
                  <a:srgbClr val="FF0000"/>
                </a:solidFill>
                <a:sym typeface="Symbol"/>
              </a:rPr>
              <a:t> a</a:t>
            </a:r>
            <a:r>
              <a:rPr lang="fr-FR" b="1" dirty="0" smtClean="0">
                <a:solidFill>
                  <a:srgbClr val="FF0000"/>
                </a:solidFill>
              </a:rPr>
              <a:t>vec la matière :</a:t>
            </a:r>
            <a:r>
              <a:rPr lang="fr-FR" dirty="0" smtClean="0">
                <a:solidFill>
                  <a:srgbClr val="FF0000"/>
                </a:solidFill>
              </a:rPr>
              <a:t/>
            </a:r>
            <a:br>
              <a:rPr lang="fr-FR" dirty="0" smtClean="0">
                <a:solidFill>
                  <a:srgbClr val="FF0000"/>
                </a:solidFill>
              </a:rPr>
            </a:br>
            <a:endParaRPr lang="fr-FR" dirty="0"/>
          </a:p>
        </p:txBody>
      </p:sp>
      <p:sp>
        <p:nvSpPr>
          <p:cNvPr id="3" name="Espace réservé du contenu 2"/>
          <p:cNvSpPr>
            <a:spLocks noGrp="1"/>
          </p:cNvSpPr>
          <p:nvPr>
            <p:ph idx="1"/>
          </p:nvPr>
        </p:nvSpPr>
        <p:spPr>
          <a:xfrm>
            <a:off x="0" y="1676400"/>
            <a:ext cx="9144000" cy="4681558"/>
          </a:xfrm>
        </p:spPr>
        <p:txBody>
          <a:bodyPr/>
          <a:lstStyle/>
          <a:p>
            <a:r>
              <a:rPr lang="fr-FR" dirty="0" smtClean="0"/>
              <a:t>Lorsqu’un faisceau de rayonnement gamma </a:t>
            </a:r>
            <a:r>
              <a:rPr lang="fr-FR" dirty="0" smtClean="0">
                <a:sym typeface="Symbol"/>
              </a:rPr>
              <a:t> traverse un matériau, il interagit avec la structure atomique de la cible, essentiellement des e-, le rayon  subit une alors une perte d’énergie.</a:t>
            </a:r>
          </a:p>
          <a:p>
            <a:r>
              <a:rPr lang="fr-FR" dirty="0" smtClean="0"/>
              <a:t>À la différence des particules comme les ions, les électrons ou les neutrons, les photons peuvent être absorbés par un atome et  </a:t>
            </a:r>
            <a:r>
              <a:rPr lang="fr-FR" dirty="0" smtClean="0"/>
              <a:t>transférer toute </a:t>
            </a:r>
            <a:r>
              <a:rPr lang="fr-FR" dirty="0" smtClean="0"/>
              <a:t>leur énergie à l'un des électrons</a:t>
            </a:r>
            <a:endParaRPr lang="fr-FR" dirty="0"/>
          </a:p>
        </p:txBody>
      </p:sp>
      <p:sp>
        <p:nvSpPr>
          <p:cNvPr id="4" name="Espace réservé du pied de page 3"/>
          <p:cNvSpPr>
            <a:spLocks noGrp="1"/>
          </p:cNvSpPr>
          <p:nvPr>
            <p:ph type="ftr" sz="quarter" idx="11"/>
          </p:nvPr>
        </p:nvSpPr>
        <p:spPr/>
        <p:txBody>
          <a:bodyPr/>
          <a:lstStyle/>
          <a:p>
            <a:pPr>
              <a:defRPr/>
            </a:pPr>
            <a:r>
              <a:rPr lang="fr-FR" smtClean="0"/>
              <a:t>Pr Ahmed Fathi </a:t>
            </a:r>
            <a:endParaRPr lang="fr-F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099175"/>
          </a:xfrm>
        </p:spPr>
        <p:txBody>
          <a:bodyPr/>
          <a:lstStyle/>
          <a:p>
            <a:pPr>
              <a:buNone/>
            </a:pPr>
            <a:r>
              <a:rPr lang="fr-FR" dirty="0" smtClean="0"/>
              <a:t>de la cible qui sera excité ou ionisé si l'énergie est suffisante: c'est</a:t>
            </a:r>
            <a:r>
              <a:rPr lang="fr-FR" dirty="0" smtClean="0">
                <a:solidFill>
                  <a:srgbClr val="00B050"/>
                </a:solidFill>
              </a:rPr>
              <a:t> l' effet photoélectrique. </a:t>
            </a:r>
          </a:p>
          <a:p>
            <a:r>
              <a:rPr lang="fr-FR" dirty="0" smtClean="0"/>
              <a:t>Ils peuvent aussi être diffusés élastiquement par les atomes du milieu ou bien perdre de l' énergie dans une collision avec les électrons de la</a:t>
            </a:r>
            <a:r>
              <a:rPr lang="fr-FR" dirty="0" smtClean="0">
                <a:sym typeface="Symbol"/>
              </a:rPr>
              <a:t> </a:t>
            </a:r>
            <a:r>
              <a:rPr lang="fr-FR" dirty="0" smtClean="0"/>
              <a:t>matière sans être absorbés comme dans </a:t>
            </a:r>
          </a:p>
          <a:p>
            <a:pPr>
              <a:buNone/>
            </a:pPr>
            <a:r>
              <a:rPr lang="fr-FR" dirty="0" smtClean="0">
                <a:solidFill>
                  <a:srgbClr val="00B050"/>
                </a:solidFill>
              </a:rPr>
              <a:t>   l' effet Compton.</a:t>
            </a:r>
            <a:r>
              <a:rPr lang="fr-FR" dirty="0" smtClean="0"/>
              <a:t> </a:t>
            </a:r>
          </a:p>
          <a:p>
            <a:r>
              <a:rPr lang="fr-FR" dirty="0" smtClean="0"/>
              <a:t>Si l' énergie des photons est suffisante, on peut observer la </a:t>
            </a:r>
            <a:r>
              <a:rPr lang="fr-FR" dirty="0" smtClean="0">
                <a:solidFill>
                  <a:srgbClr val="00B050"/>
                </a:solidFill>
              </a:rPr>
              <a:t>matérialisation</a:t>
            </a:r>
            <a:r>
              <a:rPr lang="fr-FR" dirty="0" smtClean="0"/>
              <a:t> de l'énergie, c'est-à-dire la transformation de l'énergie en matière, qui résulte dans la création d'une paire électron/positron (e-,e+).</a:t>
            </a:r>
            <a:r>
              <a:rPr lang="fr-FR" dirty="0" smtClean="0">
                <a:sym typeface="Symbol"/>
              </a:rPr>
              <a:t> </a:t>
            </a:r>
            <a:endParaRPr lang="fr-FR" dirty="0" smtClean="0"/>
          </a:p>
          <a:p>
            <a:endParaRPr lang="fr-FR" dirty="0"/>
          </a:p>
        </p:txBody>
      </p:sp>
      <p:sp>
        <p:nvSpPr>
          <p:cNvPr id="4" name="Espace réservé du pied de page 3"/>
          <p:cNvSpPr>
            <a:spLocks noGrp="1"/>
          </p:cNvSpPr>
          <p:nvPr>
            <p:ph type="ftr" sz="quarter" idx="11"/>
          </p:nvPr>
        </p:nvSpPr>
        <p:spPr/>
        <p:txBody>
          <a:bodyPr/>
          <a:lstStyle/>
          <a:p>
            <a:pPr>
              <a:defRPr/>
            </a:pPr>
            <a:r>
              <a:rPr lang="fr-FR" smtClean="0"/>
              <a:t>Pr Ahmed Fathi </a:t>
            </a:r>
            <a:endParaRPr lang="fr-F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286908" cy="6429396"/>
          </a:xfrm>
        </p:spPr>
        <p:txBody>
          <a:bodyPr/>
          <a:lstStyle/>
          <a:p>
            <a:pPr>
              <a:buNone/>
            </a:pPr>
            <a:r>
              <a:rPr lang="fr-FR" dirty="0" smtClean="0"/>
              <a:t>L'absorption de l’énergie des photons-X et des photons-y par la matière peut se faire selon trois modes : </a:t>
            </a:r>
          </a:p>
          <a:p>
            <a:pPr>
              <a:buFontTx/>
              <a:buChar char="-"/>
            </a:pPr>
            <a:r>
              <a:rPr lang="fr-FR" dirty="0" smtClean="0"/>
              <a:t>Effet photoélectrique</a:t>
            </a:r>
          </a:p>
          <a:p>
            <a:pPr>
              <a:buFontTx/>
              <a:buChar char="-"/>
            </a:pPr>
            <a:r>
              <a:rPr lang="fr-FR" dirty="0" smtClean="0"/>
              <a:t> Effet Compton</a:t>
            </a:r>
          </a:p>
          <a:p>
            <a:pPr>
              <a:buFontTx/>
              <a:buChar char="-"/>
            </a:pPr>
            <a:r>
              <a:rPr lang="fr-FR" dirty="0" smtClean="0"/>
              <a:t> Création de paires électron/positron (e-/e+).</a:t>
            </a:r>
          </a:p>
          <a:p>
            <a:pPr>
              <a:buNone/>
            </a:pPr>
            <a:r>
              <a:rPr lang="fr-FR" b="1" dirty="0" smtClean="0">
                <a:solidFill>
                  <a:srgbClr val="FF0000"/>
                </a:solidFill>
              </a:rPr>
              <a:t>2.1 Effet photoélectrique : </a:t>
            </a:r>
          </a:p>
          <a:p>
            <a:r>
              <a:rPr lang="fr-FR" dirty="0" smtClean="0"/>
              <a:t> Dans l'effet photoélectrique, l'énergie du photon est transmise à l’un des électrons de l'atome qui peut être ionisé si l’énergie absorbée est supérieure ou égale à l’énergie d’ionisation de cet électron. </a:t>
            </a:r>
            <a:endParaRPr lang="fr-FR" dirty="0"/>
          </a:p>
        </p:txBody>
      </p:sp>
      <p:sp>
        <p:nvSpPr>
          <p:cNvPr id="4" name="Espace réservé du pied de page 3"/>
          <p:cNvSpPr>
            <a:spLocks noGrp="1"/>
          </p:cNvSpPr>
          <p:nvPr>
            <p:ph type="ftr" sz="quarter" idx="11"/>
          </p:nvPr>
        </p:nvSpPr>
        <p:spPr/>
        <p:txBody>
          <a:bodyPr/>
          <a:lstStyle/>
          <a:p>
            <a:pPr>
              <a:defRPr/>
            </a:pPr>
            <a:r>
              <a:rPr lang="fr-FR" smtClean="0"/>
              <a:t>Pr Ahmed Fathi </a:t>
            </a:r>
            <a:endParaRPr lang="fr-F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8915400" cy="6643688"/>
          </a:xfrm>
        </p:spPr>
        <p:txBody>
          <a:bodyPr/>
          <a:lstStyle/>
          <a:p>
            <a:pPr>
              <a:buNone/>
              <a:defRPr/>
            </a:pPr>
            <a:r>
              <a:rPr lang="fr-FR" dirty="0" smtClean="0"/>
              <a:t>L’intégralité de l’énergie du photon incident est transférée à un électron arraché à une couche interne d’un atome, le réarrangement électronique qui s’ensuit entraîne l’émission soit d’un photon dit de « fluorescence », soit d’un électron Auger. </a:t>
            </a:r>
            <a:endParaRPr lang="fr-FR" dirty="0"/>
          </a:p>
        </p:txBody>
      </p:sp>
      <p:pic>
        <p:nvPicPr>
          <p:cNvPr id="14339" name="Picture 5"/>
          <p:cNvPicPr>
            <a:picLocks noChangeAspect="1" noChangeArrowheads="1"/>
          </p:cNvPicPr>
          <p:nvPr/>
        </p:nvPicPr>
        <p:blipFill>
          <a:blip r:embed="rId2"/>
          <a:srcRect/>
          <a:stretch>
            <a:fillRect/>
          </a:stretch>
        </p:blipFill>
        <p:spPr bwMode="auto">
          <a:xfrm>
            <a:off x="500034" y="3071810"/>
            <a:ext cx="8643966" cy="3143251"/>
          </a:xfrm>
          <a:prstGeom prst="rect">
            <a:avLst/>
          </a:prstGeom>
          <a:noFill/>
          <a:ln w="12699">
            <a:noFill/>
            <a:miter lim="800000"/>
            <a:headEnd type="none" w="sm" len="sm"/>
            <a:tailEnd type="none" w="sm" len="sm"/>
          </a:ln>
        </p:spPr>
      </p:pic>
      <p:sp>
        <p:nvSpPr>
          <p:cNvPr id="4" name="Espace réservé du pied de page 3"/>
          <p:cNvSpPr>
            <a:spLocks noGrp="1"/>
          </p:cNvSpPr>
          <p:nvPr>
            <p:ph type="ftr" sz="quarter" idx="11"/>
          </p:nvPr>
        </p:nvSpPr>
        <p:spPr/>
        <p:txBody>
          <a:bodyPr/>
          <a:lstStyle/>
          <a:p>
            <a:pPr>
              <a:defRPr/>
            </a:pPr>
            <a:r>
              <a:rPr lang="fr-FR"/>
              <a:t>Pr Ahmed Fathi </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099175"/>
          </a:xfrm>
        </p:spPr>
        <p:txBody>
          <a:bodyPr/>
          <a:lstStyle/>
          <a:p>
            <a:r>
              <a:rPr lang="fr-FR" dirty="0" smtClean="0"/>
              <a:t>Si l'énergie initiale du photon E</a:t>
            </a:r>
            <a:r>
              <a:rPr lang="fr-FR" baseline="-25000" dirty="0" smtClean="0">
                <a:sym typeface="Symbol"/>
              </a:rPr>
              <a:t></a:t>
            </a:r>
            <a:r>
              <a:rPr lang="fr-FR" dirty="0" smtClean="0">
                <a:sym typeface="Symbol"/>
              </a:rPr>
              <a:t> =</a:t>
            </a:r>
            <a:r>
              <a:rPr lang="fr-FR" i="1" dirty="0" smtClean="0"/>
              <a:t>h v est supérieure à l'énergie d' ionisation E</a:t>
            </a:r>
            <a:r>
              <a:rPr lang="fr-FR" i="1" baseline="-25000" dirty="0" smtClean="0"/>
              <a:t>l</a:t>
            </a:r>
            <a:r>
              <a:rPr lang="fr-FR" i="1" dirty="0" smtClean="0"/>
              <a:t> </a:t>
            </a:r>
            <a:r>
              <a:rPr lang="fr-FR" dirty="0" smtClean="0"/>
              <a:t>de l’e- ce dernier peut être ionisé et éjecté de l'atome avec une énergie cinétique T</a:t>
            </a:r>
            <a:r>
              <a:rPr lang="fr-FR" baseline="-25000" dirty="0" smtClean="0"/>
              <a:t>e-</a:t>
            </a:r>
            <a:r>
              <a:rPr lang="fr-FR" dirty="0" smtClean="0"/>
              <a:t>, la conservation de l’énergie est donnée par:</a:t>
            </a:r>
          </a:p>
          <a:p>
            <a:pPr>
              <a:buNone/>
            </a:pPr>
            <a:r>
              <a:rPr lang="fr-FR" dirty="0" smtClean="0"/>
              <a:t>                                                            (2.1)</a:t>
            </a:r>
          </a:p>
          <a:p>
            <a:r>
              <a:rPr lang="fr-FR" dirty="0" smtClean="0"/>
              <a:t>donc l’énergie cinétique de l’e- est:</a:t>
            </a:r>
          </a:p>
          <a:p>
            <a:r>
              <a:rPr lang="fr-FR" dirty="0" smtClean="0"/>
              <a:t>                                                          (2.2)     </a:t>
            </a:r>
          </a:p>
          <a:p>
            <a:pPr>
              <a:buNone/>
            </a:pPr>
            <a:r>
              <a:rPr lang="fr-FR" dirty="0" smtClean="0"/>
              <a:t>Avec E</a:t>
            </a:r>
            <a:r>
              <a:rPr lang="fr-FR" baseline="-25000" dirty="0" smtClean="0">
                <a:sym typeface="Symbol"/>
              </a:rPr>
              <a:t> </a:t>
            </a:r>
            <a:r>
              <a:rPr lang="fr-FR" dirty="0" smtClean="0">
                <a:sym typeface="Symbol"/>
              </a:rPr>
              <a:t>= Energie du photon  incident</a:t>
            </a:r>
          </a:p>
          <a:p>
            <a:pPr>
              <a:buNone/>
            </a:pPr>
            <a:r>
              <a:rPr lang="fr-FR" dirty="0" smtClean="0">
                <a:sym typeface="Symbol"/>
              </a:rPr>
              <a:t>     E</a:t>
            </a:r>
            <a:r>
              <a:rPr lang="fr-FR" baseline="-25000" dirty="0" smtClean="0">
                <a:sym typeface="Symbol"/>
              </a:rPr>
              <a:t>li</a:t>
            </a:r>
            <a:r>
              <a:rPr lang="fr-FR" dirty="0" smtClean="0">
                <a:sym typeface="Symbol"/>
              </a:rPr>
              <a:t> = Energie de liaison de l’e</a:t>
            </a:r>
            <a:r>
              <a:rPr lang="fr-FR" baseline="30000" dirty="0" smtClean="0">
                <a:sym typeface="Symbol"/>
              </a:rPr>
              <a:t>-</a:t>
            </a:r>
            <a:r>
              <a:rPr lang="fr-FR" dirty="0" smtClean="0">
                <a:sym typeface="Symbol"/>
              </a:rPr>
              <a:t> dans la couche i</a:t>
            </a:r>
          </a:p>
          <a:p>
            <a:pPr>
              <a:buNone/>
            </a:pPr>
            <a:r>
              <a:rPr lang="fr-FR" dirty="0" smtClean="0">
                <a:sym typeface="Symbol"/>
              </a:rPr>
              <a:t>     T</a:t>
            </a:r>
            <a:r>
              <a:rPr lang="fr-FR" baseline="-25000" dirty="0" smtClean="0">
                <a:sym typeface="Symbol"/>
              </a:rPr>
              <a:t>at</a:t>
            </a:r>
            <a:r>
              <a:rPr lang="fr-FR" dirty="0" smtClean="0">
                <a:sym typeface="Symbol"/>
              </a:rPr>
              <a:t> = énergie de recul de l’atome.</a:t>
            </a:r>
            <a:endParaRPr lang="fr-FR" dirty="0" smtClean="0"/>
          </a:p>
        </p:txBody>
      </p:sp>
      <p:sp>
        <p:nvSpPr>
          <p:cNvPr id="4" name="Espace réservé du pied de page 3"/>
          <p:cNvSpPr>
            <a:spLocks noGrp="1"/>
          </p:cNvSpPr>
          <p:nvPr>
            <p:ph type="ftr" sz="quarter" idx="11"/>
          </p:nvPr>
        </p:nvSpPr>
        <p:spPr/>
        <p:txBody>
          <a:bodyPr/>
          <a:lstStyle/>
          <a:p>
            <a:pPr>
              <a:defRPr/>
            </a:pPr>
            <a:r>
              <a:rPr lang="fr-FR" smtClean="0"/>
              <a:t>Pr Ahmed Fathi </a:t>
            </a:r>
            <a:endParaRPr lang="fr-FR"/>
          </a:p>
        </p:txBody>
      </p:sp>
      <p:sp>
        <p:nvSpPr>
          <p:cNvPr id="6" name="ZoneTexte 5"/>
          <p:cNvSpPr txBox="1"/>
          <p:nvPr/>
        </p:nvSpPr>
        <p:spPr>
          <a:xfrm>
            <a:off x="2928926" y="2571744"/>
            <a:ext cx="3000396" cy="461665"/>
          </a:xfrm>
          <a:prstGeom prst="rect">
            <a:avLst/>
          </a:prstGeom>
          <a:solidFill>
            <a:srgbClr val="7030A0"/>
          </a:solidFill>
        </p:spPr>
        <p:txBody>
          <a:bodyPr wrap="square" rtlCol="0">
            <a:spAutoFit/>
          </a:bodyPr>
          <a:lstStyle/>
          <a:p>
            <a:r>
              <a:rPr lang="fr-FR" b="1" dirty="0" smtClean="0"/>
              <a:t>E</a:t>
            </a:r>
            <a:r>
              <a:rPr lang="fr-FR" b="1" baseline="-25000" dirty="0" smtClean="0">
                <a:sym typeface="Symbol"/>
              </a:rPr>
              <a:t> </a:t>
            </a:r>
            <a:r>
              <a:rPr lang="fr-FR" b="1" dirty="0" smtClean="0">
                <a:sym typeface="Symbol"/>
              </a:rPr>
              <a:t>= T</a:t>
            </a:r>
            <a:r>
              <a:rPr lang="fr-FR" b="1" baseline="-25000" dirty="0" smtClean="0">
                <a:sym typeface="Symbol"/>
              </a:rPr>
              <a:t>e-</a:t>
            </a:r>
            <a:r>
              <a:rPr lang="fr-FR" b="1" dirty="0" smtClean="0">
                <a:sym typeface="Symbol"/>
              </a:rPr>
              <a:t>  +  E</a:t>
            </a:r>
            <a:r>
              <a:rPr lang="fr-FR" b="1" baseline="-25000" dirty="0" smtClean="0">
                <a:sym typeface="Symbol"/>
              </a:rPr>
              <a:t>l</a:t>
            </a:r>
            <a:r>
              <a:rPr lang="fr-FR" b="1" dirty="0" smtClean="0">
                <a:sym typeface="Symbol"/>
              </a:rPr>
              <a:t>  + T</a:t>
            </a:r>
            <a:r>
              <a:rPr lang="fr-FR" b="1" baseline="-25000" dirty="0" smtClean="0">
                <a:sym typeface="Symbol"/>
              </a:rPr>
              <a:t>at</a:t>
            </a:r>
            <a:r>
              <a:rPr lang="fr-FR" b="1" dirty="0" smtClean="0"/>
              <a:t>        </a:t>
            </a:r>
            <a:endParaRPr lang="fr-FR" b="1" dirty="0"/>
          </a:p>
        </p:txBody>
      </p:sp>
      <p:sp>
        <p:nvSpPr>
          <p:cNvPr id="7" name="ZoneTexte 6"/>
          <p:cNvSpPr txBox="1"/>
          <p:nvPr/>
        </p:nvSpPr>
        <p:spPr>
          <a:xfrm>
            <a:off x="3071802" y="3714752"/>
            <a:ext cx="3214710" cy="461665"/>
          </a:xfrm>
          <a:prstGeom prst="rect">
            <a:avLst/>
          </a:prstGeom>
          <a:solidFill>
            <a:srgbClr val="7030A0"/>
          </a:solidFill>
        </p:spPr>
        <p:txBody>
          <a:bodyPr wrap="square" rtlCol="0">
            <a:spAutoFit/>
          </a:bodyPr>
          <a:lstStyle/>
          <a:p>
            <a:pPr>
              <a:buNone/>
            </a:pPr>
            <a:r>
              <a:rPr lang="fr-FR" b="1" dirty="0" smtClean="0">
                <a:sym typeface="Symbol"/>
              </a:rPr>
              <a:t>T</a:t>
            </a:r>
            <a:r>
              <a:rPr lang="fr-FR" b="1" baseline="-25000" dirty="0" smtClean="0">
                <a:sym typeface="Symbol"/>
              </a:rPr>
              <a:t>e-</a:t>
            </a:r>
            <a:r>
              <a:rPr lang="fr-FR" b="1" dirty="0" smtClean="0"/>
              <a:t>   =   E</a:t>
            </a:r>
            <a:r>
              <a:rPr lang="fr-FR" b="1" baseline="-25000" dirty="0" smtClean="0">
                <a:sym typeface="Symbol"/>
              </a:rPr>
              <a:t> </a:t>
            </a:r>
            <a:r>
              <a:rPr lang="fr-FR" b="1" dirty="0" smtClean="0">
                <a:sym typeface="Symbol"/>
              </a:rPr>
              <a:t> -  E</a:t>
            </a:r>
            <a:r>
              <a:rPr lang="fr-FR" b="1" baseline="-25000" dirty="0" smtClean="0">
                <a:sym typeface="Symbol"/>
              </a:rPr>
              <a:t>l</a:t>
            </a:r>
            <a:r>
              <a:rPr lang="fr-FR" b="1" dirty="0" smtClean="0">
                <a:sym typeface="Symbol"/>
              </a:rPr>
              <a:t>  - T</a:t>
            </a:r>
            <a:r>
              <a:rPr lang="fr-FR" b="1" baseline="-25000" dirty="0" smtClean="0">
                <a:sym typeface="Symbol"/>
              </a:rPr>
              <a:t>at</a:t>
            </a:r>
            <a:endParaRPr lang="fr-FR" b="1"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 y="214290"/>
            <a:ext cx="9143999" cy="6357958"/>
          </a:xfrm>
        </p:spPr>
        <p:txBody>
          <a:bodyPr/>
          <a:lstStyle/>
          <a:p>
            <a:r>
              <a:rPr lang="fr-FR" dirty="0" smtClean="0"/>
              <a:t>Conservation de l’impulsion</a:t>
            </a:r>
          </a:p>
          <a:p>
            <a:endParaRPr lang="fr-FR" dirty="0" smtClean="0"/>
          </a:p>
          <a:p>
            <a:endParaRPr lang="fr-FR" dirty="0" smtClean="0"/>
          </a:p>
          <a:p>
            <a:r>
              <a:rPr lang="fr-FR" dirty="0" smtClean="0"/>
              <a:t>On peut montrer que                          </a:t>
            </a:r>
          </a:p>
          <a:p>
            <a:pPr>
              <a:buNone/>
            </a:pPr>
            <a:endParaRPr lang="fr-FR" dirty="0" smtClean="0"/>
          </a:p>
          <a:p>
            <a:pPr>
              <a:buNone/>
            </a:pPr>
            <a:r>
              <a:rPr lang="fr-FR" dirty="0" smtClean="0"/>
              <a:t> avec m</a:t>
            </a:r>
            <a:r>
              <a:rPr lang="fr-FR" baseline="-25000" dirty="0" smtClean="0"/>
              <a:t>e</a:t>
            </a:r>
            <a:r>
              <a:rPr lang="fr-FR" dirty="0" smtClean="0"/>
              <a:t> la masse de l’e</a:t>
            </a:r>
            <a:r>
              <a:rPr lang="fr-FR" baseline="30000" dirty="0" smtClean="0"/>
              <a:t>-</a:t>
            </a:r>
            <a:r>
              <a:rPr lang="fr-FR" dirty="0" smtClean="0"/>
              <a:t> et m</a:t>
            </a:r>
            <a:r>
              <a:rPr lang="fr-FR" baseline="-25000" dirty="0" smtClean="0"/>
              <a:t>at</a:t>
            </a:r>
            <a:r>
              <a:rPr lang="fr-FR" dirty="0" smtClean="0"/>
              <a:t> la masse de l’atome. Or m</a:t>
            </a:r>
            <a:r>
              <a:rPr lang="fr-FR" baseline="-25000" dirty="0" smtClean="0"/>
              <a:t>e</a:t>
            </a:r>
            <a:r>
              <a:rPr lang="fr-FR" dirty="0" smtClean="0">
                <a:sym typeface="Symbol"/>
              </a:rPr>
              <a:t>m</a:t>
            </a:r>
            <a:r>
              <a:rPr lang="fr-FR" baseline="-25000" dirty="0" smtClean="0">
                <a:sym typeface="Symbol"/>
              </a:rPr>
              <a:t>at</a:t>
            </a:r>
            <a:r>
              <a:rPr lang="fr-FR" dirty="0" smtClean="0">
                <a:sym typeface="Symbol"/>
              </a:rPr>
              <a:t> donc T</a:t>
            </a:r>
            <a:r>
              <a:rPr lang="fr-FR" baseline="-25000" dirty="0" smtClean="0">
                <a:sym typeface="Symbol"/>
              </a:rPr>
              <a:t>at</a:t>
            </a:r>
            <a:r>
              <a:rPr lang="fr-FR" dirty="0" smtClean="0">
                <a:sym typeface="Symbol"/>
              </a:rPr>
              <a:t> est négligeable.</a:t>
            </a:r>
          </a:p>
          <a:p>
            <a:pPr>
              <a:buNone/>
            </a:pPr>
            <a:r>
              <a:rPr lang="fr-FR" dirty="0" smtClean="0">
                <a:sym typeface="Symbol"/>
              </a:rPr>
              <a:t>On a alors :</a:t>
            </a:r>
          </a:p>
          <a:p>
            <a:pPr>
              <a:buNone/>
            </a:pPr>
            <a:r>
              <a:rPr lang="fr-FR" dirty="0" smtClean="0">
                <a:sym typeface="Symbol"/>
              </a:rPr>
              <a:t>  Lorsque l’atome perd un e</a:t>
            </a:r>
            <a:r>
              <a:rPr lang="fr-FR" baseline="30000" dirty="0" smtClean="0">
                <a:sym typeface="Symbol"/>
              </a:rPr>
              <a:t>-</a:t>
            </a:r>
            <a:r>
              <a:rPr lang="fr-FR" dirty="0" smtClean="0">
                <a:sym typeface="Symbol"/>
              </a:rPr>
              <a:t> de la couche (k) par effet photoélectrique, la lacune va être combler par un e- des couches supérieures (L ou M..).</a:t>
            </a:r>
            <a:endParaRPr lang="fr-FR" dirty="0"/>
          </a:p>
        </p:txBody>
      </p:sp>
      <p:sp>
        <p:nvSpPr>
          <p:cNvPr id="4" name="Espace réservé du pied de page 3"/>
          <p:cNvSpPr>
            <a:spLocks noGrp="1"/>
          </p:cNvSpPr>
          <p:nvPr>
            <p:ph type="ftr" sz="quarter" idx="11"/>
          </p:nvPr>
        </p:nvSpPr>
        <p:spPr/>
        <p:txBody>
          <a:bodyPr/>
          <a:lstStyle/>
          <a:p>
            <a:pPr>
              <a:defRPr/>
            </a:pPr>
            <a:r>
              <a:rPr lang="fr-FR" smtClean="0"/>
              <a:t>Pr Ahmed Fathi </a:t>
            </a:r>
            <a:endParaRPr lang="fr-FR"/>
          </a:p>
        </p:txBody>
      </p:sp>
      <p:sp>
        <p:nvSpPr>
          <p:cNvPr id="3686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pic>
        <p:nvPicPr>
          <p:cNvPr id="36865"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3071802" y="785794"/>
            <a:ext cx="2948002" cy="729402"/>
          </a:xfrm>
          <a:prstGeom prst="rect">
            <a:avLst/>
          </a:prstGeom>
          <a:solidFill>
            <a:srgbClr val="FFFF00"/>
          </a:solidFill>
        </p:spPr>
      </p:pic>
      <p:sp>
        <p:nvSpPr>
          <p:cNvPr id="3686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pic>
        <p:nvPicPr>
          <p:cNvPr id="36867"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4929190" y="1928802"/>
            <a:ext cx="1857389" cy="714380"/>
          </a:xfrm>
          <a:prstGeom prst="rect">
            <a:avLst/>
          </a:prstGeom>
          <a:solidFill>
            <a:srgbClr val="FFFF00"/>
          </a:solidFill>
        </p:spPr>
      </p:pic>
      <p:sp>
        <p:nvSpPr>
          <p:cNvPr id="10" name="ZoneTexte 9"/>
          <p:cNvSpPr txBox="1"/>
          <p:nvPr/>
        </p:nvSpPr>
        <p:spPr>
          <a:xfrm>
            <a:off x="2428860" y="4286256"/>
            <a:ext cx="2643206" cy="461665"/>
          </a:xfrm>
          <a:prstGeom prst="rect">
            <a:avLst/>
          </a:prstGeom>
          <a:solidFill>
            <a:srgbClr val="7030A0"/>
          </a:solidFill>
        </p:spPr>
        <p:txBody>
          <a:bodyPr wrap="square" rtlCol="0">
            <a:spAutoFit/>
          </a:bodyPr>
          <a:lstStyle/>
          <a:p>
            <a:r>
              <a:rPr lang="fr-FR" b="1" dirty="0" smtClean="0">
                <a:sym typeface="Symbol"/>
              </a:rPr>
              <a:t>T</a:t>
            </a:r>
            <a:r>
              <a:rPr lang="fr-FR" b="1" baseline="-25000" dirty="0" smtClean="0">
                <a:sym typeface="Symbol"/>
              </a:rPr>
              <a:t>e</a:t>
            </a:r>
            <a:r>
              <a:rPr lang="fr-FR" b="1" dirty="0" smtClean="0">
                <a:sym typeface="Symbol"/>
              </a:rPr>
              <a:t> = E</a:t>
            </a:r>
            <a:r>
              <a:rPr lang="fr-FR" b="1" baseline="-25000" dirty="0" smtClean="0">
                <a:sym typeface="Symbol"/>
              </a:rPr>
              <a:t></a:t>
            </a:r>
            <a:r>
              <a:rPr lang="fr-FR" b="1" dirty="0" smtClean="0">
                <a:sym typeface="Symbol"/>
              </a:rPr>
              <a:t> - E</a:t>
            </a:r>
            <a:r>
              <a:rPr lang="fr-FR" b="1" baseline="-25000" dirty="0" smtClean="0">
                <a:sym typeface="Symbol"/>
              </a:rPr>
              <a:t>li</a:t>
            </a:r>
            <a:endParaRPr lang="fr-FR" b="1" baseline="-250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099175"/>
          </a:xfrm>
        </p:spPr>
        <p:txBody>
          <a:bodyPr/>
          <a:lstStyle/>
          <a:p>
            <a:r>
              <a:rPr lang="fr-FR" dirty="0" smtClean="0"/>
              <a:t>La transition de l’e- provoque l’émission d’un rayon d’énergie E = </a:t>
            </a:r>
            <a:r>
              <a:rPr lang="fr-FR" dirty="0" err="1" smtClean="0"/>
              <a:t>E</a:t>
            </a:r>
            <a:r>
              <a:rPr lang="fr-FR" baseline="-25000" dirty="0" err="1" smtClean="0"/>
              <a:t>k</a:t>
            </a:r>
            <a:r>
              <a:rPr lang="fr-FR" dirty="0" smtClean="0"/>
              <a:t> –E</a:t>
            </a:r>
            <a:r>
              <a:rPr lang="fr-FR" baseline="-25000" dirty="0" smtClean="0"/>
              <a:t>l</a:t>
            </a:r>
            <a:r>
              <a:rPr lang="fr-FR" dirty="0" smtClean="0"/>
              <a:t> appelé </a:t>
            </a:r>
            <a:r>
              <a:rPr lang="fr-FR" dirty="0" smtClean="0">
                <a:solidFill>
                  <a:srgbClr val="00B050"/>
                </a:solidFill>
              </a:rPr>
              <a:t>rayon x de fluorescence.</a:t>
            </a:r>
            <a:r>
              <a:rPr lang="fr-FR" dirty="0" smtClean="0"/>
              <a:t> Ces rayons peuvent à leur tour provoqués l’émission d’e- des couches externes (les moins liés) sont appelés </a:t>
            </a:r>
            <a:r>
              <a:rPr lang="fr-FR" b="1" dirty="0" smtClean="0">
                <a:solidFill>
                  <a:srgbClr val="FF0000"/>
                </a:solidFill>
              </a:rPr>
              <a:t>e- Auger</a:t>
            </a:r>
          </a:p>
          <a:p>
            <a:r>
              <a:rPr lang="fr-FR" b="1" dirty="0" smtClean="0">
                <a:solidFill>
                  <a:srgbClr val="00B050"/>
                </a:solidFill>
              </a:rPr>
              <a:t>Section efficace </a:t>
            </a:r>
          </a:p>
          <a:p>
            <a:r>
              <a:rPr lang="fr-FR" dirty="0" smtClean="0"/>
              <a:t>On considère un électron K d'un atome (ion) </a:t>
            </a:r>
            <a:r>
              <a:rPr lang="fr-FR" dirty="0" err="1" smtClean="0"/>
              <a:t>hydrogénoïde</a:t>
            </a:r>
            <a:r>
              <a:rPr lang="fr-FR" dirty="0" smtClean="0"/>
              <a:t> de numéro atomique Z, c'est-à-dire ne comportant qu'un seul électron. La section efficace différentielle non relativiste de </a:t>
            </a:r>
            <a:r>
              <a:rPr lang="fr-FR" dirty="0" smtClean="0"/>
              <a:t>photo-absorption </a:t>
            </a:r>
            <a:r>
              <a:rPr lang="fr-FR" i="1" dirty="0" smtClean="0"/>
              <a:t>d</a:t>
            </a:r>
            <a:r>
              <a:rPr lang="fr-FR" i="1" dirty="0" smtClean="0">
                <a:sym typeface="Symbol"/>
              </a:rPr>
              <a:t></a:t>
            </a:r>
            <a:r>
              <a:rPr lang="fr-FR" i="1" dirty="0" smtClean="0"/>
              <a:t> </a:t>
            </a:r>
            <a:r>
              <a:rPr lang="fr-FR" i="1" dirty="0" smtClean="0"/>
              <a:t>s'exprime par :</a:t>
            </a:r>
            <a:endParaRPr lang="fr-FR" b="1" dirty="0"/>
          </a:p>
        </p:txBody>
      </p:sp>
      <p:sp>
        <p:nvSpPr>
          <p:cNvPr id="4" name="Espace réservé du pied de page 3"/>
          <p:cNvSpPr>
            <a:spLocks noGrp="1"/>
          </p:cNvSpPr>
          <p:nvPr>
            <p:ph type="ftr" sz="quarter" idx="11"/>
          </p:nvPr>
        </p:nvSpPr>
        <p:spPr/>
        <p:txBody>
          <a:bodyPr/>
          <a:lstStyle/>
          <a:p>
            <a:pPr>
              <a:defRPr/>
            </a:pPr>
            <a:r>
              <a:rPr lang="fr-FR" smtClean="0"/>
              <a:t>Pr Ahmed Fathi </a:t>
            </a:r>
            <a:endParaRPr lang="fr-F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pied de page 3"/>
          <p:cNvSpPr>
            <a:spLocks noGrp="1"/>
          </p:cNvSpPr>
          <p:nvPr>
            <p:ph type="ftr" sz="quarter" idx="11"/>
          </p:nvPr>
        </p:nvSpPr>
        <p:spPr/>
        <p:txBody>
          <a:bodyPr/>
          <a:lstStyle/>
          <a:p>
            <a:pPr>
              <a:defRPr/>
            </a:pPr>
            <a:r>
              <a:rPr lang="fr-FR" smtClean="0"/>
              <a:t>Pr Ahmed Fathi </a:t>
            </a:r>
            <a:endParaRPr lang="fr-FR"/>
          </a:p>
        </p:txBody>
      </p:sp>
      <p:pic>
        <p:nvPicPr>
          <p:cNvPr id="25603" name="Picture 3"/>
          <p:cNvPicPr>
            <a:picLocks noChangeAspect="1" noChangeArrowheads="1"/>
          </p:cNvPicPr>
          <p:nvPr/>
        </p:nvPicPr>
        <p:blipFill>
          <a:blip r:embed="rId2"/>
          <a:srcRect/>
          <a:stretch>
            <a:fillRect/>
          </a:stretch>
        </p:blipFill>
        <p:spPr bwMode="auto">
          <a:xfrm>
            <a:off x="0" y="71414"/>
            <a:ext cx="9144000" cy="1000132"/>
          </a:xfrm>
          <a:prstGeom prst="rect">
            <a:avLst/>
          </a:prstGeom>
          <a:noFill/>
          <a:ln w="9525">
            <a:noFill/>
            <a:miter lim="800000"/>
            <a:headEnd/>
            <a:tailEnd/>
          </a:ln>
          <a:effectLst/>
        </p:spPr>
      </p:pic>
      <p:pic>
        <p:nvPicPr>
          <p:cNvPr id="25604" name="Picture 4"/>
          <p:cNvPicPr>
            <a:picLocks noGrp="1" noChangeAspect="1" noChangeArrowheads="1"/>
          </p:cNvPicPr>
          <p:nvPr>
            <p:ph idx="1"/>
          </p:nvPr>
        </p:nvPicPr>
        <p:blipFill>
          <a:blip r:embed="rId3"/>
          <a:srcRect/>
          <a:stretch>
            <a:fillRect/>
          </a:stretch>
        </p:blipFill>
        <p:spPr bwMode="auto">
          <a:xfrm>
            <a:off x="0" y="1071546"/>
            <a:ext cx="9144000" cy="1869245"/>
          </a:xfrm>
          <a:prstGeom prst="rect">
            <a:avLst/>
          </a:prstGeom>
          <a:noFill/>
          <a:ln w="9525">
            <a:noFill/>
            <a:miter lim="800000"/>
            <a:headEnd/>
            <a:tailEnd/>
          </a:ln>
          <a:effectLst/>
        </p:spPr>
      </p:pic>
      <p:pic>
        <p:nvPicPr>
          <p:cNvPr id="25605" name="Picture 5"/>
          <p:cNvPicPr>
            <a:picLocks noChangeAspect="1" noChangeArrowheads="1"/>
          </p:cNvPicPr>
          <p:nvPr/>
        </p:nvPicPr>
        <p:blipFill>
          <a:blip r:embed="rId4"/>
          <a:srcRect/>
          <a:stretch>
            <a:fillRect/>
          </a:stretch>
        </p:blipFill>
        <p:spPr bwMode="auto">
          <a:xfrm>
            <a:off x="0" y="2928934"/>
            <a:ext cx="9144000" cy="1071571"/>
          </a:xfrm>
          <a:prstGeom prst="rect">
            <a:avLst/>
          </a:prstGeom>
          <a:noFill/>
          <a:ln w="9525">
            <a:noFill/>
            <a:miter lim="800000"/>
            <a:headEnd/>
            <a:tailEnd/>
          </a:ln>
          <a:effectLst/>
        </p:spPr>
      </p:pic>
      <p:sp>
        <p:nvSpPr>
          <p:cNvPr id="25607" name="AutoShape 7" descr="data:image/png;base64,iVBORw0KGgoAAAANSUhEUgAAAQQAAADCCAMAAACYEEwlAAACKFBMVEX////MzMzIyMjV49WSupI8jzyPj4/B18GpyKnX19eTk5OMjIzc3NyBgYGWlpZtbW1hYWGhoaH/7P//j4/R0f/Nzf//sP+6urri4uL19fVDQ0P9/f+oqKhjY2NcXFyHh4f/eHh6enqbm/+QkP/Fxf97e///8vL/fn5KSkrj4/////WJlq4AAABra3j39/fs7Oz/4eHZ2f/169z/ubn/mP//ZGT/Xf//9v//yP//eP//1///af//yMj/h4epqf+0tLT/fP82Njb//+vs7P/09P+srP+IiP//6P//qKj/of//tf+5xIX/m/+yzrL/2v//lZVyeZSnjnu2tv//1dWSkv8lJSUAagAAegD/oaH/v//u3siZscP/XFxup2623t//jP/o+v+Xv5erm33X7P3/w8MAAC62v8q2r57C0+MbOl+PqL06gABdsJcAeihcZVxOl06nK66yxpeEvqquNB3/sd3R7vVJlDfoZmAbhxtypV3p0enXdtfVZdWOg3c4TGnVrdWSpJJseYbSxbGSg02SoHLVqpixoZTQ1q08gDyaiICEe3atv9PczrYwkUpRqoqSq1Ga0MtBmmjiybOJcVo7KzFeZ30hFA16kp6pZKmdWVl6n3peU0Nmjql1ksG2ALaQPs3aAP+mAP9AR1BwcP9cc9VjlJKplW7BXDRtbZFISJQ6OFBhYdNxYnFPWU9PPTFVNycfGy5DdUNGFQAAADoiCgAcJENJbYAnGixJJ3CfAAAaa0lEQVR4nO1diUMbV3r/NNiyRxqNPNjxjJBACAw2Q9CY8YExNgJDsHES2+ArEckiQ1bSstu43TZZt128Qe1qw7E9TCjdJd22Tpu2aeqkV/rv9b0ZHfPmHl3Yu/xs0BzfvBn9ePO975o3AAc4wAEO4AVb+f2+gn0FBVDMirnfaRLmfgBzy3P5wuZ+X8h+IjIEnZBeUZZTrL+KuPI7EArg5aDfH4zjFfQ/FAjG8YYyVJHSJ/6Ff4LxQDyoCJf2EqLBuL8qiuWwPCka1J4fr1TOHw8G46W9pSsNkudXNuCrxMJc0A0LGhLuT1Y3J2Pqp9IGxQBIKWUlCH6QeErQtBDUfgbVH4HHBwXRvwAYRSVeI5qSkAzaQooKvOYIfG6GKp2fl2ha4jWiqAHy/LEI4KtMoZXU/fvuSMC3g7J4JqEhofQ1aWiLgCS1KRto/J+GiMRrSaC1n7T6ExHQQYqwH4yiEUEjKkRwk4JONCJojsDnRs2p5xcikiRoSUANkOcXkvgziZsUEmfckKAoRnWxM6bZ3oagLPzwRwBv/h55EM+4aVpB3LWkB1Eh5VYydsz9+RV8yFWXkw8eP36gLD1+DPD+YY9NvTTgujwe8Puz1eXkQ4ASCX/wvWs//rhxl9VapDo9HvCHfzR2ubycfHhUeqgsHb724zc/emVJAFejgwZdPzn37uiIupx88OSJ2hMOwx+/D68sCazX24GFc1dh4ry6Ih3i/wRG0A3yMbz5I3jS8KtrFViP8l0snO2G9ou3lLVHf3ry/OjsWOMvq6Xw0BPEFB4lsbHSf6Efzk/gbY9+in9HLy6ONOPiWoaAswgaQ6B/gwMZk6AaK6fvwsjFS7gnqALtYyebcXGCr4nQ2HJ+60uoYPUpbGdyWd4HFdLeeQfg5gQ8+llZpqItGwlf45s0bdxVT9D4Dl3+oHL0B6cBRsb81ZZGqkNnw9ASEnxBvyudoJCwoCyeCZe29V9Avz5p00idn9UfV8YvPqrhIsGSBCpqspGmfVKktsbDHW7kh6C4sLqsLFZIgP73+uGQlgS4NEZe3ZGjR48ewQtvfs/L1ZldpxYb9BBylZJCkgFJkO8gF0hCbgqzQUsZ5BahtQj2l5JSRHHnpEhUkuwbd0cCOkdZjxzT+A7ddx8RJKBb4pZ29fH7j95/Hy/URwKvCUz4g5SMuqS8u57b7cxl19Z9g0WeC2MXl4U0t5ad4yQ21zaUhfRaOLewysfYAtOVtW4cw7PvoCUBbv9Zm243cUs8bnv7SANI0EHchVQ6X+A+YuVYNk0t+MHPpfNYu6Wz/JpUzHLFDD8E6TwnxvwQ4ArLhaGMbeOeSQhT2rU//7l+/6XR6vLjtsNNIAEK8SywnPwRL1OdLASZkMDL6F7lQfb5s4XgcpGN+BdAzvNilg5N51iJ5cyaqTbuC5vtt0GcuL8e/fwdvUD7xfby4uMHDx80gYQq+k37uefGpZDHQ7sIO/tQ290LBpHRS5XFUojhF48fH66FhxbZCTU4UFqg0aHfyMLJxfJSnXGWVhlLXh2oTiJohYdI7EnocL08VjaFhFRMUiN3JbOAidJq7DBSjWVisVTMlsTqTg9BFTmGdWKcMEhUO8HIQtl8/BTaFy/pd7qH+egwCH6Wh0gKtpeViDYaAkQ/UoTpOzJPy5QkCECj0SIZj9DJFNC+CDIYUhGI+Bg+ymRFSQBeIhpPugpcor/+ehadBvS+RslY6r5iOOQtxaP6FPnZJ99y9YXNoF7nueNafCB2BRbWC9m4vFIs5jeQZ8PtxjY4zs/LK+sSGy9kOWQnbCzjTl78hJM6s4U8m9tlkN2/UYjtFmJ5rrBLA8GwKwcKZ6CK/C7mj/Q1yhbjcSMLl3CU4TAgv+pyzfEG856AnBhWzsbFwWIxs04tbAg0h34GBXmBhcBgOssW23Z9Er7UdaGwy6ym8iGJ2kWGAytyK2kuuxGh1qAuB6ozxmqOrpjNtw1DJfK1r5d0QvvFGj1M83sabfWJghwEmSqizikHJZ8czBQWgKPBJxc3CynIxRQ5nxDMoEXWJ/mXQZZ8IlPggMsmA3lN4z7WXcjdzIFSUPUdrtw2HjZxqRx2HH3XzWkMqGV0EN2mjb07UHP5OdWBmpzU7tA4UFe6jcfNVkaHm4vGvc5o0RDZ4SoNh+T50uBDZKAIL9LEYNAMkbdqUQwtIsFwOyRjcdbU8yyBcKBIV9qEBY2dMDLWbtjtBHMS5Limx4uViy0Gp2tsXO9AFRNZht7YNYtaqEgQGUYynoAjDCQIY2nCs8WgXufUCS0GxDXgIJdFZgsbScXST8VgpIDUO9KRaxLngYcqCUyC2CGqX7FfACskaO3aIZ0rrTebSIvxpI1iEI+gP/Hbptc5/JoWA/ImQHqzwOU35NjKM99mEPzBrTwe5oqeammsSFj3B0y9Tg30DpRut44FndlstBgibyMk0YL4S7j2JGN5nVokpAQylGI4nrBbbBtcF1gOkVDICrvPlh2u3rxx0oGSnZk0OFA6kMaj3ncYuahTDG0PDx16iG9r8Zfi4Yz1dWohpqbBRyNjOMnEaeCTqagQQbcBnQXJi1awdqAocAAZVDGSQBqPRgdqlFQMbY8j8EQh4fDHf2F3naZIWt+2zqg2TumCKnaFDcUM+hUizmtCAsGCiRc5S6Rp2h6/3aaS8DDzl39lfZ1NQLVxQR9UoTkEfY2JH/oTQchlwMp3IKBhwcyVvjShWWl78PDBA/V2AHioj8zvV/Jla4curu1liG1KBurZZiFjkDclQeNImMYTbl3Urr2tBOVBfB+ppL+2vs4qsBep3sSloqRU6aJwmlBzhJwI2UbfbEhYQgp27ZlOQWocqGNc0MyBIlFxJMyDKti1qkDNTNhd5+WTWlwWB5P+1Y3lYiK/nUrsAhQCPo4P5otrW3eKXKy4ilzpiD+ewd+MXRp0ahxnoAzRZrkjdIb6LENu1DhQlr4DgTILVpGliapD5UxCO4ERMZyaZq9lkducKkIxNbjNZbkNjh8EeZOF9ZVriIStIfYjhQS7uJmt7yBEQZ/OGoLCykYpA0UYFlYklFmwDK/NVvITR396y0rIMrIErLyJekKOwz0hF/RxxSCzPiTucMAWVzdXhyIb/gy+HfJ2gYJq4yGTEj55Tb8FaS6hZKNbO1AkrhzHv61jjJX8xNEjb1mm9WtRjNdWXApaOVBo3LVznjBsHCgSZ7E7ZRNobS+pR3Q7EOOFFlQz6xOsHKg4v+lkNocN0WYrYKfSLtocVdUj1gnXaw09NQY8EW3egPR3DgeQ1W52JGAW7EPuEzehpBhHRuuISdcP8kshF9pHUbSFLEYXoWtsSYD+boe8w8mTldFh1rK4ofkwZKAKOzHOzsZwcqAI9P/Q4fTvjlaGSEvF0ALoR9Kcgzfq4Err8HG3w+mvX6zYCTXHpOuG0Vj6m66uXVNRMYVdCtPkiyUOm+TodPjbirEUHW181ZM76JMvS3kwxtZikNzg0h+lDPKOJJjl6EhoLcbzTSkEdIaeBOQiJJO6bWoJXypbLuaswgUJTiwQZvPNCfv2mgS9YVnoPNZpuB1UB0qxo7oCLhyoCpTRwZ4F0ncgPcyWwBcMGOoTKOANci4yUOZQh0hbFvQOlNbDbBEMGajCIP6vwxAUNw0lfBjuSLBlweBF1piyqwMGEpR4gl5KU8LnbYgsG0s2LBhd6dpSdnXAMESKLxIddjFn1w6UgorFaM2CSTzhVjPqpG2gI0FEA4AUBdkm+UK4t65JsGbBLKgyMtZSxaAv4cuFUzQVNreWFIQIX9s9CZYsmEeWvKfs6oChhE/k2ZhdnXRtOgHjwl1TEYvw2snz9i03EvWX8NmC8CKPm7JgFWO8PNY6xeC1hM99UAWDdKVvm7FgHWgdsw4+NhZmJXxGY0mFkoEyK+GzRPJwVOARSk/asz/5VWkpUX6Yned//QkfQTA7fLFFrkREX8KX3llK6IwlNGTIITRsKhkoVw6Uj4oH0PcMpZ7EYpIgCJWvaLgjBOnQ23QsFuOC/mDI7+dwRKfqwL07Ci2BIfmS2QOyZqF/bxCOQackuchARXzBRCDOUeU8niGydNVwRxC3g8QwPMuFEINBHptnI61RDEYH6k6O7AkRefDaHSjVbVmV8CEwbCjB6oLkxvCa2heGEU70KPj879TPebxteKoiSNMxfyIQ+M3sEdq6bqYRoNmYQScUpvWWkjwoIhIy6sr917W7yiQk+XiCN7mvSRKmBubH7/1930xv7/wpBIgi4J6gfA7jTafGe3t7+3p7Z8bH56emlGqDy7/x+VHPCMToevLwtnj9dd0Guevpkm7uFHkQwtJQacUk0JrkEn6L2GyJhKnX5vF3G58fno7q9YLp6BCdnh6Yn+9BB93rGf+HWxmkmESeDyI9k/I5ZUa8w2AnLC0Pgc6KTDIgxsqn7tT7DnQiaP0nOgzDb/T2zYyfmtJ0aVIv2OUiMaanBhb/8V7fvZlTp1AbYoRKIS44s25XMwwlfIWFobTBi9SAdKAefRK2GlABTrzR92nv/IBxB8GCEwkYt0bR9x8YVnvGiWk8kUgMjbNsg3qF8Rmo4pk1O0WkrVShEp9afYPhnr4+9P0t8g5aFtyQANGJiskwPdyD2u45NYxr7bi4P8TZpUlcQUjoNogB8NuVP1VL+KhOHh6Z2QkD44gAtQ2r5IuGBVck4KJ5crA8MY9us55TqJ9FKH8oxNXTKWg9CUgrGrPSGpQdKF65DwzG0vRrM31vVO8AywxUlQWXJMCIkrQjER0+NdM388YwYpxC2jnA18aEUTHm7UlQOfB1qh2CJGGqp+/eKeJesk7DVVhwS4KxM5QxPT/ei+6PKLo9kNLkKO86U+9Aidsdz+2SUHiI9FW0oYYEdBPcm9JL2+Qiyyy4JwGio9bOxPSJ8Zm+3lPoC/g4fyLmSU8YXWlBYCzqqpXnqlhgjlUHhDIJAzNfzBsYAPvU/GmVBQ8kIMtJXwyqw4memb57w1GQqGAo7n4YNZjNQ8+3dbUeIg2yX1CrwyAR0h6hkDCA1ICFLrXNSqsseCIB4PyikxEdPXEPqUyklxguFHLXJQxpuMyqblarJHKgOqFToHcxs6QiPdQ2Pf6FFQPg9Eigckd4JAHaR40K0ohpNHj0nppCXSIe9ztqCX1PeLZWZEnFWHGgIjg910mU8H3yTz0mxlAVDvUJmAWvJGAF6S7aEj0x3jeDxmrRxybiKcuBw6SED2hI6Toc4UVqSvgG7vX9s6fIkhGIBe8kAMy6j8kPvDHT13MCz8QWT8Qs7HtDCZ/8HLZ1eQcZ3w5l87pSwvfaFz3T5saSBo5PyJ4+WwsJyIL0EoedPtU7M4OGUAkRwZooCcMsfDgDpXOgxLyqGBWoJXzTb3wxjz+9xRjNcPrLWkgAuD7qMRw9fA/ZsVMgUkYiDA7U1h0pZ1MLqzhQ0d6+kiaonwSokQRc2eI5aTmAlQQmIhTSEmHUCYV4TL9JizCFRsSKSdAAEo7+y1lnIXNcGqshdzswPjMzPoCICFaI4MmuLw4WEqGEXU3ov37Ro1lrBAlHrtbMQm004AF0pg8TwSMrGxNBlvCJWZAk25l6/o04oCEkIO3oLGaFS7XO9TVVJsIfmiRHB/Gr1SxN280rWkcGyhx4dOiugwW4PFrzY/llInS5yMLeLhuwq2Psqi01bw1liKyLBTRS1DEB3tR83xf/Tmy5trNlKa3Owue5es0Jqp1Qzx2BMLK4WE/5n2443H59smNSF09AjlM6lI9E5CaSUC8LACdd+RTm0DtQUoTW6UVZcaDCksDjpwG9l/A5oGwx1s0C0pGz3h/HVqB3oOSunSVyiEwqvsNSyXeooYTPHhWzuT69oKB9sYaiWF/QGF7LDOncZTIDVVP1mh2qvkMDWAC4OTbrOWtnqF7bGvxabzYjB2qDKWegmkhCY1iA9lGvtT7GmTSMZnNSQCZFmd7ay3UsoPUiG8MCTumf9zJmei7XqbGEzxqEK12/dizh+ltj77q+Lcxm4bN9aLzWEj5LkPGERvUFhMuLbp8pMszCJ+8she1c6ZpL+KygC6o0kAV0W0y4Gi0MJXzGShUSTdUJGA1lAY8Wi46FocZnoBJ3jAXe2gOItSaQ0GgWYGR21IkHQwlfSvLZaZR6SvhMYYwxmszkVifaZ0dnbXgwlPDNdYXDFl6k8h4oTyV8tZEAN845H+YViIe3rHgwlPCZTFdaKuGLKHPXNM130KIZLNjxoPcdvtxhA2TIXS6V8AnKe6BaQkKTWMA8jL1l4mTpSRAYhiaTNW5L+MxQKwlw44bzkbUB9Qcy9mBSwieuH1vQbWqVA0XgymnnQ2tF9CbJg8F3WM3CnEkJX6Scn3A3k0YZtZMAZ5vIQomH8ig4qU/DhaE8e0oFSRr6Y+XMs9tJJFTUQUKTWUD2w82yXW3IQD17zt7P2BxqqGO0RT0kqNNQNBeXFkffHTFxoJL2L/Jqrhepw3vOh9eNyxMTJ78mtmytLE12TNqF3FszRJbxXoNNaHNc/6luA18qy7GCl0kk6ieh4Y6EKdj/IFbFF693dNy3ey6y+Q4UieNNMpsI6B0oRjLMskSgxT0BmU3HnduoEwZXem5BfGFexyimrCevtkIDSICzzVePerPZxE5AOqKQQE5UrIaZNJwvwEW5TtPVoz4DlVtL6XqC/OEgDMEGQ9O1TSLhADc1S6c/cJapB4bZyeiUviyxnIFSdIWrWfgqaBAJ+KV8TYNJCV+6Y3BPxwLhQE0SzkarSECKoYm3xJlJ3YZwctCgEwZhg6pkoNzNwldCw0gAuNq8sdJQwrdKDxb1L9GWNFPWtc6B0uOD0816NNDgQInhDrtgc2t9BxL93U3SjwadkATK9vlD8sGvlpKA9GO3e1kP0JXwwTf5pV0LY0lFkJiEqcUkoM7Q8HA8QpIs4dtagRfwzK6OsekZKAfc6PYk7go6s3lr5doOFPRBRuIAYq31JKDO0PgYrM6B2rufL3ybsZHfR8VYxpX3GnxPmKTmGYuRSE7hcXI/fAcDzlnMz1IrXLwCSS3hSxb4l4YEpBouNNKCdCahRSV8XtFIGpzfA6Ur4WP3w4EyxTuNib2ZlPCZYF8yUK5w40JDHAo374FqWQlfDbjb/Y7T/KfOcEOCUsJXdq/321gy4OzVOh4aUfGSlfDVhP53uuu7Kzy/SLfJJXw14kr38Tq6g8+uUs0Mzu980aJVJKDuUIeSrPtFuvbSrSMB4Wz36drs6VbOwmeOxpGA8EFtt4XnWfj2M6jiAv03um97HTR59y/STfI49hhvcllvA9B/u/uGJx4kFy/SLc/Cp/SBl8Z3sMXZ455GTWffoTQLnyDFjPIvKwmAK79Ou+bBmQSyhC+c0k7u9BKTANimvuoiPk1zbl6u7WIWPivsLwkId93cF4ZZ+ExAlPB1NeFZ6ebi7vHTDnrSOKG9EbiEr/Je0hZWrzUOZ+3HC3fvldbglSQBsLPZfcPKjop5tRj3LxdZN84iO8o0QOu5J7wyQ6Qp+s91m02h7epd8xq0vHCr4UA86AbO3zIHyh2SeODUKkqvDtSr3xNUIMO6oig99AQxhU3FV1snEDh748JtlQcXOqFUwidyzZxEYn+AHG88/5uLDNSHOAO1wRSy2I38LeoJJZy7evxXjkLR5pfw6d++ZQMPoi5LnOgA50xCrSV8POOaBBdBjTLciwp2LwonYCjhM4FlCV+UUWfhUx6zxy+ZRV4GXqHABxEB1z5VSKC0n5T6ExHwQb8+4iPvsZJohNGIMhHcJIMWtaIRQXMEPrcklM4vRCRJ0gYCmYju/HQSl+QlcZNM2ORFugbgEr7KQ1PHGLoMX/DXR9AHE0abGC5F01SQQStMWAjjNxTwNPOkJKyIVETRL/zDs+gg5j+PYvFKmxVRtLciygQo9JsPCKSoIlI+gvIzdIornZ/lUzGKrYqiBnTnD1L4k/KjJoNdLnoCAdpHVeFrU9bUXz51SfnvU16BS1FtFUntZ1kSS1E0/qC0jZY+CNFqu1pJn/YItcWSnE89v75R4vzVS617DvAD/O5BAAn1IbQgOb30Wn2KikK6RLSbF16F+vIKyeWA5nqiciRoO5NeBViZTkO/7SQqFRR+AEubDGpXHLKdZqIsMJfdyPR/Y/c8ldrswiqSSX/rjoT0912JAWx9Hworc45nB1jaQVfaCV203eTtZYj0ECzlBeXPZlvpiHZvwof4/YrPNpmcvljcgA3lSRvfqnOXwfBtuBJDgiFYzcifO8qJzB34GgrcAmy7aheRsED5ZC4PlD1riISwSgIUXJAg437lkgRwSwIkEAnXnEkA2EH/CoEFWHXVLCIhAzgPkYWvbQXT+HkhdLlzyy5ImFt+hmUaTkIYisvP7HusAnEHXynqD0POsggcFOL+ILrYYtzhRTy5UCadl0MLpSlIbJFcZyEGhhmzrWA7i65OcN1FkSb+WnIoiy65aS8XOsABDnCAAxzgAO7wX5OTkwb7SdQYoJ9pd3xZtjJk0upJiF+VlvC7KHIL6819mWKjoQSyGDomgRjLg+zLAk/haBytTt9D+c4ABSL2UikqC0tZvBkJ/vzpdH9MwO+QxIHWQl58CnxURlvS3wHsZWR7h+5lwzfhcDiz9DT3A9jLbucLT5ml3eJ/w/P0DvUc7S2u5b4PeyCjbya+HtveXNrJPYVvsnv5ZzvSZ9RnmS/xOvrWyNYtLohf+c4swwuQ75S4fWXwQpIk/NaxM9e+4lYHkTe6B8gR2Vla4/aW8bdDX2dPeSUZMumv7WBBtCB/nv4cuZqFzaVlwFw9B/F/voWtHW57E4qbuJrqxX5/L09Q/mT4u8FXIOcRCdt5+X9hp7CiOA/beRH1hOUC7gn/F302qAhOQm4l/bn8FO2dU0k4A+LT9Hdp5PxNg9g5BK9aT9ju6JhcKeSRo5ueXIsWsiB+mHgKa7A6iVWfuLeGd7C7aPH59hrkSoJoRz43uYL8QmXq1KVlpErnlnOT+HXweJI01FteacztFu+YbRefWh8j6sMZRbsHm18FUBbBPbswuD526CqWeIADHMAT/h8BG/t3/QWl1QAAAABJRU5ErkJgg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25609" name="AutoShape 9" descr="data:image/png;base64,iVBORw0KGgoAAAANSUhEUgAAAQQAAADCCAMAAACYEEwlAAACKFBMVEX////MzMzIyMjV49WSupI8jzyPj4/B18GpyKnX19eTk5OMjIzc3NyBgYGWlpZtbW1hYWGhoaH/7P//j4/R0f/Nzf//sP+6urri4uL19fVDQ0P9/f+oqKhjY2NcXFyHh4f/eHh6enqbm/+QkP/Fxf97e///8vL/fn5KSkrj4/////WJlq4AAABra3j39/fs7Oz/4eHZ2f/169z/ubn/mP//ZGT/Xf//9v//yP//eP//1///af//yMj/h4epqf+0tLT/fP82Njb//+vs7P/09P+srP+IiP//6P//qKj/of//tf+5xIX/m/+yzrL/2v//lZVyeZSnjnu2tv//1dWSkv8lJSUAagAAegD/oaH/v//u3siZscP/XFxup2623t//jP/o+v+Xv5erm33X7P3/w8MAAC62v8q2r57C0+MbOl+PqL06gABdsJcAeihcZVxOl06nK66yxpeEvqquNB3/sd3R7vVJlDfoZmAbhxtypV3p0enXdtfVZdWOg3c4TGnVrdWSpJJseYbSxbGSg02SoHLVqpixoZTQ1q08gDyaiICEe3atv9PczrYwkUpRqoqSq1Ga0MtBmmjiybOJcVo7KzFeZ30hFA16kp6pZKmdWVl6n3peU0Nmjql1ksG2ALaQPs3aAP+mAP9AR1BwcP9cc9VjlJKplW7BXDRtbZFISJQ6OFBhYdNxYnFPWU9PPTFVNycfGy5DdUNGFQAAADoiCgAcJENJbYAnGixJJ3CfAAAaa0lEQVR4nO1diUMbV3r/NNiyRxqNPNjxjJBACAw2Q9CY8YExNgJDsHES2+ArEckiQ1bSstu43TZZt128Qe1qw7E9TCjdJd22Tpu2aeqkV/rv9b0ZHfPmHl3Yu/xs0BzfvBn9ePO975o3AAc4wAEO4AVb+f2+gn0FBVDMirnfaRLmfgBzy3P5wuZ+X8h+IjIEnZBeUZZTrL+KuPI7EArg5aDfH4zjFfQ/FAjG8YYyVJHSJ/6Ff4LxQDyoCJf2EqLBuL8qiuWwPCka1J4fr1TOHw8G46W9pSsNkudXNuCrxMJc0A0LGhLuT1Y3J2Pqp9IGxQBIKWUlCH6QeErQtBDUfgbVH4HHBwXRvwAYRSVeI5qSkAzaQooKvOYIfG6GKp2fl2ha4jWiqAHy/LEI4KtMoZXU/fvuSMC3g7J4JqEhofQ1aWiLgCS1KRto/J+GiMRrSaC1n7T6ExHQQYqwH4yiEUEjKkRwk4JONCJojsDnRs2p5xcikiRoSUANkOcXkvgziZsUEmfckKAoRnWxM6bZ3oagLPzwRwBv/h55EM+4aVpB3LWkB1Eh5VYydsz9+RV8yFWXkw8eP36gLD1+DPD+YY9NvTTgujwe8Puz1eXkQ4ASCX/wvWs//rhxl9VapDo9HvCHfzR2ubycfHhUeqgsHb724zc/emVJAFejgwZdPzn37uiIupx88OSJ2hMOwx+/D68sCazX24GFc1dh4ry6Ih3i/wRG0A3yMbz5I3jS8KtrFViP8l0snO2G9ou3lLVHf3ry/OjsWOMvq6Xw0BPEFB4lsbHSf6Efzk/gbY9+in9HLy6ONOPiWoaAswgaQ6B/gwMZk6AaK6fvwsjFS7gnqALtYyebcXGCr4nQ2HJ+60uoYPUpbGdyWd4HFdLeeQfg5gQ8+llZpqItGwlf45s0bdxVT9D4Dl3+oHL0B6cBRsb81ZZGqkNnw9ASEnxBvyudoJCwoCyeCZe29V9Avz5p00idn9UfV8YvPqrhIsGSBCpqspGmfVKktsbDHW7kh6C4sLqsLFZIgP73+uGQlgS4NEZe3ZGjR48ewQtvfs/L1ZldpxYb9BBylZJCkgFJkO8gF0hCbgqzQUsZ5BahtQj2l5JSRHHnpEhUkuwbd0cCOkdZjxzT+A7ddx8RJKBb4pZ29fH7j95/Hy/URwKvCUz4g5SMuqS8u57b7cxl19Z9g0WeC2MXl4U0t5ad4yQ21zaUhfRaOLewysfYAtOVtW4cw7PvoCUBbv9Zm243cUs8bnv7SANI0EHchVQ6X+A+YuVYNk0t+MHPpfNYu6Wz/JpUzHLFDD8E6TwnxvwQ4ArLhaGMbeOeSQhT2rU//7l+/6XR6vLjtsNNIAEK8SywnPwRL1OdLASZkMDL6F7lQfb5s4XgcpGN+BdAzvNilg5N51iJ5cyaqTbuC5vtt0GcuL8e/fwdvUD7xfby4uMHDx80gYQq+k37uefGpZDHQ7sIO/tQ290LBpHRS5XFUojhF48fH66FhxbZCTU4UFqg0aHfyMLJxfJSnXGWVhlLXh2oTiJohYdI7EnocL08VjaFhFRMUiN3JbOAidJq7DBSjWVisVTMlsTqTg9BFTmGdWKcMEhUO8HIQtl8/BTaFy/pd7qH+egwCH6Wh0gKtpeViDYaAkQ/UoTpOzJPy5QkCECj0SIZj9DJFNC+CDIYUhGI+Bg+ymRFSQBeIhpPugpcor/+ehadBvS+RslY6r5iOOQtxaP6FPnZJ99y9YXNoF7nueNafCB2BRbWC9m4vFIs5jeQZ8PtxjY4zs/LK+sSGy9kOWQnbCzjTl78hJM6s4U8m9tlkN2/UYjtFmJ5rrBLA8GwKwcKZ6CK/C7mj/Q1yhbjcSMLl3CU4TAgv+pyzfEG856AnBhWzsbFwWIxs04tbAg0h34GBXmBhcBgOssW23Z9Er7UdaGwy6ym8iGJ2kWGAytyK2kuuxGh1qAuB6ozxmqOrpjNtw1DJfK1r5d0QvvFGj1M83sabfWJghwEmSqizikHJZ8czBQWgKPBJxc3CynIxRQ5nxDMoEXWJ/mXQZZ8IlPggMsmA3lN4z7WXcjdzIFSUPUdrtw2HjZxqRx2HH3XzWkMqGV0EN2mjb07UHP5OdWBmpzU7tA4UFe6jcfNVkaHm4vGvc5o0RDZ4SoNh+T50uBDZKAIL9LEYNAMkbdqUQwtIsFwOyRjcdbU8yyBcKBIV9qEBY2dMDLWbtjtBHMS5Limx4uViy0Gp2tsXO9AFRNZht7YNYtaqEgQGUYynoAjDCQIY2nCs8WgXufUCS0GxDXgIJdFZgsbScXST8VgpIDUO9KRaxLngYcqCUyC2CGqX7FfACskaO3aIZ0rrTebSIvxpI1iEI+gP/Hbptc5/JoWA/ImQHqzwOU35NjKM99mEPzBrTwe5oqeammsSFj3B0y9Tg30DpRut44FndlstBgibyMk0YL4S7j2JGN5nVokpAQylGI4nrBbbBtcF1gOkVDICrvPlh2u3rxx0oGSnZk0OFA6kMaj3ncYuahTDG0PDx16iG9r8Zfi4Yz1dWohpqbBRyNjOMnEaeCTqagQQbcBnQXJi1awdqAocAAZVDGSQBqPRgdqlFQMbY8j8EQh4fDHf2F3naZIWt+2zqg2TumCKnaFDcUM+hUizmtCAsGCiRc5S6Rp2h6/3aaS8DDzl39lfZ1NQLVxQR9UoTkEfY2JH/oTQchlwMp3IKBhwcyVvjShWWl78PDBA/V2AHioj8zvV/Jla4curu1liG1KBurZZiFjkDclQeNImMYTbl3Urr2tBOVBfB+ppL+2vs4qsBep3sSloqRU6aJwmlBzhJwI2UbfbEhYQgp27ZlOQWocqGNc0MyBIlFxJMyDKti1qkDNTNhd5+WTWlwWB5P+1Y3lYiK/nUrsAhQCPo4P5otrW3eKXKy4ilzpiD+ewd+MXRp0ahxnoAzRZrkjdIb6LENu1DhQlr4DgTILVpGliapD5UxCO4ERMZyaZq9lkducKkIxNbjNZbkNjh8EeZOF9ZVriIStIfYjhQS7uJmt7yBEQZ/OGoLCykYpA0UYFlYklFmwDK/NVvITR396y0rIMrIErLyJekKOwz0hF/RxxSCzPiTucMAWVzdXhyIb/gy+HfJ2gYJq4yGTEj55Tb8FaS6hZKNbO1AkrhzHv61jjJX8xNEjb1mm9WtRjNdWXApaOVBo3LVznjBsHCgSZ7E7ZRNobS+pR3Q7EOOFFlQz6xOsHKg4v+lkNocN0WYrYKfSLtocVdUj1gnXaw09NQY8EW3egPR3DgeQ1W52JGAW7EPuEzehpBhHRuuISdcP8kshF9pHUbSFLEYXoWtsSYD+boe8w8mTldFh1rK4ofkwZKAKOzHOzsZwcqAI9P/Q4fTvjlaGSEvF0ALoR9Kcgzfq4Err8HG3w+mvX6zYCTXHpOuG0Vj6m66uXVNRMYVdCtPkiyUOm+TodPjbirEUHW181ZM76JMvS3kwxtZikNzg0h+lDPKOJJjl6EhoLcbzTSkEdIaeBOQiJJO6bWoJXypbLuaswgUJTiwQZvPNCfv2mgS9YVnoPNZpuB1UB0qxo7oCLhyoCpTRwZ4F0ncgPcyWwBcMGOoTKOANci4yUOZQh0hbFvQOlNbDbBEMGajCIP6vwxAUNw0lfBjuSLBlweBF1piyqwMGEpR4gl5KU8LnbYgsG0s2LBhd6dpSdnXAMESKLxIddjFn1w6UgorFaM2CSTzhVjPqpG2gI0FEA4AUBdkm+UK4t65JsGbBLKgyMtZSxaAv4cuFUzQVNreWFIQIX9s9CZYsmEeWvKfs6oChhE/k2ZhdnXRtOgHjwl1TEYvw2snz9i03EvWX8NmC8CKPm7JgFWO8PNY6xeC1hM99UAWDdKVvm7FgHWgdsw4+NhZmJXxGY0mFkoEyK+GzRPJwVOARSk/asz/5VWkpUX6Yned//QkfQTA7fLFFrkREX8KX3llK6IwlNGTIITRsKhkoVw6Uj4oH0PcMpZ7EYpIgCJWvaLgjBOnQ23QsFuOC/mDI7+dwRKfqwL07Ci2BIfmS2QOyZqF/bxCOQackuchARXzBRCDOUeU8niGydNVwRxC3g8QwPMuFEINBHptnI61RDEYH6k6O7AkRefDaHSjVbVmV8CEwbCjB6oLkxvCa2heGEU70KPj879TPebxteKoiSNMxfyIQ+M3sEdq6bqYRoNmYQScUpvWWkjwoIhIy6sr917W7yiQk+XiCN7mvSRKmBubH7/1930xv7/wpBIgi4J6gfA7jTafGe3t7+3p7Z8bH56emlGqDy7/x+VHPCMToevLwtnj9dd0Guevpkm7uFHkQwtJQacUk0JrkEn6L2GyJhKnX5vF3G58fno7q9YLp6BCdnh6Yn+9BB93rGf+HWxmkmESeDyI9k/I5ZUa8w2AnLC0Pgc6KTDIgxsqn7tT7DnQiaP0nOgzDb/T2zYyfmtJ0aVIv2OUiMaanBhb/8V7fvZlTp1AbYoRKIS44s25XMwwlfIWFobTBi9SAdKAefRK2GlABTrzR92nv/IBxB8GCEwkYt0bR9x8YVnvGiWk8kUgMjbNsg3qF8Rmo4pk1O0WkrVShEp9afYPhnr4+9P0t8g5aFtyQANGJiskwPdyD2u45NYxr7bi4P8TZpUlcQUjoNogB8NuVP1VL+KhOHh6Z2QkD44gAtQ2r5IuGBVck4KJ5crA8MY9us55TqJ9FKH8oxNXTKWg9CUgrGrPSGpQdKF65DwzG0vRrM31vVO8AywxUlQWXJMCIkrQjER0+NdM388YwYpxC2jnA18aEUTHm7UlQOfB1qh2CJGGqp+/eKeJesk7DVVhwS4KxM5QxPT/ei+6PKLo9kNLkKO86U+9Aidsdz+2SUHiI9FW0oYYEdBPcm9JL2+Qiyyy4JwGio9bOxPSJ8Zm+3lPoC/g4fyLmSU8YXWlBYCzqqpXnqlhgjlUHhDIJAzNfzBsYAPvU/GmVBQ8kIMtJXwyqw4memb57w1GQqGAo7n4YNZjNQ8+3dbUeIg2yX1CrwyAR0h6hkDCA1ICFLrXNSqsseCIB4PyikxEdPXEPqUyklxguFHLXJQxpuMyqblarJHKgOqFToHcxs6QiPdQ2Pf6FFQPg9Eigckd4JAHaR40K0ohpNHj0nppCXSIe9ztqCX1PeLZWZEnFWHGgIjg910mU8H3yTz0mxlAVDvUJmAWvJGAF6S7aEj0x3jeDxmrRxybiKcuBw6SED2hI6Toc4UVqSvgG7vX9s6fIkhGIBe8kAMy6j8kPvDHT13MCz8QWT8Qs7HtDCZ/8HLZ1eQcZ3w5l87pSwvfaFz3T5saSBo5PyJ4+WwsJyIL0EoedPtU7M4OGUAkRwZooCcMsfDgDpXOgxLyqGBWoJXzTb3wxjz+9xRjNcPrLWkgAuD7qMRw9fA/ZsVMgUkYiDA7U1h0pZ1MLqzhQ0d6+kiaonwSokQRc2eI5aTmAlQQmIhTSEmHUCYV4TL9JizCFRsSKSdAAEo7+y1lnIXNcGqshdzswPjMzPoCICFaI4MmuLw4WEqGEXU3ov37Ro1lrBAlHrtbMQm004AF0pg8TwSMrGxNBlvCJWZAk25l6/o04oCEkIO3oLGaFS7XO9TVVJsIfmiRHB/Gr1SxN280rWkcGyhx4dOiugwW4PFrzY/llInS5yMLeLhuwq2Psqi01bw1liKyLBTRS1DEB3tR83xf/Tmy5trNlKa3Owue5es0Jqp1Qzx2BMLK4WE/5n2443H59smNSF09AjlM6lI9E5CaSUC8LACdd+RTm0DtQUoTW6UVZcaDCksDjpwG9l/A5oGwx1s0C0pGz3h/HVqB3oOSunSVyiEwqvsNSyXeooYTPHhWzuT69oKB9sYaiWF/QGF7LDOncZTIDVVP1mh2qvkMDWAC4OTbrOWtnqF7bGvxabzYjB2qDKWegmkhCY1iA9lGvtT7GmTSMZnNSQCZFmd7ay3UsoPUiG8MCTumf9zJmei7XqbGEzxqEK12/dizh+ltj77q+Lcxm4bN9aLzWEj5LkPGERvUFhMuLbp8pMszCJ+8she1c6ZpL+KygC6o0kAV0W0y4Gi0MJXzGShUSTdUJGA1lAY8Wi46FocZnoBJ3jAXe2gOItSaQ0GgWYGR21IkHQwlfSvLZaZR6SvhMYYwxmszkVifaZ0dnbXgwlPDNdYXDFl6k8h4oTyV8tZEAN845H+YViIe3rHgwlPCZTFdaKuGLKHPXNM130KIZLNjxoPcdvtxhA2TIXS6V8AnKe6BaQkKTWMA8jL1l4mTpSRAYhiaTNW5L+MxQKwlw44bzkbUB9Qcy9mBSwieuH1vQbWqVA0XgymnnQ2tF9CbJg8F3WM3CnEkJX6Scn3A3k0YZtZMAZ5vIQomH8ig4qU/DhaE8e0oFSRr6Y+XMs9tJJFTUQUKTWUD2w82yXW3IQD17zt7P2BxqqGO0RT0kqNNQNBeXFkffHTFxoJL2L/Jqrhepw3vOh9eNyxMTJ78mtmytLE12TNqF3FszRJbxXoNNaHNc/6luA18qy7GCl0kk6ieh4Y6EKdj/IFbFF693dNy3ey6y+Q4UieNNMpsI6B0oRjLMskSgxT0BmU3HnduoEwZXem5BfGFexyimrCevtkIDSICzzVePerPZxE5AOqKQQE5UrIaZNJwvwEW5TtPVoz4DlVtL6XqC/OEgDMEGQ9O1TSLhADc1S6c/cJapB4bZyeiUviyxnIFSdIWrWfgqaBAJ+KV8TYNJCV+6Y3BPxwLhQE0SzkarSECKoYm3xJlJ3YZwctCgEwZhg6pkoNzNwldCw0gAuNq8sdJQwrdKDxb1L9GWNFPWtc6B0uOD0816NNDgQInhDrtgc2t9BxL93U3SjwadkATK9vlD8sGvlpKA9GO3e1kP0JXwwTf5pV0LY0lFkJiEqcUkoM7Q8HA8QpIs4dtagRfwzK6OsekZKAfc6PYk7go6s3lr5doOFPRBRuIAYq31JKDO0PgYrM6B2rufL3ybsZHfR8VYxpX3GnxPmKTmGYuRSE7hcXI/fAcDzlnMz1IrXLwCSS3hSxb4l4YEpBouNNKCdCahRSV8XtFIGpzfA6Ur4WP3w4EyxTuNib2ZlPCZYF8yUK5w40JDHAo374FqWQlfDbjb/Y7T/KfOcEOCUsJXdq/321gy4OzVOh4aUfGSlfDVhP53uuu7Kzy/SLfJJXw14kr38Tq6g8+uUs0Mzu980aJVJKDuUIeSrPtFuvbSrSMB4Wz36drs6VbOwmeOxpGA8EFtt4XnWfj2M6jiAv03um97HTR59y/STfI49hhvcllvA9B/u/uGJx4kFy/SLc/Cp/SBl8Z3sMXZ455GTWffoTQLnyDFjPIvKwmAK79Ou+bBmQSyhC+c0k7u9BKTANimvuoiPk1zbl6u7WIWPivsLwkId93cF4ZZ+ExAlPB1NeFZ6ebi7vHTDnrSOKG9EbiEr/Je0hZWrzUOZ+3HC3fvldbglSQBsLPZfcPKjop5tRj3LxdZN84iO8o0QOu5J7wyQ6Qp+s91m02h7epd8xq0vHCr4UA86AbO3zIHyh2SeODUKkqvDtSr3xNUIMO6oig99AQxhU3FV1snEDh748JtlQcXOqFUwidyzZxEYn+AHG88/5uLDNSHOAO1wRSy2I38LeoJJZy7evxXjkLR5pfw6d++ZQMPoi5LnOgA50xCrSV8POOaBBdBjTLciwp2LwonYCjhM4FlCV+UUWfhUx6zxy+ZRV4GXqHABxEB1z5VSKC0n5T6ExHwQb8+4iPvsZJohNGIMhHcJIMWtaIRQXMEPrcklM4vRCRJ0gYCmYju/HQSl+QlcZNM2ORFugbgEr7KQ1PHGLoMX/DXR9AHE0abGC5F01SQQStMWAjjNxTwNPOkJKyIVETRL/zDs+gg5j+PYvFKmxVRtLciygQo9JsPCKSoIlI+gvIzdIornZ/lUzGKrYqiBnTnD1L4k/KjJoNdLnoCAdpHVeFrU9bUXz51SfnvU16BS1FtFUntZ1kSS1E0/qC0jZY+CNFqu1pJn/YItcWSnE89v75R4vzVS617DvAD/O5BAAn1IbQgOb30Wn2KikK6RLSbF16F+vIKyeWA5nqiciRoO5NeBViZTkO/7SQqFRR+AEubDGpXHLKdZqIsMJfdyPR/Y/c8ldrswiqSSX/rjoT0912JAWx9Hworc45nB1jaQVfaCV203eTtZYj0ECzlBeXPZlvpiHZvwof4/YrPNpmcvljcgA3lSRvfqnOXwfBtuBJDgiFYzcifO8qJzB34GgrcAmy7aheRsED5ZC4PlD1riISwSgIUXJAg437lkgRwSwIkEAnXnEkA2EH/CoEFWHXVLCIhAzgPkYWvbQXT+HkhdLlzyy5ImFt+hmUaTkIYisvP7HusAnEHXynqD0POsggcFOL+ILrYYtzhRTy5UCadl0MLpSlIbJFcZyEGhhmzrWA7i65OcN1FkSb+WnIoiy65aS8XOsABDnCAAxzgAO7wX5OTkwb7SdQYoJ9pd3xZtjJk0upJiF+VlvC7KHIL6819mWKjoQSyGDomgRjLg+zLAk/haBytTt9D+c4ABSL2UikqC0tZvBkJ/vzpdH9MwO+QxIHWQl58CnxURlvS3wHsZWR7h+5lwzfhcDiz9DT3A9jLbucLT5ml3eJ/w/P0DvUc7S2u5b4PeyCjbya+HtveXNrJPYVvsnv5ZzvSZ9RnmS/xOvrWyNYtLohf+c4swwuQ75S4fWXwQpIk/NaxM9e+4lYHkTe6B8gR2Vla4/aW8bdDX2dPeSUZMumv7WBBtCB/nv4cuZqFzaVlwFw9B/F/voWtHW57E4qbuJrqxX5/L09Q/mT4u8FXIOcRCdt5+X9hp7CiOA/beRH1hOUC7gn/F302qAhOQm4l/bn8FO2dU0k4A+LT9Hdp5PxNg9g5BK9aT9ju6JhcKeSRo5ueXIsWsiB+mHgKa7A6iVWfuLeGd7C7aPH59hrkSoJoRz43uYL8QmXq1KVlpErnlnOT+HXweJI01FteacztFu+YbRefWh8j6sMZRbsHm18FUBbBPbswuD526CqWeIADHMAT/h8BG/t3/QWl1QAAAABJRU5ErkJgg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25612"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25614" name="Rectangle 1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pic>
        <p:nvPicPr>
          <p:cNvPr id="13" name="Picture 2"/>
          <p:cNvPicPr>
            <a:picLocks noChangeAspect="1" noChangeArrowheads="1"/>
          </p:cNvPicPr>
          <p:nvPr/>
        </p:nvPicPr>
        <p:blipFill>
          <a:blip r:embed="rId5"/>
          <a:srcRect/>
          <a:stretch>
            <a:fillRect/>
          </a:stretch>
        </p:blipFill>
        <p:spPr bwMode="auto">
          <a:xfrm>
            <a:off x="1" y="4000504"/>
            <a:ext cx="9144000" cy="157163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1500173"/>
          </a:xfrm>
        </p:spPr>
        <p:txBody>
          <a:bodyPr/>
          <a:lstStyle/>
          <a:p>
            <a:pPr algn="just"/>
            <a:r>
              <a:rPr lang="fr-FR" sz="2800" b="1" dirty="0" smtClean="0">
                <a:solidFill>
                  <a:srgbClr val="FF0000"/>
                </a:solidFill>
              </a:rPr>
              <a:t>L</a:t>
            </a:r>
            <a:r>
              <a:rPr lang="fr-FR" sz="2800" b="1" dirty="0" smtClean="0">
                <a:solidFill>
                  <a:srgbClr val="FF0000"/>
                </a:solidFill>
              </a:rPr>
              <a:t>a </a:t>
            </a:r>
            <a:r>
              <a:rPr lang="fr-FR" sz="2800" b="1" dirty="0" smtClean="0">
                <a:solidFill>
                  <a:srgbClr val="FF0000"/>
                </a:solidFill>
              </a:rPr>
              <a:t>section efficace de l’effet photoélectrique</a:t>
            </a:r>
            <a:r>
              <a:rPr lang="fr-FR" sz="2800" dirty="0" smtClean="0">
                <a:solidFill>
                  <a:schemeClr val="tx1"/>
                </a:solidFill>
              </a:rPr>
              <a:t> </a:t>
            </a:r>
            <a:r>
              <a:rPr lang="fr-FR" sz="2800" dirty="0" smtClean="0">
                <a:solidFill>
                  <a:schemeClr val="tx1"/>
                </a:solidFill>
                <a:sym typeface="Symbol"/>
              </a:rPr>
              <a:t></a:t>
            </a:r>
            <a:r>
              <a:rPr lang="fr-FR" sz="2800" baseline="-25000" dirty="0" smtClean="0">
                <a:solidFill>
                  <a:schemeClr val="tx1"/>
                </a:solidFill>
                <a:sym typeface="Symbol"/>
              </a:rPr>
              <a:t>k</a:t>
            </a:r>
            <a:r>
              <a:rPr lang="fr-FR" sz="2800" dirty="0" smtClean="0">
                <a:solidFill>
                  <a:schemeClr val="tx1"/>
                </a:solidFill>
                <a:sym typeface="Symbol"/>
              </a:rPr>
              <a:t> est proportionnelle à Z</a:t>
            </a:r>
            <a:r>
              <a:rPr lang="fr-FR" sz="2800" baseline="30000" dirty="0" smtClean="0">
                <a:solidFill>
                  <a:schemeClr val="tx1"/>
                </a:solidFill>
                <a:sym typeface="Symbol"/>
              </a:rPr>
              <a:t>5</a:t>
            </a:r>
            <a:r>
              <a:rPr lang="fr-FR" sz="2800" dirty="0" smtClean="0">
                <a:solidFill>
                  <a:schemeClr val="tx1"/>
                </a:solidFill>
                <a:sym typeface="Symbol"/>
              </a:rPr>
              <a:t> et elle est inversement proportionnelle à l’énergie du photon E</a:t>
            </a:r>
            <a:r>
              <a:rPr lang="fr-FR" sz="2800" baseline="-25000" dirty="0" smtClean="0">
                <a:solidFill>
                  <a:schemeClr val="tx1"/>
                </a:solidFill>
                <a:sym typeface="Symbol"/>
              </a:rPr>
              <a:t></a:t>
            </a:r>
            <a:r>
              <a:rPr lang="fr-FR" sz="2800" dirty="0" smtClean="0">
                <a:solidFill>
                  <a:schemeClr val="tx1"/>
                </a:solidFill>
                <a:sym typeface="Symbol"/>
              </a:rPr>
              <a:t>.</a:t>
            </a:r>
            <a:r>
              <a:rPr lang="fr-FR" sz="2800" dirty="0" smtClean="0">
                <a:solidFill>
                  <a:schemeClr val="tx1"/>
                </a:solidFill>
              </a:rPr>
              <a:t> </a:t>
            </a:r>
            <a:br>
              <a:rPr lang="fr-FR" sz="2800" dirty="0" smtClean="0">
                <a:solidFill>
                  <a:schemeClr val="tx1"/>
                </a:solidFill>
              </a:rPr>
            </a:br>
            <a:endParaRPr lang="fr-FR" sz="2800" dirty="0">
              <a:solidFill>
                <a:schemeClr val="tx1"/>
              </a:solidFill>
            </a:endParaRPr>
          </a:p>
        </p:txBody>
      </p:sp>
      <p:sp>
        <p:nvSpPr>
          <p:cNvPr id="4" name="Espace réservé du pied de page 3"/>
          <p:cNvSpPr>
            <a:spLocks noGrp="1"/>
          </p:cNvSpPr>
          <p:nvPr>
            <p:ph type="ftr" sz="quarter" idx="11"/>
          </p:nvPr>
        </p:nvSpPr>
        <p:spPr/>
        <p:txBody>
          <a:bodyPr/>
          <a:lstStyle/>
          <a:p>
            <a:pPr>
              <a:defRPr/>
            </a:pPr>
            <a:r>
              <a:rPr lang="fr-FR" smtClean="0"/>
              <a:t>Pr Ahmed Fathi </a:t>
            </a:r>
            <a:endParaRPr lang="fr-FR"/>
          </a:p>
        </p:txBody>
      </p:sp>
      <p:pic>
        <p:nvPicPr>
          <p:cNvPr id="5" name="Picture 10"/>
          <p:cNvPicPr>
            <a:picLocks noChangeAspect="1" noChangeArrowheads="1"/>
          </p:cNvPicPr>
          <p:nvPr/>
        </p:nvPicPr>
        <p:blipFill>
          <a:blip r:embed="rId2"/>
          <a:srcRect/>
          <a:stretch>
            <a:fillRect/>
          </a:stretch>
        </p:blipFill>
        <p:spPr bwMode="auto">
          <a:xfrm>
            <a:off x="1714480" y="2428868"/>
            <a:ext cx="6293908" cy="4000528"/>
          </a:xfrm>
          <a:prstGeom prst="rect">
            <a:avLst/>
          </a:prstGeom>
          <a:noFill/>
          <a:ln w="9525">
            <a:noFill/>
            <a:miter lim="800000"/>
            <a:headEnd/>
            <a:tailEnd/>
          </a:ln>
          <a:effectLst/>
        </p:spPr>
      </p:pic>
      <p:pic>
        <p:nvPicPr>
          <p:cNvPr id="9" name="Picture 1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0" y="1357298"/>
            <a:ext cx="3608320" cy="1000132"/>
          </a:xfrm>
          <a:prstGeom prst="rect">
            <a:avLst/>
          </a:prstGeom>
          <a:solidFill>
            <a:srgbClr val="FFFF00"/>
          </a:solidFill>
        </p:spPr>
      </p:pic>
      <p:pic>
        <p:nvPicPr>
          <p:cNvPr id="10" name="Picture 13"/>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4572000" y="1357298"/>
            <a:ext cx="3714776" cy="993486"/>
          </a:xfrm>
          <a:prstGeom prst="rect">
            <a:avLst/>
          </a:prstGeom>
          <a:solidFill>
            <a:srgbClr val="FFFF00"/>
          </a:solidFill>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643688"/>
          </a:xfrm>
        </p:spPr>
        <p:txBody>
          <a:bodyPr/>
          <a:lstStyle/>
          <a:p>
            <a:pPr>
              <a:defRPr/>
            </a:pPr>
            <a:r>
              <a:rPr lang="fr-FR" b="1" dirty="0" smtClean="0">
                <a:solidFill>
                  <a:srgbClr val="FF0000"/>
                </a:solidFill>
              </a:rPr>
              <a:t>2.2 Effet Compton</a:t>
            </a:r>
            <a:r>
              <a:rPr lang="fr-FR" b="1" dirty="0" smtClean="0"/>
              <a:t> : </a:t>
            </a:r>
          </a:p>
          <a:p>
            <a:pPr>
              <a:buNone/>
              <a:defRPr/>
            </a:pPr>
            <a:r>
              <a:rPr lang="fr-FR" b="1" dirty="0" smtClean="0"/>
              <a:t>   </a:t>
            </a:r>
            <a:r>
              <a:rPr lang="fr-FR" dirty="0" smtClean="0"/>
              <a:t>Le photon entre en collision avec un électron libre ou faiblement lié auquel il cède une partie de son énergie. Un photon d’énergie plus faible est diffusé dans une direction différente de la direction initiale. </a:t>
            </a:r>
          </a:p>
          <a:p>
            <a:pPr>
              <a:buFont typeface="Wingdings" pitchFamily="2" charset="2"/>
              <a:buNone/>
              <a:defRPr/>
            </a:pPr>
            <a:endParaRPr lang="fr-FR" dirty="0" smtClean="0"/>
          </a:p>
          <a:p>
            <a:pPr>
              <a:buFont typeface="Monotype Sorts" pitchFamily="2" charset="2"/>
              <a:buNone/>
              <a:defRPr/>
            </a:pPr>
            <a:endParaRPr lang="fr-FR" dirty="0"/>
          </a:p>
        </p:txBody>
      </p:sp>
      <p:pic>
        <p:nvPicPr>
          <p:cNvPr id="13315" name="Picture 3"/>
          <p:cNvPicPr>
            <a:picLocks noChangeAspect="1" noChangeArrowheads="1"/>
          </p:cNvPicPr>
          <p:nvPr/>
        </p:nvPicPr>
        <p:blipFill>
          <a:blip r:embed="rId2"/>
          <a:srcRect/>
          <a:stretch>
            <a:fillRect/>
          </a:stretch>
        </p:blipFill>
        <p:spPr bwMode="auto">
          <a:xfrm>
            <a:off x="296863" y="3143250"/>
            <a:ext cx="8132762" cy="3357563"/>
          </a:xfrm>
          <a:prstGeom prst="rect">
            <a:avLst/>
          </a:prstGeom>
          <a:noFill/>
          <a:ln w="12699">
            <a:noFill/>
            <a:miter lim="800000"/>
            <a:headEnd type="none" w="sm" len="sm"/>
            <a:tailEnd type="none" w="sm" len="sm"/>
          </a:ln>
        </p:spPr>
      </p:pic>
      <p:sp>
        <p:nvSpPr>
          <p:cNvPr id="4" name="Espace réservé du pied de page 3"/>
          <p:cNvSpPr>
            <a:spLocks noGrp="1"/>
          </p:cNvSpPr>
          <p:nvPr>
            <p:ph type="ftr" sz="quarter" idx="11"/>
          </p:nvPr>
        </p:nvSpPr>
        <p:spPr/>
        <p:txBody>
          <a:bodyPr/>
          <a:lstStyle/>
          <a:p>
            <a:pPr>
              <a:defRPr/>
            </a:pPr>
            <a:r>
              <a:rPr lang="fr-FR"/>
              <a:t>Pr Ahmed Fathi </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pied de page 3"/>
          <p:cNvSpPr>
            <a:spLocks noGrp="1"/>
          </p:cNvSpPr>
          <p:nvPr>
            <p:ph type="ftr" sz="quarter" idx="11"/>
          </p:nvPr>
        </p:nvSpPr>
        <p:spPr/>
        <p:txBody>
          <a:bodyPr/>
          <a:lstStyle/>
          <a:p>
            <a:pPr>
              <a:defRPr/>
            </a:pPr>
            <a:r>
              <a:rPr lang="fr-FR" smtClean="0"/>
              <a:t>Pr Ahmed Fathi </a:t>
            </a:r>
            <a:endParaRPr lang="fr-FR"/>
          </a:p>
        </p:txBody>
      </p:sp>
      <p:pic>
        <p:nvPicPr>
          <p:cNvPr id="44034" name="Picture 2"/>
          <p:cNvPicPr>
            <a:picLocks noGrp="1" noChangeAspect="1" noChangeArrowheads="1"/>
          </p:cNvPicPr>
          <p:nvPr>
            <p:ph idx="1"/>
          </p:nvPr>
        </p:nvPicPr>
        <p:blipFill>
          <a:blip r:embed="rId2"/>
          <a:srcRect/>
          <a:stretch>
            <a:fillRect/>
          </a:stretch>
        </p:blipFill>
        <p:spPr bwMode="auto">
          <a:xfrm>
            <a:off x="0" y="0"/>
            <a:ext cx="9144000" cy="1285860"/>
          </a:xfrm>
          <a:prstGeom prst="rect">
            <a:avLst/>
          </a:prstGeom>
          <a:noFill/>
          <a:ln w="9525">
            <a:noFill/>
            <a:miter lim="800000"/>
            <a:headEnd/>
            <a:tailEnd/>
          </a:ln>
          <a:effectLst/>
        </p:spPr>
      </p:pic>
      <p:pic>
        <p:nvPicPr>
          <p:cNvPr id="44035" name="Picture 3"/>
          <p:cNvPicPr>
            <a:picLocks noChangeAspect="1" noChangeArrowheads="1"/>
          </p:cNvPicPr>
          <p:nvPr/>
        </p:nvPicPr>
        <p:blipFill>
          <a:blip r:embed="rId3"/>
          <a:srcRect/>
          <a:stretch>
            <a:fillRect/>
          </a:stretch>
        </p:blipFill>
        <p:spPr bwMode="auto">
          <a:xfrm>
            <a:off x="3428992" y="1285860"/>
            <a:ext cx="2472854" cy="1071570"/>
          </a:xfrm>
          <a:prstGeom prst="rect">
            <a:avLst/>
          </a:prstGeom>
          <a:noFill/>
          <a:ln w="9525">
            <a:noFill/>
            <a:miter lim="800000"/>
            <a:headEnd/>
            <a:tailEnd/>
          </a:ln>
          <a:effectLst/>
        </p:spPr>
      </p:pic>
      <p:pic>
        <p:nvPicPr>
          <p:cNvPr id="44036" name="Picture 4"/>
          <p:cNvPicPr>
            <a:picLocks noChangeAspect="1" noChangeArrowheads="1"/>
          </p:cNvPicPr>
          <p:nvPr/>
        </p:nvPicPr>
        <p:blipFill>
          <a:blip r:embed="rId4"/>
          <a:srcRect/>
          <a:stretch>
            <a:fillRect/>
          </a:stretch>
        </p:blipFill>
        <p:spPr bwMode="auto">
          <a:xfrm>
            <a:off x="145592" y="2066924"/>
            <a:ext cx="8784126" cy="4221759"/>
          </a:xfrm>
          <a:prstGeom prst="rect">
            <a:avLst/>
          </a:prstGeom>
          <a:noFill/>
          <a:ln w="9525">
            <a:noFill/>
            <a:miter lim="800000"/>
            <a:headEnd/>
            <a:tailEnd/>
          </a:ln>
          <a:effectLst/>
        </p:spPr>
      </p:pic>
      <p:sp>
        <p:nvSpPr>
          <p:cNvPr id="8" name="ZoneTexte 7"/>
          <p:cNvSpPr txBox="1"/>
          <p:nvPr/>
        </p:nvSpPr>
        <p:spPr>
          <a:xfrm>
            <a:off x="785786" y="4786322"/>
            <a:ext cx="785818" cy="461665"/>
          </a:xfrm>
          <a:prstGeom prst="rect">
            <a:avLst/>
          </a:prstGeom>
          <a:noFill/>
        </p:spPr>
        <p:txBody>
          <a:bodyPr wrap="square" rtlCol="0">
            <a:spAutoFit/>
          </a:bodyPr>
          <a:lstStyle/>
          <a:p>
            <a:r>
              <a:rPr lang="fr-FR" dirty="0" smtClean="0">
                <a:solidFill>
                  <a:schemeClr val="bg2"/>
                </a:solidFill>
              </a:rPr>
              <a:t>E</a:t>
            </a:r>
            <a:r>
              <a:rPr lang="fr-FR" baseline="-25000" dirty="0" smtClean="0">
                <a:solidFill>
                  <a:schemeClr val="bg2"/>
                </a:solidFill>
                <a:sym typeface="Symbol"/>
              </a:rPr>
              <a:t></a:t>
            </a:r>
            <a:r>
              <a:rPr lang="fr-FR" dirty="0" smtClean="0">
                <a:solidFill>
                  <a:schemeClr val="bg2"/>
                </a:solidFill>
                <a:sym typeface="Symbol"/>
              </a:rPr>
              <a:t>=</a:t>
            </a:r>
            <a:endParaRPr lang="fr-FR" dirty="0">
              <a:solidFill>
                <a:schemeClr val="bg2"/>
              </a:solidFill>
            </a:endParaRPr>
          </a:p>
        </p:txBody>
      </p:sp>
      <p:sp>
        <p:nvSpPr>
          <p:cNvPr id="9" name="ZoneTexte 8"/>
          <p:cNvSpPr txBox="1"/>
          <p:nvPr/>
        </p:nvSpPr>
        <p:spPr>
          <a:xfrm>
            <a:off x="4000496" y="3000372"/>
            <a:ext cx="928694" cy="461665"/>
          </a:xfrm>
          <a:prstGeom prst="rect">
            <a:avLst/>
          </a:prstGeom>
          <a:noFill/>
        </p:spPr>
        <p:txBody>
          <a:bodyPr wrap="square" rtlCol="0">
            <a:spAutoFit/>
          </a:bodyPr>
          <a:lstStyle/>
          <a:p>
            <a:r>
              <a:rPr lang="fr-FR" dirty="0" smtClean="0">
                <a:solidFill>
                  <a:schemeClr val="bg2"/>
                </a:solidFill>
              </a:rPr>
              <a:t>E</a:t>
            </a:r>
            <a:r>
              <a:rPr lang="fr-FR" baseline="-25000" dirty="0" smtClean="0">
                <a:solidFill>
                  <a:schemeClr val="bg2"/>
                </a:solidFill>
                <a:sym typeface="Symbol"/>
              </a:rPr>
              <a:t></a:t>
            </a:r>
            <a:r>
              <a:rPr lang="fr-FR" baseline="30000" dirty="0" smtClean="0">
                <a:solidFill>
                  <a:schemeClr val="bg2"/>
                </a:solidFill>
                <a:sym typeface="Symbol"/>
              </a:rPr>
              <a:t>’</a:t>
            </a:r>
            <a:r>
              <a:rPr lang="fr-FR" baseline="-25000" dirty="0" smtClean="0">
                <a:solidFill>
                  <a:schemeClr val="bg2"/>
                </a:solidFill>
                <a:sym typeface="Symbol"/>
              </a:rPr>
              <a:t> </a:t>
            </a:r>
            <a:r>
              <a:rPr lang="fr-FR" dirty="0" smtClean="0">
                <a:solidFill>
                  <a:schemeClr val="bg2"/>
                </a:solidFill>
                <a:sym typeface="Symbol"/>
              </a:rPr>
              <a:t>=</a:t>
            </a:r>
            <a:endParaRPr lang="fr-FR" dirty="0">
              <a:solidFill>
                <a:schemeClr val="bg2"/>
              </a:solidFil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286520"/>
          </a:xfrm>
        </p:spPr>
        <p:txBody>
          <a:bodyPr/>
          <a:lstStyle/>
          <a:p>
            <a:r>
              <a:rPr lang="fr-FR" dirty="0" smtClean="0">
                <a:solidFill>
                  <a:srgbClr val="00B050"/>
                </a:solidFill>
              </a:rPr>
              <a:t>Lois de conservation de l’énergie et de quantité de mouvement (impulsion)</a:t>
            </a:r>
          </a:p>
          <a:p>
            <a:pPr>
              <a:buNone/>
            </a:pPr>
            <a:r>
              <a:rPr lang="fr-FR" dirty="0" smtClean="0"/>
              <a:t>C.E  : E</a:t>
            </a:r>
            <a:r>
              <a:rPr lang="fr-FR" dirty="0" smtClean="0">
                <a:sym typeface="Symbol"/>
              </a:rPr>
              <a:t>  =  E’ +Te                 (1)</a:t>
            </a:r>
          </a:p>
          <a:p>
            <a:pPr>
              <a:buNone/>
            </a:pPr>
            <a:r>
              <a:rPr lang="fr-FR" dirty="0" smtClean="0">
                <a:sym typeface="Symbol"/>
              </a:rPr>
              <a:t>C.I    :                                        (2)  </a:t>
            </a:r>
          </a:p>
          <a:p>
            <a:pPr>
              <a:buNone/>
            </a:pPr>
            <a:r>
              <a:rPr lang="fr-FR" dirty="0" smtClean="0">
                <a:sym typeface="Symbol"/>
              </a:rPr>
              <a:t>Impulsion de gamma est : P</a:t>
            </a:r>
            <a:r>
              <a:rPr lang="fr-FR" baseline="-25000" dirty="0" smtClean="0">
                <a:sym typeface="Symbol"/>
              </a:rPr>
              <a:t></a:t>
            </a:r>
            <a:r>
              <a:rPr lang="fr-FR" dirty="0" smtClean="0">
                <a:sym typeface="Symbol"/>
              </a:rPr>
              <a:t>= E</a:t>
            </a:r>
            <a:r>
              <a:rPr lang="fr-FR" baseline="-25000" dirty="0" smtClean="0">
                <a:sym typeface="Symbol"/>
              </a:rPr>
              <a:t></a:t>
            </a:r>
            <a:r>
              <a:rPr lang="fr-FR" dirty="0" smtClean="0">
                <a:sym typeface="Symbol"/>
              </a:rPr>
              <a:t>/c = h/c</a:t>
            </a:r>
          </a:p>
          <a:p>
            <a:pPr>
              <a:buNone/>
            </a:pPr>
            <a:r>
              <a:rPr lang="fr-FR" dirty="0" smtClean="0">
                <a:sym typeface="Symbol"/>
              </a:rPr>
              <a:t>                                                                     (3)</a:t>
            </a:r>
          </a:p>
          <a:p>
            <a:pPr>
              <a:buNone/>
            </a:pPr>
            <a:r>
              <a:rPr lang="fr-FR" dirty="0" smtClean="0">
                <a:sym typeface="Symbol"/>
              </a:rPr>
              <a:t>Projection de (2)                                      </a:t>
            </a:r>
          </a:p>
          <a:p>
            <a:pPr>
              <a:buNone/>
            </a:pPr>
            <a:r>
              <a:rPr lang="fr-FR" dirty="0" smtClean="0">
                <a:sym typeface="Symbol"/>
              </a:rPr>
              <a:t>                                                                     (4)</a:t>
            </a:r>
          </a:p>
          <a:p>
            <a:pPr>
              <a:buNone/>
            </a:pPr>
            <a:r>
              <a:rPr lang="fr-FR" dirty="0" smtClean="0">
                <a:sym typeface="Symbol"/>
              </a:rPr>
              <a:t>On élimine l’angle  en additionnant (3)</a:t>
            </a:r>
            <a:r>
              <a:rPr lang="fr-FR" baseline="30000" dirty="0" smtClean="0">
                <a:sym typeface="Symbol"/>
              </a:rPr>
              <a:t>2</a:t>
            </a:r>
            <a:r>
              <a:rPr lang="fr-FR" dirty="0" smtClean="0">
                <a:sym typeface="Symbol"/>
              </a:rPr>
              <a:t> +(4)</a:t>
            </a:r>
            <a:r>
              <a:rPr lang="fr-FR" baseline="30000" dirty="0" smtClean="0">
                <a:sym typeface="Symbol"/>
              </a:rPr>
              <a:t>2</a:t>
            </a:r>
            <a:r>
              <a:rPr lang="fr-FR" dirty="0" smtClean="0">
                <a:sym typeface="Symbol"/>
              </a:rPr>
              <a:t>                                                                   </a:t>
            </a:r>
            <a:endParaRPr lang="fr-FR" dirty="0"/>
          </a:p>
        </p:txBody>
      </p:sp>
      <p:sp>
        <p:nvSpPr>
          <p:cNvPr id="4" name="Espace réservé du pied de page 3"/>
          <p:cNvSpPr>
            <a:spLocks noGrp="1"/>
          </p:cNvSpPr>
          <p:nvPr>
            <p:ph type="ftr" sz="quarter" idx="11"/>
          </p:nvPr>
        </p:nvSpPr>
        <p:spPr/>
        <p:txBody>
          <a:bodyPr/>
          <a:lstStyle/>
          <a:p>
            <a:pPr>
              <a:defRPr/>
            </a:pPr>
            <a:r>
              <a:rPr lang="fr-FR" smtClean="0"/>
              <a:t>Pr Ahmed Fathi </a:t>
            </a:r>
            <a:endParaRPr lang="fr-FR"/>
          </a:p>
        </p:txBody>
      </p:sp>
      <p:sp>
        <p:nvSpPr>
          <p:cNvPr id="4505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pic>
        <p:nvPicPr>
          <p:cNvPr id="45057"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428728" y="1714488"/>
            <a:ext cx="2286016" cy="601584"/>
          </a:xfrm>
          <a:prstGeom prst="rect">
            <a:avLst/>
          </a:prstGeom>
          <a:solidFill>
            <a:srgbClr val="FFFF00"/>
          </a:solidFill>
        </p:spPr>
      </p:pic>
      <p:pic>
        <p:nvPicPr>
          <p:cNvPr id="45060" name="Picture 4"/>
          <p:cNvPicPr>
            <a:picLocks noChangeAspect="1" noChangeArrowheads="1"/>
          </p:cNvPicPr>
          <p:nvPr/>
        </p:nvPicPr>
        <p:blipFill>
          <a:blip r:embed="rId3"/>
          <a:srcRect/>
          <a:stretch>
            <a:fillRect/>
          </a:stretch>
        </p:blipFill>
        <p:spPr bwMode="auto">
          <a:xfrm>
            <a:off x="3071801" y="2928935"/>
            <a:ext cx="4617335" cy="1714512"/>
          </a:xfrm>
          <a:prstGeom prst="rect">
            <a:avLst/>
          </a:prstGeom>
          <a:noFill/>
          <a:ln w="9525">
            <a:noFill/>
            <a:miter lim="800000"/>
            <a:headEnd/>
            <a:tailEnd/>
          </a:ln>
          <a:effectLst/>
        </p:spPr>
      </p:pic>
      <p:sp>
        <p:nvSpPr>
          <p:cNvPr id="3174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pic>
        <p:nvPicPr>
          <p:cNvPr id="31745" name="Picture 1"/>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2500298" y="5286388"/>
            <a:ext cx="5475966" cy="1081092"/>
          </a:xfrm>
          <a:prstGeom prst="rect">
            <a:avLst/>
          </a:prstGeom>
          <a:solidFill>
            <a:srgbClr val="FFFF00"/>
          </a:solidFill>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endParaRPr lang="fr-FR"/>
          </a:p>
        </p:txBody>
      </p:sp>
      <p:sp>
        <p:nvSpPr>
          <p:cNvPr id="4" name="Espace réservé du pied de page 3"/>
          <p:cNvSpPr>
            <a:spLocks noGrp="1"/>
          </p:cNvSpPr>
          <p:nvPr>
            <p:ph type="ftr" sz="quarter" idx="11"/>
          </p:nvPr>
        </p:nvSpPr>
        <p:spPr/>
        <p:txBody>
          <a:bodyPr/>
          <a:lstStyle/>
          <a:p>
            <a:pPr>
              <a:defRPr/>
            </a:pPr>
            <a:r>
              <a:rPr lang="fr-FR" smtClean="0"/>
              <a:t>Pr Ahmed Fathi </a:t>
            </a:r>
            <a:endParaRPr lang="fr-FR"/>
          </a:p>
        </p:txBody>
      </p:sp>
      <p:pic>
        <p:nvPicPr>
          <p:cNvPr id="46082" name="Picture 2"/>
          <p:cNvPicPr>
            <a:picLocks noChangeAspect="1" noChangeArrowheads="1"/>
          </p:cNvPicPr>
          <p:nvPr/>
        </p:nvPicPr>
        <p:blipFill>
          <a:blip r:embed="rId2"/>
          <a:srcRect/>
          <a:stretch>
            <a:fillRect/>
          </a:stretch>
        </p:blipFill>
        <p:spPr bwMode="auto">
          <a:xfrm>
            <a:off x="0" y="0"/>
            <a:ext cx="9165484" cy="6143644"/>
          </a:xfrm>
          <a:prstGeom prst="rect">
            <a:avLst/>
          </a:prstGeom>
          <a:noFill/>
          <a:ln w="9525">
            <a:noFill/>
            <a:miter lim="800000"/>
            <a:headEnd/>
            <a:tailEnd/>
          </a:ln>
          <a:effectLst/>
        </p:spPr>
      </p:pic>
      <p:sp>
        <p:nvSpPr>
          <p:cNvPr id="6" name="ZoneTexte 5"/>
          <p:cNvSpPr txBox="1"/>
          <p:nvPr/>
        </p:nvSpPr>
        <p:spPr>
          <a:xfrm>
            <a:off x="0" y="1857364"/>
            <a:ext cx="3071802" cy="461665"/>
          </a:xfrm>
          <a:prstGeom prst="rect">
            <a:avLst/>
          </a:prstGeom>
          <a:noFill/>
        </p:spPr>
        <p:txBody>
          <a:bodyPr wrap="square" rtlCol="0">
            <a:spAutoFit/>
          </a:bodyPr>
          <a:lstStyle/>
          <a:p>
            <a:r>
              <a:rPr lang="fr-FR" dirty="0" smtClean="0">
                <a:solidFill>
                  <a:srgbClr val="FF0000"/>
                </a:solidFill>
              </a:rPr>
              <a:t>Formule de Compton</a:t>
            </a:r>
            <a:endParaRPr lang="fr-FR" dirty="0">
              <a:solidFill>
                <a:srgbClr val="FF0000"/>
              </a:solidFill>
            </a:endParaRPr>
          </a:p>
        </p:txBody>
      </p:sp>
      <p:sp>
        <p:nvSpPr>
          <p:cNvPr id="7" name="ZoneTexte 6"/>
          <p:cNvSpPr txBox="1"/>
          <p:nvPr/>
        </p:nvSpPr>
        <p:spPr>
          <a:xfrm>
            <a:off x="6357950" y="3286124"/>
            <a:ext cx="3071866" cy="1938992"/>
          </a:xfrm>
          <a:prstGeom prst="rect">
            <a:avLst/>
          </a:prstGeom>
          <a:solidFill>
            <a:srgbClr val="FFFF00"/>
          </a:solidFill>
        </p:spPr>
        <p:txBody>
          <a:bodyPr wrap="square" rtlCol="0">
            <a:spAutoFit/>
          </a:bodyPr>
          <a:lstStyle/>
          <a:p>
            <a:r>
              <a:rPr lang="fr-FR" dirty="0" smtClean="0">
                <a:solidFill>
                  <a:schemeClr val="bg2"/>
                </a:solidFill>
              </a:rPr>
              <a:t>Lorsque </a:t>
            </a:r>
            <a:r>
              <a:rPr lang="fr-FR" dirty="0" smtClean="0">
                <a:solidFill>
                  <a:schemeClr val="bg2"/>
                </a:solidFill>
                <a:sym typeface="Symbol"/>
              </a:rPr>
              <a:t>, Le photon subit une rétrodiffusion sur e- et possède le minimum d’énergie</a:t>
            </a:r>
            <a:endParaRPr lang="fr-FR" dirty="0">
              <a:solidFill>
                <a:schemeClr val="bg2"/>
              </a:solidFill>
            </a:endParaRPr>
          </a:p>
        </p:txBody>
      </p:sp>
      <p:sp>
        <p:nvSpPr>
          <p:cNvPr id="8" name="ZoneTexte 7"/>
          <p:cNvSpPr txBox="1"/>
          <p:nvPr/>
        </p:nvSpPr>
        <p:spPr>
          <a:xfrm>
            <a:off x="2357422" y="2214554"/>
            <a:ext cx="2143140" cy="1200329"/>
          </a:xfrm>
          <a:prstGeom prst="rect">
            <a:avLst/>
          </a:prstGeom>
          <a:solidFill>
            <a:srgbClr val="FFFF00"/>
          </a:solidFill>
        </p:spPr>
        <p:txBody>
          <a:bodyPr wrap="square" rtlCol="0">
            <a:spAutoFit/>
          </a:bodyPr>
          <a:lstStyle/>
          <a:p>
            <a:r>
              <a:rPr lang="fr-FR" dirty="0" smtClean="0">
                <a:solidFill>
                  <a:schemeClr val="bg2"/>
                </a:solidFill>
                <a:sym typeface="Symbol"/>
              </a:rPr>
              <a:t>E</a:t>
            </a:r>
            <a:r>
              <a:rPr lang="fr-FR" baseline="-25000" dirty="0" smtClean="0">
                <a:solidFill>
                  <a:schemeClr val="bg2"/>
                </a:solidFill>
                <a:sym typeface="Symbol"/>
              </a:rPr>
              <a:t></a:t>
            </a:r>
            <a:r>
              <a:rPr lang="fr-FR" dirty="0" smtClean="0">
                <a:solidFill>
                  <a:schemeClr val="bg2"/>
                </a:solidFill>
                <a:sym typeface="Symbol"/>
              </a:rPr>
              <a:t>m</a:t>
            </a:r>
            <a:r>
              <a:rPr lang="fr-FR" baseline="-25000" dirty="0" smtClean="0">
                <a:solidFill>
                  <a:schemeClr val="bg2"/>
                </a:solidFill>
                <a:sym typeface="Symbol"/>
              </a:rPr>
              <a:t>o</a:t>
            </a:r>
            <a:r>
              <a:rPr lang="fr-FR" dirty="0" smtClean="0">
                <a:solidFill>
                  <a:schemeClr val="bg2"/>
                </a:solidFill>
                <a:sym typeface="Symbol"/>
              </a:rPr>
              <a:t>c</a:t>
            </a:r>
            <a:r>
              <a:rPr lang="fr-FR" baseline="30000" dirty="0" smtClean="0">
                <a:solidFill>
                  <a:schemeClr val="bg2"/>
                </a:solidFill>
                <a:sym typeface="Symbol"/>
              </a:rPr>
              <a:t>2</a:t>
            </a:r>
          </a:p>
          <a:p>
            <a:r>
              <a:rPr lang="fr-FR" dirty="0" smtClean="0">
                <a:solidFill>
                  <a:schemeClr val="bg2"/>
                </a:solidFill>
                <a:sym typeface="Symbol"/>
              </a:rPr>
              <a:t>m</a:t>
            </a:r>
            <a:r>
              <a:rPr lang="fr-FR" baseline="-25000" dirty="0" smtClean="0">
                <a:solidFill>
                  <a:schemeClr val="bg2"/>
                </a:solidFill>
                <a:sym typeface="Symbol"/>
              </a:rPr>
              <a:t>o</a:t>
            </a:r>
            <a:r>
              <a:rPr lang="fr-FR" dirty="0" smtClean="0">
                <a:solidFill>
                  <a:schemeClr val="bg2"/>
                </a:solidFill>
                <a:sym typeface="Symbol"/>
              </a:rPr>
              <a:t> masse de l’e</a:t>
            </a:r>
            <a:r>
              <a:rPr lang="fr-FR" baseline="30000" dirty="0" smtClean="0">
                <a:solidFill>
                  <a:schemeClr val="bg2"/>
                </a:solidFill>
                <a:sym typeface="Symbol"/>
              </a:rPr>
              <a:t>-</a:t>
            </a:r>
            <a:r>
              <a:rPr lang="fr-FR" dirty="0" smtClean="0">
                <a:solidFill>
                  <a:schemeClr val="bg2"/>
                </a:solidFill>
                <a:sym typeface="Symbol"/>
              </a:rPr>
              <a:t> au repos</a:t>
            </a:r>
            <a:endParaRPr lang="fr-FR" dirty="0">
              <a:solidFill>
                <a:schemeClr val="bg2"/>
              </a:solidFill>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pied de page 3"/>
          <p:cNvSpPr>
            <a:spLocks noGrp="1"/>
          </p:cNvSpPr>
          <p:nvPr>
            <p:ph type="ftr" sz="quarter" idx="11"/>
          </p:nvPr>
        </p:nvSpPr>
        <p:spPr/>
        <p:txBody>
          <a:bodyPr/>
          <a:lstStyle/>
          <a:p>
            <a:pPr>
              <a:defRPr/>
            </a:pPr>
            <a:r>
              <a:rPr lang="fr-FR" smtClean="0"/>
              <a:t>Pr Ahmed Fathi </a:t>
            </a:r>
            <a:endParaRPr lang="fr-FR"/>
          </a:p>
        </p:txBody>
      </p:sp>
      <p:pic>
        <p:nvPicPr>
          <p:cNvPr id="47106" name="Picture 2"/>
          <p:cNvPicPr>
            <a:picLocks noGrp="1" noChangeAspect="1" noChangeArrowheads="1"/>
          </p:cNvPicPr>
          <p:nvPr>
            <p:ph idx="1"/>
          </p:nvPr>
        </p:nvPicPr>
        <p:blipFill>
          <a:blip r:embed="rId2"/>
          <a:srcRect/>
          <a:stretch>
            <a:fillRect/>
          </a:stretch>
        </p:blipFill>
        <p:spPr bwMode="auto">
          <a:xfrm>
            <a:off x="-12422" y="0"/>
            <a:ext cx="9156422" cy="958858"/>
          </a:xfrm>
          <a:prstGeom prst="rect">
            <a:avLst/>
          </a:prstGeom>
          <a:noFill/>
          <a:ln w="9525">
            <a:noFill/>
            <a:miter lim="800000"/>
            <a:headEnd/>
            <a:tailEnd/>
          </a:ln>
          <a:effectLst/>
        </p:spPr>
      </p:pic>
      <p:pic>
        <p:nvPicPr>
          <p:cNvPr id="47107" name="Picture 3"/>
          <p:cNvPicPr>
            <a:picLocks noChangeAspect="1" noChangeArrowheads="1"/>
          </p:cNvPicPr>
          <p:nvPr/>
        </p:nvPicPr>
        <p:blipFill>
          <a:blip r:embed="rId3"/>
          <a:srcRect/>
          <a:stretch>
            <a:fillRect/>
          </a:stretch>
        </p:blipFill>
        <p:spPr bwMode="auto">
          <a:xfrm>
            <a:off x="2357422" y="1000108"/>
            <a:ext cx="4143403" cy="1000132"/>
          </a:xfrm>
          <a:prstGeom prst="rect">
            <a:avLst/>
          </a:prstGeom>
          <a:noFill/>
          <a:ln w="9525">
            <a:noFill/>
            <a:miter lim="800000"/>
            <a:headEnd/>
            <a:tailEnd/>
          </a:ln>
          <a:effectLst/>
        </p:spPr>
      </p:pic>
      <p:pic>
        <p:nvPicPr>
          <p:cNvPr id="47108" name="Picture 4"/>
          <p:cNvPicPr>
            <a:picLocks noChangeAspect="1" noChangeArrowheads="1"/>
          </p:cNvPicPr>
          <p:nvPr/>
        </p:nvPicPr>
        <p:blipFill>
          <a:blip r:embed="rId4"/>
          <a:srcRect/>
          <a:stretch>
            <a:fillRect/>
          </a:stretch>
        </p:blipFill>
        <p:spPr bwMode="auto">
          <a:xfrm>
            <a:off x="-32" y="2000240"/>
            <a:ext cx="9110706" cy="642942"/>
          </a:xfrm>
          <a:prstGeom prst="rect">
            <a:avLst/>
          </a:prstGeom>
          <a:noFill/>
          <a:ln w="9525">
            <a:noFill/>
            <a:miter lim="800000"/>
            <a:headEnd/>
            <a:tailEnd/>
          </a:ln>
          <a:effectLst/>
        </p:spPr>
      </p:pic>
      <p:pic>
        <p:nvPicPr>
          <p:cNvPr id="47110" name="Picture 6"/>
          <p:cNvPicPr>
            <a:picLocks noChangeAspect="1" noChangeArrowheads="1"/>
          </p:cNvPicPr>
          <p:nvPr/>
        </p:nvPicPr>
        <p:blipFill>
          <a:blip r:embed="rId5"/>
          <a:srcRect/>
          <a:stretch>
            <a:fillRect/>
          </a:stretch>
        </p:blipFill>
        <p:spPr bwMode="auto">
          <a:xfrm>
            <a:off x="0" y="2643182"/>
            <a:ext cx="9144000" cy="400052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142852"/>
            <a:ext cx="9143999" cy="5956323"/>
          </a:xfrm>
        </p:spPr>
        <p:txBody>
          <a:bodyPr/>
          <a:lstStyle/>
          <a:p>
            <a:r>
              <a:rPr lang="fr-FR" b="1" dirty="0" smtClean="0">
                <a:solidFill>
                  <a:srgbClr val="FF0000"/>
                </a:solidFill>
              </a:rPr>
              <a:t>La section efficace de la diffusion Compton </a:t>
            </a:r>
            <a:r>
              <a:rPr lang="fr-FR" b="1" dirty="0" smtClean="0"/>
              <a:t>est proportionnelle à Z et inversement proportionnelle à l’énergie du photon E</a:t>
            </a:r>
            <a:r>
              <a:rPr lang="fr-FR" b="1" dirty="0" smtClean="0">
                <a:sym typeface="Symbol"/>
              </a:rPr>
              <a:t>. </a:t>
            </a:r>
            <a:r>
              <a:rPr lang="fr-FR" b="1" dirty="0" smtClean="0"/>
              <a:t>Absorption importante des photons </a:t>
            </a:r>
            <a:r>
              <a:rPr lang="fr-FR" b="1" dirty="0" smtClean="0">
                <a:sym typeface="Symbol"/>
              </a:rPr>
              <a:t></a:t>
            </a:r>
            <a:r>
              <a:rPr lang="fr-FR" b="1" dirty="0" smtClean="0"/>
              <a:t> </a:t>
            </a:r>
            <a:r>
              <a:rPr lang="fr-FR" b="1" dirty="0" smtClean="0"/>
              <a:t>par les matériaux de grand Z</a:t>
            </a:r>
            <a:endParaRPr lang="fr-FR" dirty="0"/>
          </a:p>
        </p:txBody>
      </p:sp>
      <p:sp>
        <p:nvSpPr>
          <p:cNvPr id="4" name="Espace réservé du pied de page 3"/>
          <p:cNvSpPr>
            <a:spLocks noGrp="1"/>
          </p:cNvSpPr>
          <p:nvPr>
            <p:ph type="ftr" sz="quarter" idx="11"/>
          </p:nvPr>
        </p:nvSpPr>
        <p:spPr/>
        <p:txBody>
          <a:bodyPr/>
          <a:lstStyle/>
          <a:p>
            <a:pPr>
              <a:defRPr/>
            </a:pPr>
            <a:r>
              <a:rPr lang="fr-FR" smtClean="0"/>
              <a:t>Pr Ahmed Fathi </a:t>
            </a:r>
            <a:endParaRPr lang="fr-FR"/>
          </a:p>
        </p:txBody>
      </p:sp>
      <p:pic>
        <p:nvPicPr>
          <p:cNvPr id="51203" name="Picture 3"/>
          <p:cNvPicPr>
            <a:picLocks noChangeAspect="1" noChangeArrowheads="1"/>
          </p:cNvPicPr>
          <p:nvPr/>
        </p:nvPicPr>
        <p:blipFill>
          <a:blip r:embed="rId2"/>
          <a:srcRect/>
          <a:stretch>
            <a:fillRect/>
          </a:stretch>
        </p:blipFill>
        <p:spPr bwMode="auto">
          <a:xfrm>
            <a:off x="1357290" y="2857496"/>
            <a:ext cx="6480630" cy="3286148"/>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643688"/>
          </a:xfrm>
        </p:spPr>
        <p:txBody>
          <a:bodyPr/>
          <a:lstStyle/>
          <a:p>
            <a:pPr>
              <a:buFont typeface="Wingdings" pitchFamily="2" charset="2"/>
              <a:buNone/>
              <a:defRPr/>
            </a:pPr>
            <a:r>
              <a:rPr lang="fr-FR" b="1" dirty="0" smtClean="0">
                <a:solidFill>
                  <a:srgbClr val="FF0000"/>
                </a:solidFill>
              </a:rPr>
              <a:t>2.3 Effet matérialisation (Création de paire) : </a:t>
            </a:r>
            <a:r>
              <a:rPr lang="fr-FR" dirty="0" smtClean="0"/>
              <a:t>Lorsqu'un photon d’énergie </a:t>
            </a:r>
            <a:r>
              <a:rPr lang="fr-FR" dirty="0" smtClean="0"/>
              <a:t>h</a:t>
            </a:r>
            <a:r>
              <a:rPr lang="fr-FR" dirty="0" smtClean="0">
                <a:sym typeface="Symbol"/>
              </a:rPr>
              <a:t></a:t>
            </a:r>
            <a:r>
              <a:rPr lang="fr-FR" dirty="0" smtClean="0"/>
              <a:t> </a:t>
            </a:r>
            <a:r>
              <a:rPr lang="fr-FR" dirty="0" smtClean="0"/>
              <a:t>≥ 2m</a:t>
            </a:r>
            <a:r>
              <a:rPr lang="fr-FR" baseline="-25000" dirty="0" smtClean="0"/>
              <a:t>e</a:t>
            </a:r>
            <a:r>
              <a:rPr lang="fr-FR" dirty="0" smtClean="0"/>
              <a:t>c</a:t>
            </a:r>
            <a:r>
              <a:rPr lang="fr-FR" baseline="30000" dirty="0" smtClean="0"/>
              <a:t>2</a:t>
            </a:r>
            <a:r>
              <a:rPr lang="fr-FR" dirty="0" smtClean="0"/>
              <a:t> soit 1,022Mev, pénètre dans le champ coulombien d'un noyau lourd, paraît et toute son énergie est utilisée pour créer la paire (e</a:t>
            </a:r>
            <a:r>
              <a:rPr lang="fr-FR" baseline="30000" dirty="0" smtClean="0"/>
              <a:t>+</a:t>
            </a:r>
            <a:r>
              <a:rPr lang="fr-FR" dirty="0" smtClean="0"/>
              <a:t>,e</a:t>
            </a:r>
            <a:r>
              <a:rPr lang="fr-FR" baseline="30000" dirty="0" smtClean="0"/>
              <a:t>-</a:t>
            </a:r>
            <a:r>
              <a:rPr lang="fr-FR" dirty="0" smtClean="0"/>
              <a:t>). Le positon épuise son énergie cinétique par collision dans le milieu et rencontre un négaton et s’annihilent les deux en libérant deux photons dans des sens opposés (180°) d’énergie 0,511Mev.</a:t>
            </a:r>
            <a:endParaRPr lang="fr-FR" dirty="0"/>
          </a:p>
        </p:txBody>
      </p:sp>
      <p:pic>
        <p:nvPicPr>
          <p:cNvPr id="15363" name="Picture 2"/>
          <p:cNvPicPr>
            <a:picLocks noChangeAspect="1" noChangeArrowheads="1"/>
          </p:cNvPicPr>
          <p:nvPr/>
        </p:nvPicPr>
        <p:blipFill>
          <a:blip r:embed="rId2"/>
          <a:srcRect/>
          <a:stretch>
            <a:fillRect/>
          </a:stretch>
        </p:blipFill>
        <p:spPr bwMode="auto">
          <a:xfrm>
            <a:off x="357188" y="4500563"/>
            <a:ext cx="8374062" cy="2357437"/>
          </a:xfrm>
          <a:prstGeom prst="rect">
            <a:avLst/>
          </a:prstGeom>
          <a:noFill/>
          <a:ln w="12699">
            <a:noFill/>
            <a:miter lim="800000"/>
            <a:headEnd type="none" w="sm" len="sm"/>
            <a:tailEnd type="none" w="sm" len="sm"/>
          </a:ln>
        </p:spPr>
      </p:pic>
      <p:sp>
        <p:nvSpPr>
          <p:cNvPr id="5" name="Espace réservé du pied de page 4"/>
          <p:cNvSpPr>
            <a:spLocks noGrp="1"/>
          </p:cNvSpPr>
          <p:nvPr>
            <p:ph type="ftr" sz="quarter" idx="11"/>
          </p:nvPr>
        </p:nvSpPr>
        <p:spPr/>
        <p:txBody>
          <a:bodyPr/>
          <a:lstStyle/>
          <a:p>
            <a:pPr>
              <a:defRPr/>
            </a:pPr>
            <a:r>
              <a:rPr lang="fr-FR"/>
              <a:t>Pr Ahmed Fathi </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099175"/>
          </a:xfrm>
        </p:spPr>
        <p:txBody>
          <a:bodyPr/>
          <a:lstStyle/>
          <a:p>
            <a:r>
              <a:rPr lang="fr-FR" dirty="0" smtClean="0"/>
              <a:t>Conservation de l’énergie</a:t>
            </a:r>
          </a:p>
          <a:p>
            <a:endParaRPr lang="fr-FR" dirty="0" smtClean="0"/>
          </a:p>
          <a:p>
            <a:endParaRPr lang="fr-FR" dirty="0" smtClean="0"/>
          </a:p>
          <a:p>
            <a:pPr>
              <a:buNone/>
            </a:pPr>
            <a:r>
              <a:rPr lang="fr-FR" dirty="0" smtClean="0"/>
              <a:t>Or M</a:t>
            </a:r>
            <a:r>
              <a:rPr lang="fr-FR" dirty="0" smtClean="0">
                <a:sym typeface="Symbol"/>
              </a:rPr>
              <a:t>m</a:t>
            </a:r>
            <a:r>
              <a:rPr lang="fr-FR" baseline="-25000" dirty="0" smtClean="0">
                <a:sym typeface="Symbol"/>
              </a:rPr>
              <a:t>e</a:t>
            </a:r>
            <a:r>
              <a:rPr lang="fr-FR" dirty="0" smtClean="0">
                <a:sym typeface="Symbol"/>
              </a:rPr>
              <a:t> donc T</a:t>
            </a:r>
            <a:r>
              <a:rPr lang="fr-FR" baseline="-25000" dirty="0" smtClean="0">
                <a:sym typeface="Symbol"/>
              </a:rPr>
              <a:t>R</a:t>
            </a:r>
            <a:r>
              <a:rPr lang="fr-FR" dirty="0" smtClean="0">
                <a:sym typeface="Symbol"/>
              </a:rPr>
              <a:t>T</a:t>
            </a:r>
            <a:r>
              <a:rPr lang="fr-FR" baseline="-25000" dirty="0" smtClean="0">
                <a:sym typeface="Symbol"/>
              </a:rPr>
              <a:t>e-</a:t>
            </a:r>
            <a:r>
              <a:rPr lang="fr-FR" dirty="0" smtClean="0">
                <a:sym typeface="Symbol"/>
              </a:rPr>
              <a:t> et T</a:t>
            </a:r>
            <a:r>
              <a:rPr lang="fr-FR" baseline="-25000" dirty="0" smtClean="0">
                <a:sym typeface="Symbol"/>
              </a:rPr>
              <a:t>e+</a:t>
            </a:r>
            <a:r>
              <a:rPr lang="fr-FR" dirty="0" smtClean="0">
                <a:sym typeface="Symbol"/>
              </a:rPr>
              <a:t> </a:t>
            </a:r>
          </a:p>
          <a:p>
            <a:pPr>
              <a:buNone/>
            </a:pPr>
            <a:endParaRPr lang="fr-FR" baseline="-25000" dirty="0" smtClean="0">
              <a:sym typeface="Symbol"/>
            </a:endParaRPr>
          </a:p>
          <a:p>
            <a:pPr>
              <a:buNone/>
            </a:pPr>
            <a:r>
              <a:rPr lang="fr-FR" dirty="0" smtClean="0">
                <a:sym typeface="Symbol"/>
              </a:rPr>
              <a:t>Donc la quantité d’énergie E - 2m</a:t>
            </a:r>
            <a:r>
              <a:rPr lang="fr-FR" baseline="-25000" dirty="0" smtClean="0">
                <a:sym typeface="Symbol"/>
              </a:rPr>
              <a:t>e</a:t>
            </a:r>
            <a:r>
              <a:rPr lang="fr-FR" dirty="0" smtClean="0">
                <a:sym typeface="Symbol"/>
              </a:rPr>
              <a:t>c</a:t>
            </a:r>
            <a:r>
              <a:rPr lang="fr-FR" baseline="30000" dirty="0" smtClean="0">
                <a:sym typeface="Symbol"/>
              </a:rPr>
              <a:t>2</a:t>
            </a:r>
            <a:r>
              <a:rPr lang="fr-FR" dirty="0" smtClean="0">
                <a:sym typeface="Symbol"/>
              </a:rPr>
              <a:t> est répartie en énergie cinétique entre e- et e+. </a:t>
            </a:r>
            <a:r>
              <a:rPr lang="fr-FR" dirty="0" smtClean="0"/>
              <a:t>Dans la pratique, le processus de création de paires électron-positron ne devient important que pour des énergies supérieures à </a:t>
            </a:r>
            <a:r>
              <a:rPr lang="fr-FR" i="1" dirty="0" smtClean="0"/>
              <a:t>4m</a:t>
            </a:r>
            <a:r>
              <a:rPr lang="fr-FR" i="1" baseline="-25000" dirty="0" smtClean="0"/>
              <a:t>e</a:t>
            </a:r>
            <a:r>
              <a:rPr lang="fr-FR" i="1" dirty="0" smtClean="0"/>
              <a:t>c</a:t>
            </a:r>
            <a:r>
              <a:rPr lang="fr-FR" i="1" baseline="30000" dirty="0" smtClean="0"/>
              <a:t>2</a:t>
            </a:r>
            <a:r>
              <a:rPr lang="fr-FR" i="1" dirty="0" smtClean="0"/>
              <a:t> (figure 6.8).</a:t>
            </a:r>
            <a:r>
              <a:rPr lang="fr-FR" dirty="0" smtClean="0">
                <a:sym typeface="Symbol"/>
              </a:rPr>
              <a:t> </a:t>
            </a:r>
          </a:p>
          <a:p>
            <a:pPr>
              <a:buNone/>
            </a:pPr>
            <a:endParaRPr lang="fr-FR" dirty="0" smtClean="0"/>
          </a:p>
          <a:p>
            <a:pPr>
              <a:buNone/>
            </a:pPr>
            <a:endParaRPr lang="fr-FR" dirty="0"/>
          </a:p>
        </p:txBody>
      </p:sp>
      <p:sp>
        <p:nvSpPr>
          <p:cNvPr id="4" name="Espace réservé du pied de page 3"/>
          <p:cNvSpPr>
            <a:spLocks noGrp="1"/>
          </p:cNvSpPr>
          <p:nvPr>
            <p:ph type="ftr" sz="quarter" idx="11"/>
          </p:nvPr>
        </p:nvSpPr>
        <p:spPr/>
        <p:txBody>
          <a:bodyPr/>
          <a:lstStyle/>
          <a:p>
            <a:pPr>
              <a:defRPr/>
            </a:pPr>
            <a:r>
              <a:rPr lang="fr-FR" smtClean="0"/>
              <a:t>Pr Ahmed Fathi </a:t>
            </a:r>
            <a:endParaRPr lang="fr-FR"/>
          </a:p>
        </p:txBody>
      </p:sp>
      <p:sp>
        <p:nvSpPr>
          <p:cNvPr id="256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pic>
        <p:nvPicPr>
          <p:cNvPr id="25601"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42876" y="571480"/>
            <a:ext cx="8858280" cy="928694"/>
          </a:xfrm>
          <a:prstGeom prst="rect">
            <a:avLst/>
          </a:prstGeom>
          <a:solidFill>
            <a:srgbClr val="FFFF00"/>
          </a:solidFill>
        </p:spPr>
      </p:pic>
      <p:sp>
        <p:nvSpPr>
          <p:cNvPr id="256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256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pic>
        <p:nvPicPr>
          <p:cNvPr id="25605" name="Picture 5"/>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5857884" y="1785926"/>
            <a:ext cx="3286116" cy="770803"/>
          </a:xfrm>
          <a:prstGeom prst="rect">
            <a:avLst/>
          </a:prstGeom>
          <a:solidFill>
            <a:srgbClr val="FFFF00"/>
          </a:solid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099175"/>
          </a:xfrm>
        </p:spPr>
        <p:txBody>
          <a:bodyPr/>
          <a:lstStyle/>
          <a:p>
            <a:r>
              <a:rPr lang="fr-FR" dirty="0" smtClean="0">
                <a:solidFill>
                  <a:srgbClr val="FF0000"/>
                </a:solidFill>
              </a:rPr>
              <a:t>La section efficace de création de paires</a:t>
            </a:r>
            <a:r>
              <a:rPr lang="fr-FR" dirty="0" smtClean="0"/>
              <a:t> est proportionnelle au facteur :</a:t>
            </a:r>
          </a:p>
          <a:p>
            <a:endParaRPr lang="fr-FR" dirty="0"/>
          </a:p>
        </p:txBody>
      </p:sp>
      <p:sp>
        <p:nvSpPr>
          <p:cNvPr id="4" name="Espace réservé du pied de page 3"/>
          <p:cNvSpPr>
            <a:spLocks noGrp="1"/>
          </p:cNvSpPr>
          <p:nvPr>
            <p:ph type="ftr" sz="quarter" idx="11"/>
          </p:nvPr>
        </p:nvSpPr>
        <p:spPr/>
        <p:txBody>
          <a:bodyPr/>
          <a:lstStyle/>
          <a:p>
            <a:pPr>
              <a:defRPr/>
            </a:pPr>
            <a:r>
              <a:rPr lang="fr-FR" smtClean="0"/>
              <a:t>Pr Ahmed Fathi </a:t>
            </a:r>
            <a:endParaRPr lang="fr-FR"/>
          </a:p>
        </p:txBody>
      </p:sp>
      <p:sp>
        <p:nvSpPr>
          <p:cNvPr id="266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pic>
        <p:nvPicPr>
          <p:cNvPr id="26625"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5429257" y="561275"/>
            <a:ext cx="2428891" cy="796023"/>
          </a:xfrm>
          <a:prstGeom prst="rect">
            <a:avLst/>
          </a:prstGeom>
          <a:solidFill>
            <a:srgbClr val="FFFF00"/>
          </a:solidFill>
        </p:spPr>
      </p:pic>
      <p:sp>
        <p:nvSpPr>
          <p:cNvPr id="7" name="Rectangle 6"/>
          <p:cNvSpPr/>
          <p:nvPr/>
        </p:nvSpPr>
        <p:spPr>
          <a:xfrm>
            <a:off x="0" y="1285860"/>
            <a:ext cx="9144000" cy="4031873"/>
          </a:xfrm>
          <a:prstGeom prst="rect">
            <a:avLst/>
          </a:prstGeom>
        </p:spPr>
        <p:txBody>
          <a:bodyPr wrap="square">
            <a:spAutoFit/>
          </a:bodyPr>
          <a:lstStyle/>
          <a:p>
            <a:endParaRPr lang="fr-FR" sz="3200" dirty="0" smtClean="0"/>
          </a:p>
          <a:p>
            <a:r>
              <a:rPr lang="fr-FR" sz="3200" dirty="0" smtClean="0"/>
              <a:t>Contrairement aux deux</a:t>
            </a:r>
          </a:p>
          <a:p>
            <a:r>
              <a:rPr lang="fr-FR" sz="3200" dirty="0" smtClean="0"/>
              <a:t>processus précédents, </a:t>
            </a:r>
          </a:p>
          <a:p>
            <a:r>
              <a:rPr lang="fr-FR" sz="3200" dirty="0" smtClean="0"/>
              <a:t>effet photoélectrique et </a:t>
            </a:r>
          </a:p>
          <a:p>
            <a:r>
              <a:rPr lang="fr-FR" sz="3200" dirty="0" smtClean="0"/>
              <a:t>diffusion Compton la section</a:t>
            </a:r>
          </a:p>
          <a:p>
            <a:r>
              <a:rPr lang="fr-FR" sz="3200" dirty="0" smtClean="0"/>
              <a:t> efficace de création de paires</a:t>
            </a:r>
          </a:p>
          <a:p>
            <a:r>
              <a:rPr lang="fr-FR" sz="3200" dirty="0" smtClean="0"/>
              <a:t>augmente avec l’énergie des </a:t>
            </a:r>
          </a:p>
          <a:p>
            <a:r>
              <a:rPr lang="fr-FR" sz="3200" dirty="0" smtClean="0"/>
              <a:t>photons incidents</a:t>
            </a:r>
            <a:endParaRPr lang="fr-FR" sz="3200" dirty="0"/>
          </a:p>
        </p:txBody>
      </p:sp>
      <p:pic>
        <p:nvPicPr>
          <p:cNvPr id="26628" name="Picture 4"/>
          <p:cNvPicPr>
            <a:picLocks noChangeAspect="1" noChangeArrowheads="1"/>
          </p:cNvPicPr>
          <p:nvPr/>
        </p:nvPicPr>
        <p:blipFill>
          <a:blip r:embed="rId3"/>
          <a:srcRect/>
          <a:stretch>
            <a:fillRect/>
          </a:stretch>
        </p:blipFill>
        <p:spPr bwMode="auto">
          <a:xfrm>
            <a:off x="5643570" y="1785926"/>
            <a:ext cx="3286148" cy="3826458"/>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01625" y="228601"/>
            <a:ext cx="8510588" cy="1128698"/>
          </a:xfrm>
        </p:spPr>
        <p:txBody>
          <a:bodyPr/>
          <a:lstStyle/>
          <a:p>
            <a:pPr algn="l"/>
            <a:r>
              <a:rPr lang="fr-FR" sz="3200" b="1" dirty="0" smtClean="0">
                <a:solidFill>
                  <a:srgbClr val="FF0000"/>
                </a:solidFill>
              </a:rPr>
              <a:t>2.4 Réactions </a:t>
            </a:r>
            <a:r>
              <a:rPr lang="fr-FR" sz="3200" b="1" dirty="0" err="1" smtClean="0">
                <a:solidFill>
                  <a:srgbClr val="FF0000"/>
                </a:solidFill>
              </a:rPr>
              <a:t>photonucléaires</a:t>
            </a:r>
            <a:endParaRPr lang="fr-FR" sz="3200" b="1" dirty="0">
              <a:solidFill>
                <a:srgbClr val="FF0000"/>
              </a:solidFill>
            </a:endParaRPr>
          </a:p>
        </p:txBody>
      </p:sp>
      <p:sp>
        <p:nvSpPr>
          <p:cNvPr id="3" name="Espace réservé du contenu 2"/>
          <p:cNvSpPr>
            <a:spLocks noGrp="1"/>
          </p:cNvSpPr>
          <p:nvPr>
            <p:ph idx="1"/>
          </p:nvPr>
        </p:nvSpPr>
        <p:spPr>
          <a:xfrm>
            <a:off x="0" y="1285860"/>
            <a:ext cx="9144000" cy="4813315"/>
          </a:xfrm>
        </p:spPr>
        <p:txBody>
          <a:bodyPr/>
          <a:lstStyle/>
          <a:p>
            <a:pPr algn="just">
              <a:buNone/>
            </a:pPr>
            <a:r>
              <a:rPr lang="fr-FR" dirty="0" smtClean="0"/>
              <a:t>Lorsque l'énergie des photons-</a:t>
            </a:r>
            <a:r>
              <a:rPr lang="fr-FR" dirty="0" smtClean="0">
                <a:sym typeface="Symbol"/>
              </a:rPr>
              <a:t></a:t>
            </a:r>
            <a:r>
              <a:rPr lang="fr-FR" dirty="0" smtClean="0"/>
              <a:t> devient supérieure à 10 MeV, les photons qui interagissent avec les noyaux atomiques peuvent transférer assez d'énergie et éjecter des nucléons. La production de radio-isotopes comme le </a:t>
            </a:r>
            <a:r>
              <a:rPr lang="fr-FR" baseline="30000" dirty="0" smtClean="0"/>
              <a:t>11</a:t>
            </a:r>
            <a:r>
              <a:rPr lang="fr-FR" dirty="0" smtClean="0"/>
              <a:t>C  ou l’ </a:t>
            </a:r>
            <a:r>
              <a:rPr lang="fr-FR" baseline="30000" dirty="0" smtClean="0"/>
              <a:t>13</a:t>
            </a:r>
            <a:r>
              <a:rPr lang="fr-FR" dirty="0" smtClean="0"/>
              <a:t>N à partir du </a:t>
            </a:r>
            <a:r>
              <a:rPr lang="fr-FR" baseline="30000" dirty="0" smtClean="0"/>
              <a:t>12</a:t>
            </a:r>
            <a:r>
              <a:rPr lang="fr-FR" dirty="0" smtClean="0"/>
              <a:t>C et de l’ </a:t>
            </a:r>
            <a:r>
              <a:rPr lang="fr-FR" baseline="30000" dirty="0" smtClean="0"/>
              <a:t>14</a:t>
            </a:r>
            <a:r>
              <a:rPr lang="fr-FR" dirty="0" smtClean="0"/>
              <a:t>N a été faite par ce type de réactions </a:t>
            </a:r>
            <a:r>
              <a:rPr lang="fr-FR" dirty="0" err="1" smtClean="0"/>
              <a:t>photonucléaires</a:t>
            </a:r>
            <a:r>
              <a:rPr lang="fr-FR" dirty="0" smtClean="0"/>
              <a:t>.</a:t>
            </a:r>
            <a:endParaRPr lang="fr-FR" dirty="0"/>
          </a:p>
        </p:txBody>
      </p:sp>
      <p:sp>
        <p:nvSpPr>
          <p:cNvPr id="4" name="Espace réservé du pied de page 3"/>
          <p:cNvSpPr>
            <a:spLocks noGrp="1"/>
          </p:cNvSpPr>
          <p:nvPr>
            <p:ph type="ftr" sz="quarter" idx="11"/>
          </p:nvPr>
        </p:nvSpPr>
        <p:spPr/>
        <p:txBody>
          <a:bodyPr/>
          <a:lstStyle/>
          <a:p>
            <a:pPr>
              <a:defRPr/>
            </a:pPr>
            <a:r>
              <a:rPr lang="fr-FR" smtClean="0"/>
              <a:t>Pr Ahmed Fathi </a:t>
            </a:r>
            <a:endParaRPr lang="fr-F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643688"/>
          </a:xfrm>
        </p:spPr>
        <p:txBody>
          <a:bodyPr/>
          <a:lstStyle/>
          <a:p>
            <a:pPr>
              <a:defRPr/>
            </a:pPr>
            <a:r>
              <a:rPr lang="fr-CA" b="1" dirty="0" smtClean="0">
                <a:solidFill>
                  <a:srgbClr val="FF0000"/>
                </a:solidFill>
              </a:rPr>
              <a:t>2.5 Loi de l’atténuation des rayonnements</a:t>
            </a:r>
            <a:endParaRPr lang="fr-FR" b="1" dirty="0" smtClean="0">
              <a:solidFill>
                <a:srgbClr val="FF0000"/>
              </a:solidFill>
            </a:endParaRPr>
          </a:p>
          <a:p>
            <a:pPr>
              <a:buFont typeface="Wingdings" pitchFamily="2" charset="2"/>
              <a:buNone/>
              <a:defRPr/>
            </a:pPr>
            <a:r>
              <a:rPr lang="fr-FR" dirty="0" smtClean="0"/>
              <a:t>Un faisceau unidirectionnel de photons mono-énergétiques traverse un écran matériel. Soit I(x) lʼintensité du faisceau (nombre de photons franchissant une unité de surface normale au faisceau par unité de temps) à la position x. </a:t>
            </a:r>
            <a:endParaRPr lang="fr-FR" dirty="0"/>
          </a:p>
        </p:txBody>
      </p:sp>
      <p:pic>
        <p:nvPicPr>
          <p:cNvPr id="16387" name="Image 5" descr="Absorption des rayons X par la matière"/>
          <p:cNvPicPr>
            <a:picLocks noChangeAspect="1" noChangeArrowheads="1"/>
          </p:cNvPicPr>
          <p:nvPr/>
        </p:nvPicPr>
        <p:blipFill>
          <a:blip r:embed="rId2"/>
          <a:srcRect/>
          <a:stretch>
            <a:fillRect/>
          </a:stretch>
        </p:blipFill>
        <p:spPr bwMode="auto">
          <a:xfrm>
            <a:off x="1149350" y="3500438"/>
            <a:ext cx="6637338" cy="2214562"/>
          </a:xfrm>
          <a:prstGeom prst="rect">
            <a:avLst/>
          </a:prstGeom>
          <a:noFill/>
          <a:ln w="9525">
            <a:noFill/>
            <a:miter lim="800000"/>
            <a:headEnd/>
            <a:tailEnd/>
          </a:ln>
        </p:spPr>
      </p:pic>
      <p:sp>
        <p:nvSpPr>
          <p:cNvPr id="7" name="Espace réservé du pied de page 6"/>
          <p:cNvSpPr>
            <a:spLocks noGrp="1"/>
          </p:cNvSpPr>
          <p:nvPr>
            <p:ph type="ftr" sz="quarter" idx="11"/>
          </p:nvPr>
        </p:nvSpPr>
        <p:spPr/>
        <p:txBody>
          <a:bodyPr/>
          <a:lstStyle/>
          <a:p>
            <a:pPr>
              <a:defRPr/>
            </a:pPr>
            <a:r>
              <a:rPr lang="fr-FR"/>
              <a:t>Pr Ahmed Fathi </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099175"/>
          </a:xfrm>
        </p:spPr>
        <p:txBody>
          <a:bodyPr/>
          <a:lstStyle/>
          <a:p>
            <a:endParaRPr lang="fr-FR" dirty="0" smtClean="0"/>
          </a:p>
          <a:p>
            <a:pPr>
              <a:buNone/>
            </a:pPr>
            <a:r>
              <a:rPr lang="fr-FR" dirty="0" smtClean="0"/>
              <a:t>Si on appelle </a:t>
            </a:r>
            <a:r>
              <a:rPr lang="fr-FR" i="1" dirty="0" smtClean="0">
                <a:sym typeface="Symbol"/>
              </a:rPr>
              <a:t></a:t>
            </a:r>
            <a:r>
              <a:rPr lang="fr-FR" i="1" baseline="-25000" dirty="0" err="1" smtClean="0">
                <a:sym typeface="Symbol"/>
              </a:rPr>
              <a:t>tot</a:t>
            </a:r>
            <a:r>
              <a:rPr lang="fr-FR" i="1" dirty="0" smtClean="0">
                <a:sym typeface="Symbol"/>
              </a:rPr>
              <a:t> </a:t>
            </a:r>
            <a:r>
              <a:rPr lang="fr-FR" dirty="0" smtClean="0"/>
              <a:t>la section efficace totale d'absorption des photons et si on désigne par </a:t>
            </a:r>
            <a:r>
              <a:rPr lang="fr-FR" dirty="0" smtClean="0">
                <a:sym typeface="Symbol"/>
              </a:rPr>
              <a:t>,  et  </a:t>
            </a:r>
            <a:r>
              <a:rPr lang="fr-FR" dirty="0" smtClean="0"/>
              <a:t>les sections efficaces d'absorption respectivement de l'effet photoélectrique, de l'effet Compton et de la création de paires, on pose : </a:t>
            </a:r>
          </a:p>
          <a:p>
            <a:pPr>
              <a:buNone/>
            </a:pPr>
            <a:r>
              <a:rPr lang="fr-FR" dirty="0" smtClean="0">
                <a:sym typeface="Symbol"/>
              </a:rPr>
              <a:t> A la distance x de la cible, l’intensité du faisceau est :</a:t>
            </a:r>
          </a:p>
          <a:p>
            <a:pPr>
              <a:buNone/>
            </a:pPr>
            <a:r>
              <a:rPr lang="fr-FR" dirty="0" smtClean="0">
                <a:sym typeface="Symbol"/>
              </a:rPr>
              <a:t>n est le nombre d’atomes cible/cm</a:t>
            </a:r>
            <a:r>
              <a:rPr lang="fr-FR" baseline="30000" dirty="0" smtClean="0">
                <a:sym typeface="Symbol"/>
              </a:rPr>
              <a:t>3</a:t>
            </a:r>
            <a:r>
              <a:rPr lang="fr-FR" dirty="0" smtClean="0">
                <a:sym typeface="Symbol"/>
              </a:rPr>
              <a:t>                                  </a:t>
            </a:r>
            <a:endParaRPr lang="fr-FR" dirty="0"/>
          </a:p>
        </p:txBody>
      </p:sp>
      <p:sp>
        <p:nvSpPr>
          <p:cNvPr id="4" name="Espace réservé du pied de page 3"/>
          <p:cNvSpPr>
            <a:spLocks noGrp="1"/>
          </p:cNvSpPr>
          <p:nvPr>
            <p:ph type="ftr" sz="quarter" idx="11"/>
          </p:nvPr>
        </p:nvSpPr>
        <p:spPr/>
        <p:txBody>
          <a:bodyPr/>
          <a:lstStyle/>
          <a:p>
            <a:pPr>
              <a:defRPr/>
            </a:pPr>
            <a:r>
              <a:rPr lang="fr-FR" smtClean="0"/>
              <a:t>Pr Ahmed Fathi </a:t>
            </a:r>
            <a:endParaRPr lang="fr-FR"/>
          </a:p>
        </p:txBody>
      </p:sp>
      <p:sp>
        <p:nvSpPr>
          <p:cNvPr id="6" name="ZoneTexte 5"/>
          <p:cNvSpPr txBox="1"/>
          <p:nvPr/>
        </p:nvSpPr>
        <p:spPr>
          <a:xfrm>
            <a:off x="1928794" y="3071810"/>
            <a:ext cx="3929090" cy="646331"/>
          </a:xfrm>
          <a:prstGeom prst="rect">
            <a:avLst/>
          </a:prstGeom>
          <a:solidFill>
            <a:srgbClr val="FFFF00"/>
          </a:solidFill>
        </p:spPr>
        <p:txBody>
          <a:bodyPr wrap="square" rtlCol="0">
            <a:spAutoFit/>
          </a:bodyPr>
          <a:lstStyle/>
          <a:p>
            <a:r>
              <a:rPr lang="fr-FR" sz="3600" b="1" smtClean="0">
                <a:solidFill>
                  <a:schemeClr val="bg2"/>
                </a:solidFill>
                <a:sym typeface="Symbol"/>
              </a:rPr>
              <a:t></a:t>
            </a:r>
            <a:r>
              <a:rPr lang="fr-FR" sz="3600" b="1" baseline="-25000" smtClean="0">
                <a:solidFill>
                  <a:schemeClr val="bg2"/>
                </a:solidFill>
                <a:sym typeface="Symbol"/>
              </a:rPr>
              <a:t>tot</a:t>
            </a:r>
            <a:r>
              <a:rPr lang="fr-FR" sz="3600" b="1" smtClean="0">
                <a:solidFill>
                  <a:schemeClr val="bg2"/>
                </a:solidFill>
                <a:sym typeface="Symbol"/>
              </a:rPr>
              <a:t>      .</a:t>
            </a:r>
            <a:endParaRPr lang="fr-FR" sz="3600" b="1" dirty="0">
              <a:solidFill>
                <a:schemeClr val="bg2"/>
              </a:solidFill>
            </a:endParaRPr>
          </a:p>
        </p:txBody>
      </p:sp>
      <p:sp>
        <p:nvSpPr>
          <p:cNvPr id="522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pic>
        <p:nvPicPr>
          <p:cNvPr id="52227" name="Picture 3"/>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2428860" y="4143380"/>
            <a:ext cx="3286148" cy="650591"/>
          </a:xfrm>
          <a:prstGeom prst="rect">
            <a:avLst/>
          </a:prstGeom>
          <a:solidFill>
            <a:srgbClr val="FFFF00"/>
          </a:solidFill>
        </p:spPr>
      </p:pic>
      <p:sp>
        <p:nvSpPr>
          <p:cNvPr id="52230"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pic>
        <p:nvPicPr>
          <p:cNvPr id="52229" name="Picture 5"/>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2428860" y="5429264"/>
            <a:ext cx="3745412" cy="647703"/>
          </a:xfrm>
          <a:prstGeom prst="rect">
            <a:avLst/>
          </a:prstGeom>
          <a:solidFill>
            <a:srgbClr val="FFFF00"/>
          </a:solidFill>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1571625"/>
            <a:ext cx="9144000" cy="4429125"/>
          </a:xfrm>
        </p:spPr>
        <p:txBody>
          <a:bodyPr/>
          <a:lstStyle/>
          <a:p>
            <a:pPr>
              <a:defRPr/>
            </a:pPr>
            <a:r>
              <a:rPr lang="fr-FR" dirty="0" smtClean="0"/>
              <a:t>I : intensité du faisceau de RX après traversée d'une épaisseur x de matière, </a:t>
            </a:r>
          </a:p>
          <a:p>
            <a:pPr>
              <a:defRPr/>
            </a:pPr>
            <a:r>
              <a:rPr lang="fr-FR" dirty="0" smtClean="0"/>
              <a:t>I</a:t>
            </a:r>
            <a:r>
              <a:rPr lang="fr-FR" baseline="-25000" dirty="0" smtClean="0"/>
              <a:t>o</a:t>
            </a:r>
            <a:r>
              <a:rPr lang="fr-FR" dirty="0" smtClean="0"/>
              <a:t> : intensité initiale du faisceau de RX, </a:t>
            </a:r>
          </a:p>
          <a:p>
            <a:pPr>
              <a:defRPr/>
            </a:pPr>
            <a:r>
              <a:rPr lang="fr-FR" dirty="0" smtClean="0"/>
              <a:t>x : épaisseur de matériau traversé </a:t>
            </a:r>
          </a:p>
          <a:p>
            <a:pPr>
              <a:defRPr/>
            </a:pPr>
            <a:r>
              <a:rPr lang="fr-FR" dirty="0" smtClean="0"/>
              <a:t>μ : coefficient d'absorption linéaire du matériau traversé (exprimé en cm</a:t>
            </a:r>
            <a:r>
              <a:rPr lang="fr-FR" baseline="30000" dirty="0" smtClean="0"/>
              <a:t>-1</a:t>
            </a:r>
            <a:r>
              <a:rPr lang="fr-FR" dirty="0" smtClean="0"/>
              <a:t>) </a:t>
            </a:r>
          </a:p>
          <a:p>
            <a:pPr>
              <a:defRPr/>
            </a:pPr>
            <a:endParaRPr lang="fr-FR" dirty="0"/>
          </a:p>
        </p:txBody>
      </p:sp>
      <p:sp>
        <p:nvSpPr>
          <p:cNvPr id="4" name="Espace réservé du pied de page 3"/>
          <p:cNvSpPr>
            <a:spLocks noGrp="1"/>
          </p:cNvSpPr>
          <p:nvPr>
            <p:ph type="ftr" sz="quarter" idx="11"/>
          </p:nvPr>
        </p:nvSpPr>
        <p:spPr/>
        <p:txBody>
          <a:bodyPr/>
          <a:lstStyle/>
          <a:p>
            <a:pPr>
              <a:defRPr/>
            </a:pPr>
            <a:r>
              <a:rPr lang="fr-FR" smtClean="0"/>
              <a:t>Pr Ahmed Fathi </a:t>
            </a:r>
            <a:endParaRPr lang="fr-FR"/>
          </a:p>
        </p:txBody>
      </p:sp>
      <p:pic>
        <p:nvPicPr>
          <p:cNvPr id="5" name="Image 4"/>
          <p:cNvPicPr>
            <a:picLocks noChangeAspect="1" noChangeArrowheads="1"/>
          </p:cNvPicPr>
          <p:nvPr/>
        </p:nvPicPr>
        <p:blipFill>
          <a:blip r:embed="rId2"/>
          <a:srcRect/>
          <a:stretch>
            <a:fillRect/>
          </a:stretch>
        </p:blipFill>
        <p:spPr bwMode="auto">
          <a:xfrm>
            <a:off x="2439988" y="214299"/>
            <a:ext cx="3868737" cy="1285875"/>
          </a:xfrm>
          <a:prstGeom prst="rect">
            <a:avLst/>
          </a:prstGeom>
          <a:solidFill>
            <a:srgbClr val="FFFF00"/>
          </a:solidFill>
          <a:ln w="9525">
            <a:solidFill>
              <a:srgbClr val="FFFF00"/>
            </a:solidFill>
            <a:miter lim="800000"/>
            <a:headEnd/>
            <a:tailEnd/>
          </a:ln>
          <a:effectLst>
            <a:outerShdw blurRad="50800" dist="50800" dir="5400000" algn="ctr" rotWithShape="0">
              <a:srgbClr val="FFFF00"/>
            </a:outerShdw>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8842375" cy="6099175"/>
          </a:xfrm>
        </p:spPr>
        <p:txBody>
          <a:bodyPr/>
          <a:lstStyle/>
          <a:p>
            <a:endParaRPr lang="fr-FR"/>
          </a:p>
        </p:txBody>
      </p:sp>
      <p:sp>
        <p:nvSpPr>
          <p:cNvPr id="4" name="Espace réservé du pied de page 3"/>
          <p:cNvSpPr>
            <a:spLocks noGrp="1"/>
          </p:cNvSpPr>
          <p:nvPr>
            <p:ph type="ftr" sz="quarter" idx="11"/>
          </p:nvPr>
        </p:nvSpPr>
        <p:spPr/>
        <p:txBody>
          <a:bodyPr/>
          <a:lstStyle/>
          <a:p>
            <a:pPr>
              <a:defRPr/>
            </a:pPr>
            <a:r>
              <a:rPr lang="fr-FR" smtClean="0"/>
              <a:t>Pr Ahmed Fathi </a:t>
            </a:r>
            <a:endParaRPr lang="fr-FR"/>
          </a:p>
        </p:txBody>
      </p:sp>
      <p:pic>
        <p:nvPicPr>
          <p:cNvPr id="5" name="Picture 2"/>
          <p:cNvPicPr>
            <a:picLocks noChangeAspect="1" noChangeArrowheads="1"/>
          </p:cNvPicPr>
          <p:nvPr/>
        </p:nvPicPr>
        <p:blipFill>
          <a:blip r:embed="rId2"/>
          <a:srcRect/>
          <a:stretch>
            <a:fillRect/>
          </a:stretch>
        </p:blipFill>
        <p:spPr bwMode="auto">
          <a:xfrm>
            <a:off x="614363" y="747713"/>
            <a:ext cx="7915275" cy="53625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Nuages">
  <a:themeElements>
    <a:clrScheme name="Nuage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fontScheme name="Nuages">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uage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clrMap bg1="dk2" tx1="lt1" bg2="dk1" tx2="lt2" accent1="accent1" accent2="accent2" accent3="accent3" accent4="accent4" accent5="accent5" accent6="accent6" hlink="hlink" folHlink="folHlink"/>
    </a:extraClrScheme>
    <a:extraClrScheme>
      <a:clrScheme name="Nuages 2">
        <a:dk1>
          <a:srgbClr val="000066"/>
        </a:dk1>
        <a:lt1>
          <a:srgbClr val="FFFFFF"/>
        </a:lt1>
        <a:dk2>
          <a:srgbClr val="00A2DC"/>
        </a:dk2>
        <a:lt2>
          <a:srgbClr val="FFFFFF"/>
        </a:lt2>
        <a:accent1>
          <a:srgbClr val="0079A4"/>
        </a:accent1>
        <a:accent2>
          <a:srgbClr val="33CCCC"/>
        </a:accent2>
        <a:accent3>
          <a:srgbClr val="AACEEB"/>
        </a:accent3>
        <a:accent4>
          <a:srgbClr val="DADADA"/>
        </a:accent4>
        <a:accent5>
          <a:srgbClr val="AABECF"/>
        </a:accent5>
        <a:accent6>
          <a:srgbClr val="2DB9B9"/>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Nuages 3">
        <a:dk1>
          <a:srgbClr val="010199"/>
        </a:dk1>
        <a:lt1>
          <a:srgbClr val="FFFFFF"/>
        </a:lt1>
        <a:dk2>
          <a:srgbClr val="000092"/>
        </a:dk2>
        <a:lt2>
          <a:srgbClr val="CCFFFF"/>
        </a:lt2>
        <a:accent1>
          <a:srgbClr val="66CCFF"/>
        </a:accent1>
        <a:accent2>
          <a:srgbClr val="2EBDBA"/>
        </a:accent2>
        <a:accent3>
          <a:srgbClr val="AAAAC7"/>
        </a:accent3>
        <a:accent4>
          <a:srgbClr val="DADADA"/>
        </a:accent4>
        <a:accent5>
          <a:srgbClr val="B8E2FF"/>
        </a:accent5>
        <a:accent6>
          <a:srgbClr val="29ABA8"/>
        </a:accent6>
        <a:hlink>
          <a:srgbClr val="66FFFF"/>
        </a:hlink>
        <a:folHlink>
          <a:srgbClr val="CC99FF"/>
        </a:folHlink>
      </a:clrScheme>
      <a:clrMap bg1="dk2" tx1="lt1" bg2="dk1" tx2="lt2" accent1="accent1" accent2="accent2" accent3="accent3" accent4="accent4" accent5="accent5" accent6="accent6" hlink="hlink" folHlink="folHlink"/>
    </a:extraClrScheme>
    <a:extraClrScheme>
      <a:clrScheme name="Nuages 4">
        <a:dk1>
          <a:srgbClr val="000000"/>
        </a:dk1>
        <a:lt1>
          <a:srgbClr val="FFFFFF"/>
        </a:lt1>
        <a:dk2>
          <a:srgbClr val="006A67"/>
        </a:dk2>
        <a:lt2>
          <a:srgbClr val="FFFFCC"/>
        </a:lt2>
        <a:accent1>
          <a:srgbClr val="33CCCC"/>
        </a:accent1>
        <a:accent2>
          <a:srgbClr val="6D6FC7"/>
        </a:accent2>
        <a:accent3>
          <a:srgbClr val="AAB9B8"/>
        </a:accent3>
        <a:accent4>
          <a:srgbClr val="DADADA"/>
        </a:accent4>
        <a:accent5>
          <a:srgbClr val="ADE2E2"/>
        </a:accent5>
        <a:accent6>
          <a:srgbClr val="6264B4"/>
        </a:accent6>
        <a:hlink>
          <a:srgbClr val="00FFFF"/>
        </a:hlink>
        <a:folHlink>
          <a:srgbClr val="00CC66"/>
        </a:folHlink>
      </a:clrScheme>
      <a:clrMap bg1="dk2" tx1="lt1" bg2="dk1" tx2="lt2" accent1="accent1" accent2="accent2" accent3="accent3" accent4="accent4" accent5="accent5" accent6="accent6" hlink="hlink" folHlink="folHlink"/>
    </a:extraClrScheme>
    <a:extraClrScheme>
      <a:clrScheme name="Nuages 5">
        <a:dk1>
          <a:srgbClr val="4D4D4D"/>
        </a:dk1>
        <a:lt1>
          <a:srgbClr val="FFFFFF"/>
        </a:lt1>
        <a:dk2>
          <a:srgbClr val="650BB7"/>
        </a:dk2>
        <a:lt2>
          <a:srgbClr val="FFFFFF"/>
        </a:lt2>
        <a:accent1>
          <a:srgbClr val="FF66FF"/>
        </a:accent1>
        <a:accent2>
          <a:srgbClr val="666699"/>
        </a:accent2>
        <a:accent3>
          <a:srgbClr val="B8AAD8"/>
        </a:accent3>
        <a:accent4>
          <a:srgbClr val="DADADA"/>
        </a:accent4>
        <a:accent5>
          <a:srgbClr val="FFB8FF"/>
        </a:accent5>
        <a:accent6>
          <a:srgbClr val="5C5C8A"/>
        </a:accent6>
        <a:hlink>
          <a:srgbClr val="E9E9FF"/>
        </a:hlink>
        <a:folHlink>
          <a:srgbClr val="CCECFF"/>
        </a:folHlink>
      </a:clrScheme>
      <a:clrMap bg1="dk2" tx1="lt1" bg2="dk1" tx2="lt2" accent1="accent1" accent2="accent2" accent3="accent3" accent4="accent4" accent5="accent5" accent6="accent6" hlink="hlink" folHlink="folHlink"/>
    </a:extraClrScheme>
    <a:extraClrScheme>
      <a:clrScheme name="Nuage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clrMap bg1="dk2" tx1="lt1" bg2="dk1" tx2="lt2" accent1="accent1" accent2="accent2" accent3="accent3" accent4="accent4" accent5="accent5" accent6="accent6" hlink="hlink" folHlink="folHlink"/>
    </a:extraClrScheme>
    <a:extraClrScheme>
      <a:clrScheme name="Nuages 7">
        <a:dk1>
          <a:srgbClr val="4F4F77"/>
        </a:dk1>
        <a:lt1>
          <a:srgbClr val="FFFFFF"/>
        </a:lt1>
        <a:dk2>
          <a:srgbClr val="7979A5"/>
        </a:dk2>
        <a:lt2>
          <a:srgbClr val="F3F3FF"/>
        </a:lt2>
        <a:accent1>
          <a:srgbClr val="5D5D8B"/>
        </a:accent1>
        <a:accent2>
          <a:srgbClr val="66CCFF"/>
        </a:accent2>
        <a:accent3>
          <a:srgbClr val="BEBECF"/>
        </a:accent3>
        <a:accent4>
          <a:srgbClr val="DADADA"/>
        </a:accent4>
        <a:accent5>
          <a:srgbClr val="B6B6C4"/>
        </a:accent5>
        <a:accent6>
          <a:srgbClr val="5CB9E7"/>
        </a:accent6>
        <a:hlink>
          <a:srgbClr val="CCECFF"/>
        </a:hlink>
        <a:folHlink>
          <a:srgbClr val="FFFFCC"/>
        </a:folHlink>
      </a:clrScheme>
      <a:clrMap bg1="dk2" tx1="lt1" bg2="dk1" tx2="lt2" accent1="accent1" accent2="accent2" accent3="accent3" accent4="accent4" accent5="accent5" accent6="accent6" hlink="hlink" folHlink="folHlink"/>
    </a:extraClrScheme>
    <a:extraClrScheme>
      <a:clrScheme name="Nuages 8">
        <a:dk1>
          <a:srgbClr val="000000"/>
        </a:dk1>
        <a:lt1>
          <a:srgbClr val="B9B9B9"/>
        </a:lt1>
        <a:dk2>
          <a:srgbClr val="8A8472"/>
        </a:dk2>
        <a:lt2>
          <a:srgbClr val="4D4D4D"/>
        </a:lt2>
        <a:accent1>
          <a:srgbClr val="EDEEE2"/>
        </a:accent1>
        <a:accent2>
          <a:srgbClr val="7FAA7E"/>
        </a:accent2>
        <a:accent3>
          <a:srgbClr val="D9D9D9"/>
        </a:accent3>
        <a:accent4>
          <a:srgbClr val="000000"/>
        </a:accent4>
        <a:accent5>
          <a:srgbClr val="F4F5EE"/>
        </a:accent5>
        <a:accent6>
          <a:srgbClr val="729A72"/>
        </a:accent6>
        <a:hlink>
          <a:srgbClr val="008000"/>
        </a:hlink>
        <a:folHlink>
          <a:srgbClr val="989400"/>
        </a:folHlink>
      </a:clrScheme>
      <a:clrMap bg1="lt1" tx1="dk1" bg2="lt2" tx2="dk2" accent1="accent1" accent2="accent2" accent3="accent3" accent4="accent4" accent5="accent5" accent6="accent6" hlink="hlink" folHlink="folHlink"/>
    </a:extraClrScheme>
    <a:extraClrScheme>
      <a:clrScheme name="Nuages 9">
        <a:dk1>
          <a:srgbClr val="000000"/>
        </a:dk1>
        <a:lt1>
          <a:srgbClr val="FEA24E"/>
        </a:lt1>
        <a:dk2>
          <a:srgbClr val="CC6600"/>
        </a:dk2>
        <a:lt2>
          <a:srgbClr val="808080"/>
        </a:lt2>
        <a:accent1>
          <a:srgbClr val="FBEECD"/>
        </a:accent1>
        <a:accent2>
          <a:srgbClr val="ECD044"/>
        </a:accent2>
        <a:accent3>
          <a:srgbClr val="FECEB2"/>
        </a:accent3>
        <a:accent4>
          <a:srgbClr val="000000"/>
        </a:accent4>
        <a:accent5>
          <a:srgbClr val="FDF5E3"/>
        </a:accent5>
        <a:accent6>
          <a:srgbClr val="D6BC3D"/>
        </a:accent6>
        <a:hlink>
          <a:srgbClr val="E42B00"/>
        </a:hlink>
        <a:folHlink>
          <a:srgbClr val="996633"/>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Clouds</Template>
  <TotalTime>5075868</TotalTime>
  <Words>1490</Words>
  <Application>Microsoft PowerPoint</Application>
  <PresentationFormat>Affichage à l'écran (4:3)</PresentationFormat>
  <Paragraphs>197</Paragraphs>
  <Slides>33</Slides>
  <Notes>1</Notes>
  <HiddenSlides>0</HiddenSlides>
  <MMClips>0</MMClips>
  <ScaleCrop>false</ScaleCrop>
  <HeadingPairs>
    <vt:vector size="6" baseType="variant">
      <vt:variant>
        <vt:lpstr>Thème</vt:lpstr>
      </vt:variant>
      <vt:variant>
        <vt:i4>1</vt:i4>
      </vt:variant>
      <vt:variant>
        <vt:lpstr>Serveurs OLE incorporés</vt:lpstr>
      </vt:variant>
      <vt:variant>
        <vt:i4>2</vt:i4>
      </vt:variant>
      <vt:variant>
        <vt:lpstr>Titres des diapositives</vt:lpstr>
      </vt:variant>
      <vt:variant>
        <vt:i4>33</vt:i4>
      </vt:variant>
    </vt:vector>
  </HeadingPairs>
  <TitlesOfParts>
    <vt:vector size="36" baseType="lpstr">
      <vt:lpstr>Nuages</vt:lpstr>
      <vt:lpstr>Microsoft Éditeur d'équations 3.0</vt:lpstr>
      <vt:lpstr>Equation</vt:lpstr>
      <vt:lpstr>Diapositive 1</vt:lpstr>
      <vt:lpstr>Diapositive 2</vt:lpstr>
      <vt:lpstr>Diapositive 3</vt:lpstr>
      <vt:lpstr>CH1 Généralités</vt:lpstr>
      <vt:lpstr>1.2 Section efficace différentielle</vt:lpstr>
      <vt:lpstr>Diapositive 6</vt:lpstr>
      <vt:lpstr>1.3 Généralités sur les rayonnements </vt:lpstr>
      <vt:lpstr>Rayonnements</vt:lpstr>
      <vt:lpstr>Diapositive 9</vt:lpstr>
      <vt:lpstr>Diapositive 10</vt:lpstr>
      <vt:lpstr>CH 2  Interaction rayonnement  avec la matière : </vt:lpstr>
      <vt:lpstr>Diapositive 12</vt:lpstr>
      <vt:lpstr>Diapositive 13</vt:lpstr>
      <vt:lpstr>Diapositive 14</vt:lpstr>
      <vt:lpstr>Diapositive 15</vt:lpstr>
      <vt:lpstr>Diapositive 16</vt:lpstr>
      <vt:lpstr>Diapositive 17</vt:lpstr>
      <vt:lpstr>Diapositive 18</vt:lpstr>
      <vt:lpstr>La section efficace de l’effet photoélectrique k est proportionnelle à Z5 et elle est inversement proportionnelle à l’énergie du photon E.  </vt:lpstr>
      <vt:lpstr>Diapositive 20</vt:lpstr>
      <vt:lpstr>Diapositive 21</vt:lpstr>
      <vt:lpstr>Diapositive 22</vt:lpstr>
      <vt:lpstr>Diapositive 23</vt:lpstr>
      <vt:lpstr>Diapositive 24</vt:lpstr>
      <vt:lpstr>Diapositive 25</vt:lpstr>
      <vt:lpstr>Diapositive 26</vt:lpstr>
      <vt:lpstr>Diapositive 27</vt:lpstr>
      <vt:lpstr>Diapositive 28</vt:lpstr>
      <vt:lpstr>2.4 Réactions photonucléaires</vt:lpstr>
      <vt:lpstr>Diapositive 30</vt:lpstr>
      <vt:lpstr>Diapositive 31</vt:lpstr>
      <vt:lpstr>Diapositive 32</vt:lpstr>
      <vt:lpstr>Diapositive 33</vt:lpstr>
    </vt:vector>
  </TitlesOfParts>
  <Company>pc</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Mouvement harmonique simple</dc:title>
  <dc:creator>ahmed</dc:creator>
  <cp:lastModifiedBy>Faouzi LAKRAD</cp:lastModifiedBy>
  <cp:revision>331</cp:revision>
  <cp:lastPrinted>1601-01-01T00:00:00Z</cp:lastPrinted>
  <dcterms:created xsi:type="dcterms:W3CDTF">2009-01-21T10:32:07Z</dcterms:created>
  <dcterms:modified xsi:type="dcterms:W3CDTF">2020-04-14T15:25:03Z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7</vt:i4>
  </property>
</Properties>
</file>